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3" d="100"/>
          <a:sy n="103" d="100"/>
        </p:scale>
        <p:origin x="114"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عدد الموظفين</c:v>
                </c:pt>
              </c:strCache>
            </c:strRef>
          </c:tx>
          <c:spPr>
            <a:solidFill>
              <a:srgbClr val="C2151C"/>
            </a:solidFill>
            <a:effectLst/>
          </c:spPr>
          <c:invertIfNegative val="0"/>
          <c:dLbls>
            <c:numFmt formatCode="#,##0" sourceLinked="0"/>
            <c:spPr>
              <a:noFill/>
              <a:ln>
                <a:noFill/>
              </a:ln>
              <a:effectLst/>
            </c:spPr>
            <c:txPr>
              <a:bodyPr/>
              <a:lstStyle/>
              <a:p>
                <a:pPr>
                  <a:defRPr sz="1100" b="0" i="0" u="none" strike="noStrike">
                    <a:solidFill>
                      <a:srgbClr val="414042"/>
                    </a:solidFill>
                    <a:latin typeface="Segoe U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الموارد البشرية</c:v>
                </c:pt>
                <c:pt idx="1">
                  <c:v>البرامج</c:v>
                </c:pt>
                <c:pt idx="2">
                  <c:v>المالية</c:v>
                </c:pt>
                <c:pt idx="3">
                  <c:v>التشغيل</c:v>
                </c:pt>
                <c:pt idx="4">
                  <c:v>تقنية المعلومات</c:v>
                </c:pt>
              </c:strCache>
            </c:strRef>
          </c:cat>
          <c:val>
            <c:numRef>
              <c:f>Sheet1!$B$2:$B$6</c:f>
              <c:numCache>
                <c:formatCode>General</c:formatCode>
                <c:ptCount val="5"/>
                <c:pt idx="0">
                  <c:v>12</c:v>
                </c:pt>
                <c:pt idx="1">
                  <c:v>34</c:v>
                </c:pt>
                <c:pt idx="2">
                  <c:v>9</c:v>
                </c:pt>
                <c:pt idx="3">
                  <c:v>21</c:v>
                </c:pt>
                <c:pt idx="4">
                  <c:v>7</c:v>
                </c:pt>
              </c:numCache>
            </c:numRef>
          </c:val>
          <c:extLst>
            <c:ext xmlns:c16="http://schemas.microsoft.com/office/drawing/2014/chart" uri="{C3380CC4-5D6E-409C-BE32-E72D297353CC}">
              <c16:uniqueId val="{00000000-C36D-454E-8E51-4E53BA16FEA1}"/>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414042"/>
                </a:solidFill>
                <a:latin typeface="Segoe U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EEF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939598"/>
                </a:solidFill>
                <a:latin typeface="Segoe U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4462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3.pn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26.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A2C"/>
        </a:solidFill>
        <a:effectLst/>
      </p:bgPr>
    </p:bg>
    <p:spTree>
      <p:nvGrpSpPr>
        <p:cNvPr id="1" name=""/>
        <p:cNvGrpSpPr/>
        <p:nvPr/>
      </p:nvGrpSpPr>
      <p:grpSpPr>
        <a:xfrm>
          <a:off x="0" y="0"/>
          <a:ext cx="0" cy="0"/>
          <a:chOff x="0" y="0"/>
          <a:chExt cx="0" cy="0"/>
        </a:xfrm>
      </p:grpSpPr>
      <p:sp>
        <p:nvSpPr>
          <p:cNvPr id="2" name="Shape 0"/>
          <p:cNvSpPr/>
          <p:nvPr/>
        </p:nvSpPr>
        <p:spPr>
          <a:xfrm>
            <a:off x="566928" y="2121408"/>
            <a:ext cx="3749040" cy="1133856"/>
          </a:xfrm>
          <a:prstGeom prst="roundRect">
            <a:avLst>
              <a:gd name="adj" fmla="val 7258"/>
            </a:avLst>
          </a:prstGeom>
          <a:solidFill>
            <a:srgbClr val="414042"/>
          </a:solidFill>
          <a:ln w="9525">
            <a:solidFill>
              <a:srgbClr val="565557"/>
            </a:solidFill>
            <a:prstDash val="solid"/>
          </a:ln>
        </p:spPr>
        <p:txBody>
          <a:bodyPr/>
          <a:lstStyle/>
          <a:p>
            <a:endParaRPr lang="en-US"/>
          </a:p>
        </p:txBody>
      </p:sp>
      <p:sp>
        <p:nvSpPr>
          <p:cNvPr id="3" name="Shape 1"/>
          <p:cNvSpPr/>
          <p:nvPr/>
        </p:nvSpPr>
        <p:spPr>
          <a:xfrm>
            <a:off x="3438144" y="2404872"/>
            <a:ext cx="566928" cy="566928"/>
          </a:xfrm>
          <a:prstGeom prst="ellipse">
            <a:avLst/>
          </a:prstGeom>
          <a:solidFill>
            <a:srgbClr val="C2151C"/>
          </a:solidFill>
          <a:ln w="12700">
            <a:solidFill>
              <a:srgbClr val="C2151C"/>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3579876" y="2546604"/>
            <a:ext cx="283464" cy="283464"/>
          </a:xfrm>
          <a:prstGeom prst="rect">
            <a:avLst/>
          </a:prstGeom>
        </p:spPr>
      </p:pic>
      <p:sp>
        <p:nvSpPr>
          <p:cNvPr id="5" name="Text 2"/>
          <p:cNvSpPr txBox="1"/>
          <p:nvPr/>
        </p:nvSpPr>
        <p:spPr>
          <a:xfrm>
            <a:off x="841248" y="2395728"/>
            <a:ext cx="2468880" cy="310896"/>
          </a:xfrm>
          <a:prstGeom prst="rect">
            <a:avLst/>
          </a:prstGeom>
          <a:noFill/>
          <a:ln/>
        </p:spPr>
        <p:txBody>
          <a:bodyPr wrap="square" lIns="0" tIns="0" rIns="0" bIns="0" rtlCol="0" anchor="t"/>
          <a:lstStyle/>
          <a:p>
            <a:pPr marL="0" indent="0" algn="r" rtl="1">
              <a:buNone/>
            </a:pPr>
            <a:r>
              <a:rPr lang="en-US" sz="1600" b="1" dirty="0">
                <a:solidFill>
                  <a:srgbClr val="FFFFFF"/>
                </a:solidFill>
                <a:latin typeface="Segoe UI" pitchFamily="34" charset="0"/>
                <a:ea typeface="Segoe UI" pitchFamily="34" charset="-122"/>
                <a:cs typeface="Segoe UI" pitchFamily="34" charset="-120"/>
              </a:rPr>
              <a:t>ملفات الموظفين</a:t>
            </a:r>
            <a:endParaRPr lang="en-US" sz="1600" dirty="0"/>
          </a:p>
        </p:txBody>
      </p:sp>
      <p:sp>
        <p:nvSpPr>
          <p:cNvPr id="6" name="Text 3"/>
          <p:cNvSpPr txBox="1"/>
          <p:nvPr/>
        </p:nvSpPr>
        <p:spPr>
          <a:xfrm>
            <a:off x="841248" y="2743200"/>
            <a:ext cx="2468880" cy="274320"/>
          </a:xfrm>
          <a:prstGeom prst="rect">
            <a:avLst/>
          </a:prstGeom>
          <a:noFill/>
          <a:ln/>
        </p:spPr>
        <p:txBody>
          <a:bodyPr wrap="square" lIns="0" tIns="0" rIns="0" bIns="0" rtlCol="0" anchor="t"/>
          <a:lstStyle/>
          <a:p>
            <a:pPr marL="0" indent="0" algn="r" rtl="1">
              <a:buNone/>
            </a:pPr>
            <a:r>
              <a:rPr lang="en-US" sz="1150" dirty="0">
                <a:solidFill>
                  <a:srgbClr val="DCDDDE"/>
                </a:solidFill>
                <a:latin typeface="Segoe UI" pitchFamily="34" charset="0"/>
                <a:ea typeface="Segoe UI" pitchFamily="34" charset="-122"/>
                <a:cs typeface="Segoe UI" pitchFamily="34" charset="-120"/>
              </a:rPr>
              <a:t>بيانات كاملة في مكان واحد</a:t>
            </a:r>
            <a:endParaRPr lang="en-US" sz="1150" dirty="0"/>
          </a:p>
        </p:txBody>
      </p:sp>
      <p:sp>
        <p:nvSpPr>
          <p:cNvPr id="7" name="Shape 4"/>
          <p:cNvSpPr/>
          <p:nvPr/>
        </p:nvSpPr>
        <p:spPr>
          <a:xfrm>
            <a:off x="566928" y="3493008"/>
            <a:ext cx="3749040" cy="1133856"/>
          </a:xfrm>
          <a:prstGeom prst="roundRect">
            <a:avLst>
              <a:gd name="adj" fmla="val 7258"/>
            </a:avLst>
          </a:prstGeom>
          <a:solidFill>
            <a:srgbClr val="414042"/>
          </a:solidFill>
          <a:ln w="9525">
            <a:solidFill>
              <a:srgbClr val="565557"/>
            </a:solidFill>
            <a:prstDash val="solid"/>
          </a:ln>
        </p:spPr>
        <p:txBody>
          <a:bodyPr/>
          <a:lstStyle/>
          <a:p>
            <a:endParaRPr lang="en-US"/>
          </a:p>
        </p:txBody>
      </p:sp>
      <p:sp>
        <p:nvSpPr>
          <p:cNvPr id="8" name="Shape 5"/>
          <p:cNvSpPr/>
          <p:nvPr/>
        </p:nvSpPr>
        <p:spPr>
          <a:xfrm>
            <a:off x="3438144" y="3776472"/>
            <a:ext cx="566928" cy="566928"/>
          </a:xfrm>
          <a:prstGeom prst="ellipse">
            <a:avLst/>
          </a:prstGeom>
          <a:solidFill>
            <a:srgbClr val="C2151C"/>
          </a:solidFill>
          <a:ln w="12700">
            <a:solidFill>
              <a:srgbClr val="C2151C"/>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3579876" y="3918204"/>
            <a:ext cx="283464" cy="283464"/>
          </a:xfrm>
          <a:prstGeom prst="rect">
            <a:avLst/>
          </a:prstGeom>
        </p:spPr>
      </p:pic>
      <p:sp>
        <p:nvSpPr>
          <p:cNvPr id="10" name="Text 6"/>
          <p:cNvSpPr txBox="1"/>
          <p:nvPr/>
        </p:nvSpPr>
        <p:spPr>
          <a:xfrm>
            <a:off x="841248" y="3767328"/>
            <a:ext cx="2468880" cy="310896"/>
          </a:xfrm>
          <a:prstGeom prst="rect">
            <a:avLst/>
          </a:prstGeom>
          <a:noFill/>
          <a:ln/>
        </p:spPr>
        <p:txBody>
          <a:bodyPr wrap="square" lIns="0" tIns="0" rIns="0" bIns="0" rtlCol="0" anchor="t"/>
          <a:lstStyle/>
          <a:p>
            <a:pPr marL="0" indent="0" algn="r" rtl="1">
              <a:buNone/>
            </a:pPr>
            <a:r>
              <a:rPr lang="en-US" sz="1600" b="1" dirty="0">
                <a:solidFill>
                  <a:srgbClr val="FFFFFF"/>
                </a:solidFill>
                <a:latin typeface="Segoe UI" pitchFamily="34" charset="0"/>
                <a:ea typeface="Segoe UI" pitchFamily="34" charset="-122"/>
                <a:cs typeface="Segoe UI" pitchFamily="34" charset="-120"/>
              </a:rPr>
              <a:t>العقود</a:t>
            </a:r>
            <a:endParaRPr lang="en-US" sz="1600" dirty="0"/>
          </a:p>
        </p:txBody>
      </p:sp>
      <p:sp>
        <p:nvSpPr>
          <p:cNvPr id="11" name="Text 7"/>
          <p:cNvSpPr txBox="1"/>
          <p:nvPr/>
        </p:nvSpPr>
        <p:spPr>
          <a:xfrm>
            <a:off x="841248" y="4114800"/>
            <a:ext cx="2468880" cy="274320"/>
          </a:xfrm>
          <a:prstGeom prst="rect">
            <a:avLst/>
          </a:prstGeom>
          <a:noFill/>
          <a:ln/>
        </p:spPr>
        <p:txBody>
          <a:bodyPr wrap="square" lIns="0" tIns="0" rIns="0" bIns="0" rtlCol="0" anchor="t"/>
          <a:lstStyle/>
          <a:p>
            <a:pPr marL="0" indent="0" algn="r" rtl="1">
              <a:buNone/>
            </a:pPr>
            <a:r>
              <a:rPr lang="en-US" sz="1150" dirty="0">
                <a:solidFill>
                  <a:srgbClr val="DCDDDE"/>
                </a:solidFill>
                <a:latin typeface="Segoe UI" pitchFamily="34" charset="0"/>
                <a:ea typeface="Segoe UI" pitchFamily="34" charset="-122"/>
                <a:cs typeface="Segoe UI" pitchFamily="34" charset="-120"/>
              </a:rPr>
              <a:t>إنشاء وتجديد وتصدير</a:t>
            </a:r>
            <a:endParaRPr lang="en-US" sz="1150" dirty="0"/>
          </a:p>
        </p:txBody>
      </p:sp>
      <p:sp>
        <p:nvSpPr>
          <p:cNvPr id="12" name="Shape 8"/>
          <p:cNvSpPr/>
          <p:nvPr/>
        </p:nvSpPr>
        <p:spPr>
          <a:xfrm>
            <a:off x="566928" y="4864608"/>
            <a:ext cx="3749040" cy="1133856"/>
          </a:xfrm>
          <a:prstGeom prst="roundRect">
            <a:avLst>
              <a:gd name="adj" fmla="val 7258"/>
            </a:avLst>
          </a:prstGeom>
          <a:solidFill>
            <a:srgbClr val="414042"/>
          </a:solidFill>
          <a:ln w="9525">
            <a:solidFill>
              <a:srgbClr val="565557"/>
            </a:solidFill>
            <a:prstDash val="solid"/>
          </a:ln>
        </p:spPr>
        <p:txBody>
          <a:bodyPr/>
          <a:lstStyle/>
          <a:p>
            <a:endParaRPr lang="en-US"/>
          </a:p>
        </p:txBody>
      </p:sp>
      <p:sp>
        <p:nvSpPr>
          <p:cNvPr id="13" name="Shape 9"/>
          <p:cNvSpPr/>
          <p:nvPr/>
        </p:nvSpPr>
        <p:spPr>
          <a:xfrm>
            <a:off x="3438144" y="5148072"/>
            <a:ext cx="566928" cy="566928"/>
          </a:xfrm>
          <a:prstGeom prst="ellipse">
            <a:avLst/>
          </a:prstGeom>
          <a:solidFill>
            <a:srgbClr val="C2151C"/>
          </a:solidFill>
          <a:ln w="12700">
            <a:solidFill>
              <a:srgbClr val="C2151C"/>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3579876" y="5289804"/>
            <a:ext cx="283464" cy="283464"/>
          </a:xfrm>
          <a:prstGeom prst="rect">
            <a:avLst/>
          </a:prstGeom>
        </p:spPr>
      </p:pic>
      <p:sp>
        <p:nvSpPr>
          <p:cNvPr id="15" name="Text 10"/>
          <p:cNvSpPr txBox="1"/>
          <p:nvPr/>
        </p:nvSpPr>
        <p:spPr>
          <a:xfrm>
            <a:off x="841248" y="5138928"/>
            <a:ext cx="2468880" cy="310896"/>
          </a:xfrm>
          <a:prstGeom prst="rect">
            <a:avLst/>
          </a:prstGeom>
          <a:noFill/>
          <a:ln/>
        </p:spPr>
        <p:txBody>
          <a:bodyPr wrap="square" lIns="0" tIns="0" rIns="0" bIns="0" rtlCol="0" anchor="t"/>
          <a:lstStyle/>
          <a:p>
            <a:pPr marL="0" indent="0" algn="r" rtl="1">
              <a:buNone/>
            </a:pPr>
            <a:r>
              <a:rPr lang="en-US" sz="1600" b="1" dirty="0">
                <a:solidFill>
                  <a:srgbClr val="FFFFFF"/>
                </a:solidFill>
                <a:latin typeface="Segoe UI" pitchFamily="34" charset="0"/>
                <a:ea typeface="Segoe UI" pitchFamily="34" charset="-122"/>
                <a:cs typeface="Segoe UI" pitchFamily="34" charset="-120"/>
              </a:rPr>
              <a:t>الإجازات</a:t>
            </a:r>
            <a:endParaRPr lang="en-US" sz="1600" dirty="0"/>
          </a:p>
        </p:txBody>
      </p:sp>
      <p:sp>
        <p:nvSpPr>
          <p:cNvPr id="16" name="Text 11"/>
          <p:cNvSpPr txBox="1"/>
          <p:nvPr/>
        </p:nvSpPr>
        <p:spPr>
          <a:xfrm>
            <a:off x="841248" y="5486400"/>
            <a:ext cx="2468880" cy="274320"/>
          </a:xfrm>
          <a:prstGeom prst="rect">
            <a:avLst/>
          </a:prstGeom>
          <a:noFill/>
          <a:ln/>
        </p:spPr>
        <p:txBody>
          <a:bodyPr wrap="square" lIns="0" tIns="0" rIns="0" bIns="0" rtlCol="0" anchor="t"/>
          <a:lstStyle/>
          <a:p>
            <a:pPr marL="0" indent="0" algn="r" rtl="1">
              <a:buNone/>
            </a:pPr>
            <a:r>
              <a:rPr lang="en-US" sz="1150" dirty="0">
                <a:solidFill>
                  <a:srgbClr val="DCDDDE"/>
                </a:solidFill>
                <a:latin typeface="Segoe UI" pitchFamily="34" charset="0"/>
                <a:ea typeface="Segoe UI" pitchFamily="34" charset="-122"/>
                <a:cs typeface="Segoe UI" pitchFamily="34" charset="-120"/>
              </a:rPr>
              <a:t>طلب واعتماد ورصيد</a:t>
            </a:r>
            <a:endParaRPr lang="en-US" sz="1150" dirty="0"/>
          </a:p>
        </p:txBody>
      </p:sp>
      <p:sp>
        <p:nvSpPr>
          <p:cNvPr id="17" name="Shape 12"/>
          <p:cNvSpPr/>
          <p:nvPr/>
        </p:nvSpPr>
        <p:spPr>
          <a:xfrm>
            <a:off x="9192463" y="457200"/>
            <a:ext cx="2432304" cy="859536"/>
          </a:xfrm>
          <a:prstGeom prst="roundRect">
            <a:avLst>
              <a:gd name="adj" fmla="val 8511"/>
            </a:avLst>
          </a:prstGeom>
          <a:solidFill>
            <a:srgbClr val="FFFFFF"/>
          </a:solidFill>
          <a:ln w="12700">
            <a:solidFill>
              <a:srgbClr val="FFFFFF"/>
            </a:solidFill>
            <a:prstDash val="solid"/>
          </a:ln>
        </p:spPr>
        <p:txBody>
          <a:bodyPr/>
          <a:lstStyle/>
          <a:p>
            <a:endParaRPr lang="en-US"/>
          </a:p>
        </p:txBody>
      </p:sp>
      <p:pic>
        <p:nvPicPr>
          <p:cNvPr id="18" name="Image 3" descr="C:/laragon/www/hc-hr/public/assets/img/001_HC.png"/>
          <p:cNvPicPr>
            <a:picLocks noChangeAspect="1"/>
          </p:cNvPicPr>
          <p:nvPr/>
        </p:nvPicPr>
        <p:blipFill>
          <a:blip r:embed="rId6"/>
          <a:stretch>
            <a:fillRect/>
          </a:stretch>
        </p:blipFill>
        <p:spPr>
          <a:xfrm>
            <a:off x="9457639" y="612648"/>
            <a:ext cx="1901952" cy="512064"/>
          </a:xfrm>
          <a:prstGeom prst="rect">
            <a:avLst/>
          </a:prstGeom>
        </p:spPr>
      </p:pic>
      <p:sp>
        <p:nvSpPr>
          <p:cNvPr id="19" name="Text 13"/>
          <p:cNvSpPr txBox="1"/>
          <p:nvPr/>
        </p:nvSpPr>
        <p:spPr>
          <a:xfrm>
            <a:off x="4675327" y="2121408"/>
            <a:ext cx="6949440" cy="292608"/>
          </a:xfrm>
          <a:prstGeom prst="rect">
            <a:avLst/>
          </a:prstGeom>
          <a:noFill/>
          <a:ln/>
        </p:spPr>
        <p:txBody>
          <a:bodyPr wrap="square" lIns="0" tIns="0" rIns="0" bIns="0" rtlCol="0" anchor="t"/>
          <a:lstStyle/>
          <a:p>
            <a:pPr marL="0" indent="0" algn="r" rtl="1">
              <a:buNone/>
            </a:pPr>
            <a:r>
              <a:rPr lang="en-US" sz="1400" b="1" kern="0" spc="100" dirty="0">
                <a:solidFill>
                  <a:srgbClr val="C2151C"/>
                </a:solidFill>
                <a:latin typeface="Segoe UI" pitchFamily="34" charset="0"/>
                <a:ea typeface="Segoe UI" pitchFamily="34" charset="-122"/>
                <a:cs typeface="Segoe UI" pitchFamily="34" charset="-120"/>
              </a:rPr>
              <a:t>مركز الرجاء المسيحي، سوريا</a:t>
            </a:r>
            <a:endParaRPr lang="en-US" sz="1400" dirty="0"/>
          </a:p>
        </p:txBody>
      </p:sp>
      <p:sp>
        <p:nvSpPr>
          <p:cNvPr id="20" name="Text 14"/>
          <p:cNvSpPr txBox="1"/>
          <p:nvPr/>
        </p:nvSpPr>
        <p:spPr>
          <a:xfrm>
            <a:off x="4675327" y="2505456"/>
            <a:ext cx="6949440" cy="804672"/>
          </a:xfrm>
          <a:prstGeom prst="rect">
            <a:avLst/>
          </a:prstGeom>
          <a:noFill/>
          <a:ln/>
        </p:spPr>
        <p:txBody>
          <a:bodyPr wrap="square" lIns="0" tIns="0" rIns="0" bIns="0" rtlCol="0" anchor="t"/>
          <a:lstStyle/>
          <a:p>
            <a:pPr marL="0" indent="0" algn="r" rtl="1">
              <a:buNone/>
            </a:pPr>
            <a:r>
              <a:rPr lang="en-US" sz="4200" b="1" dirty="0">
                <a:solidFill>
                  <a:srgbClr val="FFFFFF"/>
                </a:solidFill>
                <a:latin typeface="Segoe UI" pitchFamily="34" charset="0"/>
                <a:ea typeface="Segoe UI" pitchFamily="34" charset="-122"/>
                <a:cs typeface="Segoe UI" pitchFamily="34" charset="-120"/>
              </a:rPr>
              <a:t>نظام إدارة الموارد البشرية</a:t>
            </a:r>
            <a:endParaRPr lang="en-US" sz="4200" dirty="0"/>
          </a:p>
        </p:txBody>
      </p:sp>
      <p:sp>
        <p:nvSpPr>
          <p:cNvPr id="21" name="Text 15"/>
          <p:cNvSpPr txBox="1"/>
          <p:nvPr/>
        </p:nvSpPr>
        <p:spPr>
          <a:xfrm>
            <a:off x="4675327" y="3364992"/>
            <a:ext cx="6949440" cy="640080"/>
          </a:xfrm>
          <a:prstGeom prst="rect">
            <a:avLst/>
          </a:prstGeom>
          <a:noFill/>
          <a:ln/>
        </p:spPr>
        <p:txBody>
          <a:bodyPr wrap="square" lIns="0" tIns="0" rIns="0" bIns="0" rtlCol="0" anchor="t"/>
          <a:lstStyle/>
          <a:p>
            <a:pPr marL="0" indent="0" algn="r">
              <a:buNone/>
            </a:pPr>
            <a:r>
              <a:rPr lang="en-US" sz="3800" b="1" dirty="0">
                <a:solidFill>
                  <a:srgbClr val="C2151C"/>
                </a:solidFill>
                <a:latin typeface="Segoe UI" pitchFamily="34" charset="0"/>
                <a:ea typeface="Segoe UI" pitchFamily="34" charset="-122"/>
                <a:cs typeface="Segoe UI" pitchFamily="34" charset="-120"/>
              </a:rPr>
              <a:t>HopeHR</a:t>
            </a:r>
            <a:endParaRPr lang="en-US" sz="3800" dirty="0"/>
          </a:p>
        </p:txBody>
      </p:sp>
      <p:sp>
        <p:nvSpPr>
          <p:cNvPr id="22" name="Shape 16"/>
          <p:cNvSpPr/>
          <p:nvPr/>
        </p:nvSpPr>
        <p:spPr>
          <a:xfrm>
            <a:off x="4675327" y="4224528"/>
            <a:ext cx="6949440" cy="18288"/>
          </a:xfrm>
          <a:prstGeom prst="rect">
            <a:avLst/>
          </a:prstGeom>
          <a:solidFill>
            <a:srgbClr val="414042"/>
          </a:solidFill>
          <a:ln w="12700">
            <a:solidFill>
              <a:srgbClr val="414042"/>
            </a:solidFill>
            <a:prstDash val="solid"/>
          </a:ln>
        </p:spPr>
        <p:txBody>
          <a:bodyPr/>
          <a:lstStyle/>
          <a:p>
            <a:endParaRPr lang="en-US"/>
          </a:p>
        </p:txBody>
      </p:sp>
      <p:sp>
        <p:nvSpPr>
          <p:cNvPr id="23" name="Text 17"/>
          <p:cNvSpPr txBox="1"/>
          <p:nvPr/>
        </p:nvSpPr>
        <p:spPr>
          <a:xfrm>
            <a:off x="4675327" y="4443984"/>
            <a:ext cx="6949440" cy="384048"/>
          </a:xfrm>
          <a:prstGeom prst="rect">
            <a:avLst/>
          </a:prstGeom>
          <a:noFill/>
          <a:ln/>
        </p:spPr>
        <p:txBody>
          <a:bodyPr wrap="square" lIns="0" tIns="0" rIns="0" bIns="0" rtlCol="0" anchor="t"/>
          <a:lstStyle/>
          <a:p>
            <a:pPr marL="0" indent="0" algn="r" rtl="1">
              <a:buNone/>
            </a:pPr>
            <a:r>
              <a:rPr lang="en-US" sz="2100" dirty="0">
                <a:solidFill>
                  <a:srgbClr val="DCDDDE"/>
                </a:solidFill>
                <a:latin typeface="Segoe UI" pitchFamily="34" charset="0"/>
                <a:ea typeface="Segoe UI" pitchFamily="34" charset="-122"/>
                <a:cs typeface="Segoe UI" pitchFamily="34" charset="-120"/>
              </a:rPr>
              <a:t>جلسة تعريفية لفريق الموارد البشرية</a:t>
            </a:r>
            <a:endParaRPr lang="en-US" sz="2100" dirty="0"/>
          </a:p>
        </p:txBody>
      </p:sp>
      <p:sp>
        <p:nvSpPr>
          <p:cNvPr id="24" name="Text 18"/>
          <p:cNvSpPr txBox="1"/>
          <p:nvPr/>
        </p:nvSpPr>
        <p:spPr>
          <a:xfrm>
            <a:off x="4675327" y="4901184"/>
            <a:ext cx="6949440" cy="329184"/>
          </a:xfrm>
          <a:prstGeom prst="rect">
            <a:avLst/>
          </a:prstGeom>
          <a:noFill/>
          <a:ln/>
        </p:spPr>
        <p:txBody>
          <a:bodyPr wrap="square" lIns="0" tIns="0" rIns="0" bIns="0" rtlCol="0" anchor="t"/>
          <a:lstStyle/>
          <a:p>
            <a:pPr marL="0" indent="0" algn="r" rtl="1">
              <a:buNone/>
            </a:pPr>
            <a:r>
              <a:rPr lang="en-US" sz="1500" dirty="0">
                <a:solidFill>
                  <a:srgbClr val="939598"/>
                </a:solidFill>
                <a:latin typeface="Segoe UI" pitchFamily="34" charset="0"/>
                <a:ea typeface="Segoe UI" pitchFamily="34" charset="-122"/>
                <a:cs typeface="Segoe UI" pitchFamily="34" charset="-120"/>
              </a:rPr>
              <a:t>كيف نستخدم النظام، وما الذي يوفّره علينا</a:t>
            </a:r>
            <a:endParaRPr lang="en-US" sz="1500" dirty="0"/>
          </a:p>
        </p:txBody>
      </p:sp>
      <p:sp>
        <p:nvSpPr>
          <p:cNvPr id="25" name="Text 19"/>
          <p:cNvSpPr txBox="1"/>
          <p:nvPr/>
        </p:nvSpPr>
        <p:spPr>
          <a:xfrm>
            <a:off x="4675327" y="5943600"/>
            <a:ext cx="6949440" cy="292608"/>
          </a:xfrm>
          <a:prstGeom prst="rect">
            <a:avLst/>
          </a:prstGeom>
          <a:noFill/>
          <a:ln/>
        </p:spPr>
        <p:txBody>
          <a:bodyPr wrap="square" lIns="0" tIns="0" rIns="0" bIns="0" rtlCol="0" anchor="t"/>
          <a:lstStyle/>
          <a:p>
            <a:pPr marL="0" indent="0" algn="r" rtl="1">
              <a:buNone/>
            </a:pPr>
            <a:r>
              <a:rPr lang="en-US" sz="1300" dirty="0">
                <a:solidFill>
                  <a:srgbClr val="939598"/>
                </a:solidFill>
                <a:latin typeface="Segoe UI" pitchFamily="34" charset="0"/>
                <a:ea typeface="Segoe UI" pitchFamily="34" charset="-122"/>
                <a:cs typeface="Segoe UI" pitchFamily="34" charset="-120"/>
              </a:rPr>
              <a:t>أيلول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6"/>
        </a:solidFill>
        <a:effectLst/>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t"/>
          <a:lstStyle/>
          <a:p>
            <a:pPr marL="0" indent="0" algn="r" rtl="1">
              <a:buNone/>
            </a:pPr>
            <a:r>
              <a:rPr lang="en-US" sz="1250" b="1" kern="0" spc="100" dirty="0">
                <a:solidFill>
                  <a:srgbClr val="C2151C"/>
                </a:solidFill>
                <a:latin typeface="Segoe UI" pitchFamily="34" charset="0"/>
                <a:ea typeface="Segoe UI" pitchFamily="34" charset="-122"/>
                <a:cs typeface="Segoe UI" pitchFamily="34" charset="-120"/>
              </a:rPr>
              <a:t>جدول الجلسة</a:t>
            </a:r>
            <a:endParaRPr lang="en-US" sz="1250" dirty="0"/>
          </a:p>
        </p:txBody>
      </p:sp>
      <p:sp>
        <p:nvSpPr>
          <p:cNvPr id="3" name="Text 1"/>
          <p:cNvSpPr txBox="1"/>
          <p:nvPr/>
        </p:nvSpPr>
        <p:spPr>
          <a:xfrm>
            <a:off x="566928" y="713232"/>
            <a:ext cx="11057839" cy="658368"/>
          </a:xfrm>
          <a:prstGeom prst="rect">
            <a:avLst/>
          </a:prstGeom>
          <a:noFill/>
          <a:ln/>
        </p:spPr>
        <p:txBody>
          <a:bodyPr wrap="square" lIns="0" tIns="0" rIns="0" bIns="0" rtlCol="0" anchor="t"/>
          <a:lstStyle/>
          <a:p>
            <a:pPr marL="0" indent="0" algn="r" rtl="1">
              <a:buNone/>
            </a:pPr>
            <a:r>
              <a:rPr lang="en-US" sz="3300" b="1" dirty="0">
                <a:solidFill>
                  <a:srgbClr val="2B2A2C"/>
                </a:solidFill>
                <a:latin typeface="Segoe UI" pitchFamily="34" charset="0"/>
                <a:ea typeface="Segoe UI" pitchFamily="34" charset="-122"/>
                <a:cs typeface="Segoe UI" pitchFamily="34" charset="-120"/>
              </a:rPr>
              <a:t>محاور اللقاء</a:t>
            </a:r>
            <a:endParaRPr lang="en-US" sz="3300" dirty="0"/>
          </a:p>
        </p:txBody>
      </p:sp>
      <p:sp>
        <p:nvSpPr>
          <p:cNvPr id="4" name="Text 2"/>
          <p:cNvSpPr txBox="1"/>
          <p:nvPr/>
        </p:nvSpPr>
        <p:spPr>
          <a:xfrm>
            <a:off x="566928" y="1389888"/>
            <a:ext cx="11057839" cy="310896"/>
          </a:xfrm>
          <a:prstGeom prst="rect">
            <a:avLst/>
          </a:prstGeom>
          <a:noFill/>
          <a:ln/>
        </p:spPr>
        <p:txBody>
          <a:bodyPr wrap="square" lIns="0" tIns="0" rIns="0" bIns="0" rtlCol="0" anchor="t"/>
          <a:lstStyle/>
          <a:p>
            <a:pPr marL="0" indent="0" algn="r" rtl="1">
              <a:buNone/>
            </a:pPr>
            <a:r>
              <a:rPr lang="en-US" sz="1400" dirty="0">
                <a:solidFill>
                  <a:srgbClr val="6D6E71"/>
                </a:solidFill>
                <a:latin typeface="Segoe UI" pitchFamily="34" charset="0"/>
                <a:ea typeface="Segoe UI" pitchFamily="34" charset="-122"/>
                <a:cs typeface="Segoe UI" pitchFamily="34" charset="-120"/>
              </a:rPr>
              <a:t>ستّة محاور نغطّيها خلال هذه الجلسة، من الفكرة العامة إلى الاستخدام اليومي.</a:t>
            </a:r>
            <a:endParaRPr lang="en-US" sz="1400" dirty="0"/>
          </a:p>
        </p:txBody>
      </p:sp>
      <p:sp>
        <p:nvSpPr>
          <p:cNvPr id="5" name="Shape 3"/>
          <p:cNvSpPr/>
          <p:nvPr/>
        </p:nvSpPr>
        <p:spPr>
          <a:xfrm>
            <a:off x="8121701" y="1920240"/>
            <a:ext cx="3503066" cy="1938528"/>
          </a:xfrm>
          <a:prstGeom prst="roundRect">
            <a:avLst>
              <a:gd name="adj" fmla="val 4717"/>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6" name="Shape 4"/>
          <p:cNvSpPr/>
          <p:nvPr/>
        </p:nvSpPr>
        <p:spPr>
          <a:xfrm>
            <a:off x="10765231" y="2212848"/>
            <a:ext cx="548640" cy="548640"/>
          </a:xfrm>
          <a:prstGeom prst="ellipse">
            <a:avLst/>
          </a:prstGeom>
          <a:solidFill>
            <a:srgbClr val="C2151C"/>
          </a:solidFill>
          <a:ln w="12700">
            <a:solidFill>
              <a:srgbClr val="C2151C"/>
            </a:solidFill>
            <a:prstDash val="solid"/>
          </a:ln>
        </p:spPr>
        <p:txBody>
          <a:bodyPr/>
          <a:lstStyle/>
          <a:p>
            <a:endParaRPr lang="en-US"/>
          </a:p>
        </p:txBody>
      </p:sp>
      <p:sp>
        <p:nvSpPr>
          <p:cNvPr id="7" name="Text 5"/>
          <p:cNvSpPr txBox="1"/>
          <p:nvPr/>
        </p:nvSpPr>
        <p:spPr>
          <a:xfrm>
            <a:off x="10765231" y="2212848"/>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8" name="Text 6"/>
          <p:cNvSpPr txBox="1"/>
          <p:nvPr/>
        </p:nvSpPr>
        <p:spPr>
          <a:xfrm>
            <a:off x="8432597" y="2889504"/>
            <a:ext cx="2881274" cy="329184"/>
          </a:xfrm>
          <a:prstGeom prst="rect">
            <a:avLst/>
          </a:prstGeom>
          <a:noFill/>
          <a:ln/>
        </p:spPr>
        <p:txBody>
          <a:bodyPr wrap="square" lIns="0" tIns="0" rIns="0" bIns="0" rtlCol="0" anchor="t"/>
          <a:lstStyle/>
          <a:p>
            <a:pPr marL="0" indent="0" algn="r" rtl="1">
              <a:buNone/>
            </a:pPr>
            <a:r>
              <a:rPr lang="en-US" sz="1700" b="1" dirty="0">
                <a:solidFill>
                  <a:srgbClr val="2B2A2C"/>
                </a:solidFill>
                <a:latin typeface="Segoe UI" pitchFamily="34" charset="0"/>
                <a:ea typeface="Segoe UI" pitchFamily="34" charset="-122"/>
                <a:cs typeface="Segoe UI" pitchFamily="34" charset="-120"/>
              </a:rPr>
              <a:t>لماذا هذا النظام؟</a:t>
            </a:r>
            <a:endParaRPr lang="en-US" sz="1700" dirty="0"/>
          </a:p>
        </p:txBody>
      </p:sp>
      <p:sp>
        <p:nvSpPr>
          <p:cNvPr id="9" name="Text 7"/>
          <p:cNvSpPr txBox="1"/>
          <p:nvPr/>
        </p:nvSpPr>
        <p:spPr>
          <a:xfrm>
            <a:off x="8432597" y="3255264"/>
            <a:ext cx="2881274" cy="512064"/>
          </a:xfrm>
          <a:prstGeom prst="rect">
            <a:avLst/>
          </a:prstGeom>
          <a:noFill/>
          <a:ln/>
        </p:spPr>
        <p:txBody>
          <a:bodyPr wrap="square" lIns="0" tIns="0" rIns="0" bIns="0" rtlCol="0" anchor="t"/>
          <a:lstStyle/>
          <a:p>
            <a:pPr marL="0" indent="0" algn="r" rtl="1">
              <a:lnSpc>
                <a:spcPts val="1800"/>
              </a:lnSpc>
              <a:buNone/>
            </a:pPr>
            <a:r>
              <a:rPr lang="en-US" sz="1250" dirty="0">
                <a:solidFill>
                  <a:srgbClr val="6D6E71"/>
                </a:solidFill>
                <a:latin typeface="Segoe UI" pitchFamily="34" charset="0"/>
                <a:ea typeface="Segoe UI" pitchFamily="34" charset="-122"/>
                <a:cs typeface="Segoe UI" pitchFamily="34" charset="-120"/>
              </a:rPr>
              <a:t>ما الذي يحلّه، وكيف يختلف عن طريقة العمل السابقة.</a:t>
            </a:r>
            <a:endParaRPr lang="en-US" sz="1250" dirty="0"/>
          </a:p>
        </p:txBody>
      </p:sp>
      <p:sp>
        <p:nvSpPr>
          <p:cNvPr id="10" name="Shape 8"/>
          <p:cNvSpPr/>
          <p:nvPr/>
        </p:nvSpPr>
        <p:spPr>
          <a:xfrm>
            <a:off x="4344314" y="1920240"/>
            <a:ext cx="3503066" cy="1938528"/>
          </a:xfrm>
          <a:prstGeom prst="roundRect">
            <a:avLst>
              <a:gd name="adj" fmla="val 4717"/>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11" name="Shape 9"/>
          <p:cNvSpPr/>
          <p:nvPr/>
        </p:nvSpPr>
        <p:spPr>
          <a:xfrm>
            <a:off x="6987845" y="2212848"/>
            <a:ext cx="548640" cy="548640"/>
          </a:xfrm>
          <a:prstGeom prst="ellipse">
            <a:avLst/>
          </a:prstGeom>
          <a:solidFill>
            <a:srgbClr val="C2151C"/>
          </a:solidFill>
          <a:ln w="12700">
            <a:solidFill>
              <a:srgbClr val="C2151C"/>
            </a:solidFill>
            <a:prstDash val="solid"/>
          </a:ln>
        </p:spPr>
        <p:txBody>
          <a:bodyPr/>
          <a:lstStyle/>
          <a:p>
            <a:endParaRPr lang="en-US"/>
          </a:p>
        </p:txBody>
      </p:sp>
      <p:sp>
        <p:nvSpPr>
          <p:cNvPr id="12" name="Text 10"/>
          <p:cNvSpPr txBox="1"/>
          <p:nvPr/>
        </p:nvSpPr>
        <p:spPr>
          <a:xfrm>
            <a:off x="6987845" y="2212848"/>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13" name="Text 11"/>
          <p:cNvSpPr txBox="1"/>
          <p:nvPr/>
        </p:nvSpPr>
        <p:spPr>
          <a:xfrm>
            <a:off x="4655210" y="2889504"/>
            <a:ext cx="2881274" cy="329184"/>
          </a:xfrm>
          <a:prstGeom prst="rect">
            <a:avLst/>
          </a:prstGeom>
          <a:noFill/>
          <a:ln/>
        </p:spPr>
        <p:txBody>
          <a:bodyPr wrap="square" lIns="0" tIns="0" rIns="0" bIns="0" rtlCol="0" anchor="t"/>
          <a:lstStyle/>
          <a:p>
            <a:pPr marL="0" indent="0" algn="r" rtl="1">
              <a:buNone/>
            </a:pPr>
            <a:r>
              <a:rPr lang="en-US" sz="1700" b="1" dirty="0">
                <a:solidFill>
                  <a:srgbClr val="2B2A2C"/>
                </a:solidFill>
                <a:latin typeface="Segoe UI" pitchFamily="34" charset="0"/>
                <a:ea typeface="Segoe UI" pitchFamily="34" charset="-122"/>
                <a:cs typeface="Segoe UI" pitchFamily="34" charset="-120"/>
              </a:rPr>
              <a:t>الوحدات الأساسية</a:t>
            </a:r>
            <a:endParaRPr lang="en-US" sz="1700" dirty="0"/>
          </a:p>
        </p:txBody>
      </p:sp>
      <p:sp>
        <p:nvSpPr>
          <p:cNvPr id="14" name="Text 12"/>
          <p:cNvSpPr txBox="1"/>
          <p:nvPr/>
        </p:nvSpPr>
        <p:spPr>
          <a:xfrm>
            <a:off x="4655210" y="3255264"/>
            <a:ext cx="2881274" cy="512064"/>
          </a:xfrm>
          <a:prstGeom prst="rect">
            <a:avLst/>
          </a:prstGeom>
          <a:noFill/>
          <a:ln/>
        </p:spPr>
        <p:txBody>
          <a:bodyPr wrap="square" lIns="0" tIns="0" rIns="0" bIns="0" rtlCol="0" anchor="t"/>
          <a:lstStyle/>
          <a:p>
            <a:pPr marL="0" indent="0" algn="r" rtl="1">
              <a:lnSpc>
                <a:spcPts val="1800"/>
              </a:lnSpc>
              <a:buNone/>
            </a:pPr>
            <a:r>
              <a:rPr lang="en-US" sz="1250" dirty="0">
                <a:solidFill>
                  <a:srgbClr val="6D6E71"/>
                </a:solidFill>
                <a:latin typeface="Segoe UI" pitchFamily="34" charset="0"/>
                <a:ea typeface="Segoe UI" pitchFamily="34" charset="-122"/>
                <a:cs typeface="Segoe UI" pitchFamily="34" charset="-120"/>
              </a:rPr>
              <a:t>جولة سريعة على أقسام النظام الثمانية وما يقدّمه كل قسم.</a:t>
            </a:r>
            <a:endParaRPr lang="en-US" sz="1250" dirty="0"/>
          </a:p>
        </p:txBody>
      </p:sp>
      <p:sp>
        <p:nvSpPr>
          <p:cNvPr id="15" name="Shape 13"/>
          <p:cNvSpPr/>
          <p:nvPr/>
        </p:nvSpPr>
        <p:spPr>
          <a:xfrm>
            <a:off x="566928" y="1920240"/>
            <a:ext cx="3503066" cy="1938528"/>
          </a:xfrm>
          <a:prstGeom prst="roundRect">
            <a:avLst>
              <a:gd name="adj" fmla="val 4717"/>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16" name="Shape 14"/>
          <p:cNvSpPr/>
          <p:nvPr/>
        </p:nvSpPr>
        <p:spPr>
          <a:xfrm>
            <a:off x="3210458" y="2212848"/>
            <a:ext cx="548640" cy="548640"/>
          </a:xfrm>
          <a:prstGeom prst="ellipse">
            <a:avLst/>
          </a:prstGeom>
          <a:solidFill>
            <a:srgbClr val="C2151C"/>
          </a:solidFill>
          <a:ln w="12700">
            <a:solidFill>
              <a:srgbClr val="C2151C"/>
            </a:solidFill>
            <a:prstDash val="solid"/>
          </a:ln>
        </p:spPr>
        <p:txBody>
          <a:bodyPr/>
          <a:lstStyle/>
          <a:p>
            <a:endParaRPr lang="en-US"/>
          </a:p>
        </p:txBody>
      </p:sp>
      <p:sp>
        <p:nvSpPr>
          <p:cNvPr id="17" name="Text 15"/>
          <p:cNvSpPr txBox="1"/>
          <p:nvPr/>
        </p:nvSpPr>
        <p:spPr>
          <a:xfrm>
            <a:off x="3210458" y="2212848"/>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18" name="Text 16"/>
          <p:cNvSpPr txBox="1"/>
          <p:nvPr/>
        </p:nvSpPr>
        <p:spPr>
          <a:xfrm>
            <a:off x="877824" y="2889504"/>
            <a:ext cx="2881274" cy="329184"/>
          </a:xfrm>
          <a:prstGeom prst="rect">
            <a:avLst/>
          </a:prstGeom>
          <a:noFill/>
          <a:ln/>
        </p:spPr>
        <p:txBody>
          <a:bodyPr wrap="square" lIns="0" tIns="0" rIns="0" bIns="0" rtlCol="0" anchor="t"/>
          <a:lstStyle/>
          <a:p>
            <a:pPr marL="0" indent="0" algn="r" rtl="1">
              <a:buNone/>
            </a:pPr>
            <a:r>
              <a:rPr lang="en-US" sz="1700" b="1" dirty="0">
                <a:solidFill>
                  <a:srgbClr val="2B2A2C"/>
                </a:solidFill>
                <a:latin typeface="Segoe UI" pitchFamily="34" charset="0"/>
                <a:ea typeface="Segoe UI" pitchFamily="34" charset="-122"/>
                <a:cs typeface="Segoe UI" pitchFamily="34" charset="-120"/>
              </a:rPr>
              <a:t>الأدوار والصلاحيات</a:t>
            </a:r>
            <a:endParaRPr lang="en-US" sz="1700" dirty="0"/>
          </a:p>
        </p:txBody>
      </p:sp>
      <p:sp>
        <p:nvSpPr>
          <p:cNvPr id="19" name="Text 17"/>
          <p:cNvSpPr txBox="1"/>
          <p:nvPr/>
        </p:nvSpPr>
        <p:spPr>
          <a:xfrm>
            <a:off x="877824" y="3255264"/>
            <a:ext cx="2881274" cy="512064"/>
          </a:xfrm>
          <a:prstGeom prst="rect">
            <a:avLst/>
          </a:prstGeom>
          <a:noFill/>
          <a:ln/>
        </p:spPr>
        <p:txBody>
          <a:bodyPr wrap="square" lIns="0" tIns="0" rIns="0" bIns="0" rtlCol="0" anchor="t"/>
          <a:lstStyle/>
          <a:p>
            <a:pPr marL="0" indent="0" algn="r" rtl="1">
              <a:lnSpc>
                <a:spcPts val="1800"/>
              </a:lnSpc>
              <a:buNone/>
            </a:pPr>
            <a:r>
              <a:rPr lang="en-US" sz="1250" dirty="0">
                <a:solidFill>
                  <a:srgbClr val="6D6E71"/>
                </a:solidFill>
                <a:latin typeface="Segoe UI" pitchFamily="34" charset="0"/>
                <a:ea typeface="Segoe UI" pitchFamily="34" charset="-122"/>
                <a:cs typeface="Segoe UI" pitchFamily="34" charset="-120"/>
              </a:rPr>
              <a:t>من يرى ماذا، وكيف تعمل صلاحيات المحافظات.</a:t>
            </a:r>
            <a:endParaRPr lang="en-US" sz="1250" dirty="0"/>
          </a:p>
        </p:txBody>
      </p:sp>
      <p:sp>
        <p:nvSpPr>
          <p:cNvPr id="20" name="Shape 18"/>
          <p:cNvSpPr/>
          <p:nvPr/>
        </p:nvSpPr>
        <p:spPr>
          <a:xfrm>
            <a:off x="8121701" y="4133088"/>
            <a:ext cx="3503066" cy="1938528"/>
          </a:xfrm>
          <a:prstGeom prst="roundRect">
            <a:avLst>
              <a:gd name="adj" fmla="val 4717"/>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21" name="Shape 19"/>
          <p:cNvSpPr/>
          <p:nvPr/>
        </p:nvSpPr>
        <p:spPr>
          <a:xfrm>
            <a:off x="10765231" y="4425696"/>
            <a:ext cx="548640" cy="548640"/>
          </a:xfrm>
          <a:prstGeom prst="ellipse">
            <a:avLst/>
          </a:prstGeom>
          <a:solidFill>
            <a:srgbClr val="C2151C"/>
          </a:solidFill>
          <a:ln w="12700">
            <a:solidFill>
              <a:srgbClr val="C2151C"/>
            </a:solidFill>
            <a:prstDash val="solid"/>
          </a:ln>
        </p:spPr>
        <p:txBody>
          <a:bodyPr/>
          <a:lstStyle/>
          <a:p>
            <a:endParaRPr lang="en-US"/>
          </a:p>
        </p:txBody>
      </p:sp>
      <p:sp>
        <p:nvSpPr>
          <p:cNvPr id="22" name="Text 20"/>
          <p:cNvSpPr txBox="1"/>
          <p:nvPr/>
        </p:nvSpPr>
        <p:spPr>
          <a:xfrm>
            <a:off x="10765231" y="4425696"/>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23" name="Text 21"/>
          <p:cNvSpPr txBox="1"/>
          <p:nvPr/>
        </p:nvSpPr>
        <p:spPr>
          <a:xfrm>
            <a:off x="8432597" y="5102352"/>
            <a:ext cx="2881274" cy="329184"/>
          </a:xfrm>
          <a:prstGeom prst="rect">
            <a:avLst/>
          </a:prstGeom>
          <a:noFill/>
          <a:ln/>
        </p:spPr>
        <p:txBody>
          <a:bodyPr wrap="square" lIns="0" tIns="0" rIns="0" bIns="0" rtlCol="0" anchor="t"/>
          <a:lstStyle/>
          <a:p>
            <a:pPr marL="0" indent="0" algn="r" rtl="1">
              <a:buNone/>
            </a:pPr>
            <a:r>
              <a:rPr lang="en-US" sz="1700" b="1" dirty="0">
                <a:solidFill>
                  <a:srgbClr val="2B2A2C"/>
                </a:solidFill>
                <a:latin typeface="Segoe UI" pitchFamily="34" charset="0"/>
                <a:ea typeface="Segoe UI" pitchFamily="34" charset="-122"/>
                <a:cs typeface="Segoe UI" pitchFamily="34" charset="-120"/>
              </a:rPr>
              <a:t>المهام اليومية</a:t>
            </a:r>
            <a:endParaRPr lang="en-US" sz="1700" dirty="0"/>
          </a:p>
        </p:txBody>
      </p:sp>
      <p:sp>
        <p:nvSpPr>
          <p:cNvPr id="24" name="Text 22"/>
          <p:cNvSpPr txBox="1"/>
          <p:nvPr/>
        </p:nvSpPr>
        <p:spPr>
          <a:xfrm>
            <a:off x="8432597" y="5468112"/>
            <a:ext cx="2881274" cy="512064"/>
          </a:xfrm>
          <a:prstGeom prst="rect">
            <a:avLst/>
          </a:prstGeom>
          <a:noFill/>
          <a:ln/>
        </p:spPr>
        <p:txBody>
          <a:bodyPr wrap="square" lIns="0" tIns="0" rIns="0" bIns="0" rtlCol="0" anchor="t"/>
          <a:lstStyle/>
          <a:p>
            <a:pPr marL="0" indent="0" algn="r" rtl="1">
              <a:lnSpc>
                <a:spcPts val="1800"/>
              </a:lnSpc>
              <a:buNone/>
            </a:pPr>
            <a:r>
              <a:rPr lang="en-US" sz="1250" dirty="0">
                <a:solidFill>
                  <a:srgbClr val="6D6E71"/>
                </a:solidFill>
                <a:latin typeface="Segoe UI" pitchFamily="34" charset="0"/>
                <a:ea typeface="Segoe UI" pitchFamily="34" charset="-122"/>
                <a:cs typeface="Segoe UI" pitchFamily="34" charset="-120"/>
              </a:rPr>
              <a:t>الموظفون والعقود والإجازات خطوة بخطوة.</a:t>
            </a:r>
            <a:endParaRPr lang="en-US" sz="1250" dirty="0"/>
          </a:p>
        </p:txBody>
      </p:sp>
      <p:sp>
        <p:nvSpPr>
          <p:cNvPr id="25" name="Shape 23"/>
          <p:cNvSpPr/>
          <p:nvPr/>
        </p:nvSpPr>
        <p:spPr>
          <a:xfrm>
            <a:off x="4344314" y="4133088"/>
            <a:ext cx="3503066" cy="1938528"/>
          </a:xfrm>
          <a:prstGeom prst="roundRect">
            <a:avLst>
              <a:gd name="adj" fmla="val 4717"/>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26" name="Shape 24"/>
          <p:cNvSpPr/>
          <p:nvPr/>
        </p:nvSpPr>
        <p:spPr>
          <a:xfrm>
            <a:off x="6987845" y="4425696"/>
            <a:ext cx="548640" cy="548640"/>
          </a:xfrm>
          <a:prstGeom prst="ellipse">
            <a:avLst/>
          </a:prstGeom>
          <a:solidFill>
            <a:srgbClr val="C2151C"/>
          </a:solidFill>
          <a:ln w="12700">
            <a:solidFill>
              <a:srgbClr val="C2151C"/>
            </a:solidFill>
            <a:prstDash val="solid"/>
          </a:ln>
        </p:spPr>
        <p:txBody>
          <a:bodyPr/>
          <a:lstStyle/>
          <a:p>
            <a:endParaRPr lang="en-US"/>
          </a:p>
        </p:txBody>
      </p:sp>
      <p:sp>
        <p:nvSpPr>
          <p:cNvPr id="27" name="Text 25"/>
          <p:cNvSpPr txBox="1"/>
          <p:nvPr/>
        </p:nvSpPr>
        <p:spPr>
          <a:xfrm>
            <a:off x="6987845" y="4425696"/>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28" name="Text 26"/>
          <p:cNvSpPr txBox="1"/>
          <p:nvPr/>
        </p:nvSpPr>
        <p:spPr>
          <a:xfrm>
            <a:off x="4655210" y="5102352"/>
            <a:ext cx="2881274" cy="329184"/>
          </a:xfrm>
          <a:prstGeom prst="rect">
            <a:avLst/>
          </a:prstGeom>
          <a:noFill/>
          <a:ln/>
        </p:spPr>
        <p:txBody>
          <a:bodyPr wrap="square" lIns="0" tIns="0" rIns="0" bIns="0" rtlCol="0" anchor="t"/>
          <a:lstStyle/>
          <a:p>
            <a:pPr marL="0" indent="0" algn="r" rtl="1">
              <a:buNone/>
            </a:pPr>
            <a:r>
              <a:rPr lang="en-US" sz="1700" b="1" dirty="0">
                <a:solidFill>
                  <a:srgbClr val="2B2A2C"/>
                </a:solidFill>
                <a:latin typeface="Segoe UI" pitchFamily="34" charset="0"/>
                <a:ea typeface="Segoe UI" pitchFamily="34" charset="-122"/>
                <a:cs typeface="Segoe UI" pitchFamily="34" charset="-120"/>
              </a:rPr>
              <a:t>التقارير والحوكمة</a:t>
            </a:r>
            <a:endParaRPr lang="en-US" sz="1700" dirty="0"/>
          </a:p>
        </p:txBody>
      </p:sp>
      <p:sp>
        <p:nvSpPr>
          <p:cNvPr id="29" name="Text 27"/>
          <p:cNvSpPr txBox="1"/>
          <p:nvPr/>
        </p:nvSpPr>
        <p:spPr>
          <a:xfrm>
            <a:off x="4655210" y="5468112"/>
            <a:ext cx="2881274" cy="512064"/>
          </a:xfrm>
          <a:prstGeom prst="rect">
            <a:avLst/>
          </a:prstGeom>
          <a:noFill/>
          <a:ln/>
        </p:spPr>
        <p:txBody>
          <a:bodyPr wrap="square" lIns="0" tIns="0" rIns="0" bIns="0" rtlCol="0" anchor="t"/>
          <a:lstStyle/>
          <a:p>
            <a:pPr marL="0" indent="0" algn="r" rtl="1">
              <a:lnSpc>
                <a:spcPts val="1800"/>
              </a:lnSpc>
              <a:buNone/>
            </a:pPr>
            <a:r>
              <a:rPr lang="en-US" sz="1250" dirty="0">
                <a:solidFill>
                  <a:srgbClr val="6D6E71"/>
                </a:solidFill>
                <a:latin typeface="Segoe UI" pitchFamily="34" charset="0"/>
                <a:ea typeface="Segoe UI" pitchFamily="34" charset="-122"/>
                <a:cs typeface="Segoe UI" pitchFamily="34" charset="-120"/>
              </a:rPr>
              <a:t>الإحصائيات والتصدير وسجل الأنشطة.</a:t>
            </a:r>
            <a:endParaRPr lang="en-US" sz="1250" dirty="0"/>
          </a:p>
        </p:txBody>
      </p:sp>
      <p:sp>
        <p:nvSpPr>
          <p:cNvPr id="30" name="Shape 28"/>
          <p:cNvSpPr/>
          <p:nvPr/>
        </p:nvSpPr>
        <p:spPr>
          <a:xfrm>
            <a:off x="566928" y="4133088"/>
            <a:ext cx="3503066" cy="1938528"/>
          </a:xfrm>
          <a:prstGeom prst="roundRect">
            <a:avLst>
              <a:gd name="adj" fmla="val 4717"/>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31" name="Shape 29"/>
          <p:cNvSpPr/>
          <p:nvPr/>
        </p:nvSpPr>
        <p:spPr>
          <a:xfrm>
            <a:off x="3210458" y="4425696"/>
            <a:ext cx="548640" cy="548640"/>
          </a:xfrm>
          <a:prstGeom prst="ellipse">
            <a:avLst/>
          </a:prstGeom>
          <a:solidFill>
            <a:srgbClr val="C2151C"/>
          </a:solidFill>
          <a:ln w="12700">
            <a:solidFill>
              <a:srgbClr val="C2151C"/>
            </a:solidFill>
            <a:prstDash val="solid"/>
          </a:ln>
        </p:spPr>
        <p:txBody>
          <a:bodyPr/>
          <a:lstStyle/>
          <a:p>
            <a:endParaRPr lang="en-US"/>
          </a:p>
        </p:txBody>
      </p:sp>
      <p:sp>
        <p:nvSpPr>
          <p:cNvPr id="32" name="Text 30"/>
          <p:cNvSpPr txBox="1"/>
          <p:nvPr/>
        </p:nvSpPr>
        <p:spPr>
          <a:xfrm>
            <a:off x="3210458" y="4425696"/>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6</a:t>
            </a:r>
            <a:endParaRPr lang="en-US" sz="1600" dirty="0"/>
          </a:p>
        </p:txBody>
      </p:sp>
      <p:sp>
        <p:nvSpPr>
          <p:cNvPr id="33" name="Text 31"/>
          <p:cNvSpPr txBox="1"/>
          <p:nvPr/>
        </p:nvSpPr>
        <p:spPr>
          <a:xfrm>
            <a:off x="877824" y="5102352"/>
            <a:ext cx="2881274" cy="329184"/>
          </a:xfrm>
          <a:prstGeom prst="rect">
            <a:avLst/>
          </a:prstGeom>
          <a:noFill/>
          <a:ln/>
        </p:spPr>
        <p:txBody>
          <a:bodyPr wrap="square" lIns="0" tIns="0" rIns="0" bIns="0" rtlCol="0" anchor="t"/>
          <a:lstStyle/>
          <a:p>
            <a:pPr marL="0" indent="0" algn="r" rtl="1">
              <a:buNone/>
            </a:pPr>
            <a:r>
              <a:rPr lang="en-US" sz="1700" b="1" dirty="0">
                <a:solidFill>
                  <a:srgbClr val="2B2A2C"/>
                </a:solidFill>
                <a:latin typeface="Segoe UI" pitchFamily="34" charset="0"/>
                <a:ea typeface="Segoe UI" pitchFamily="34" charset="-122"/>
                <a:cs typeface="Segoe UI" pitchFamily="34" charset="-120"/>
              </a:rPr>
              <a:t>الخطوات التالية</a:t>
            </a:r>
            <a:endParaRPr lang="en-US" sz="1700" dirty="0"/>
          </a:p>
        </p:txBody>
      </p:sp>
      <p:sp>
        <p:nvSpPr>
          <p:cNvPr id="34" name="Text 32"/>
          <p:cNvSpPr txBox="1"/>
          <p:nvPr/>
        </p:nvSpPr>
        <p:spPr>
          <a:xfrm>
            <a:off x="877824" y="5468112"/>
            <a:ext cx="2881274" cy="512064"/>
          </a:xfrm>
          <a:prstGeom prst="rect">
            <a:avLst/>
          </a:prstGeom>
          <a:noFill/>
          <a:ln/>
        </p:spPr>
        <p:txBody>
          <a:bodyPr wrap="square" lIns="0" tIns="0" rIns="0" bIns="0" rtlCol="0" anchor="t"/>
          <a:lstStyle/>
          <a:p>
            <a:pPr marL="0" indent="0" algn="r" rtl="1">
              <a:lnSpc>
                <a:spcPts val="1800"/>
              </a:lnSpc>
              <a:buNone/>
            </a:pPr>
            <a:r>
              <a:rPr lang="en-US" sz="1250" dirty="0">
                <a:solidFill>
                  <a:srgbClr val="6D6E71"/>
                </a:solidFill>
                <a:latin typeface="Segoe UI" pitchFamily="34" charset="0"/>
                <a:ea typeface="Segoe UI" pitchFamily="34" charset="-122"/>
                <a:cs typeface="Segoe UI" pitchFamily="34" charset="-120"/>
              </a:rPr>
              <a:t>أفضل الممارسات، والأسئلة الشائعة.</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6"/>
        </a:solidFill>
        <a:effectLst/>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t"/>
          <a:lstStyle/>
          <a:p>
            <a:pPr marL="0" indent="0" algn="r" rtl="1">
              <a:buNone/>
            </a:pPr>
            <a:r>
              <a:rPr lang="en-US" sz="1250" b="1" kern="0" spc="100" dirty="0">
                <a:solidFill>
                  <a:srgbClr val="C2151C"/>
                </a:solidFill>
                <a:latin typeface="Segoe UI" pitchFamily="34" charset="0"/>
                <a:ea typeface="Segoe UI" pitchFamily="34" charset="-122"/>
                <a:cs typeface="Segoe UI" pitchFamily="34" charset="-120"/>
              </a:rPr>
              <a:t>لماذا هذا النظام؟</a:t>
            </a:r>
            <a:endParaRPr lang="en-US" sz="1250" dirty="0"/>
          </a:p>
        </p:txBody>
      </p:sp>
      <p:sp>
        <p:nvSpPr>
          <p:cNvPr id="3" name="Text 1"/>
          <p:cNvSpPr txBox="1"/>
          <p:nvPr/>
        </p:nvSpPr>
        <p:spPr>
          <a:xfrm>
            <a:off x="566928" y="713232"/>
            <a:ext cx="11057839" cy="658368"/>
          </a:xfrm>
          <a:prstGeom prst="rect">
            <a:avLst/>
          </a:prstGeom>
          <a:noFill/>
          <a:ln/>
        </p:spPr>
        <p:txBody>
          <a:bodyPr wrap="square" lIns="0" tIns="0" rIns="0" bIns="0" rtlCol="0" anchor="t"/>
          <a:lstStyle/>
          <a:p>
            <a:pPr marL="0" indent="0" algn="r" rtl="1">
              <a:buNone/>
            </a:pPr>
            <a:r>
              <a:rPr lang="en-US" sz="3300" b="1" dirty="0">
                <a:solidFill>
                  <a:srgbClr val="2B2A2C"/>
                </a:solidFill>
                <a:latin typeface="Segoe UI" pitchFamily="34" charset="0"/>
                <a:ea typeface="Segoe UI" pitchFamily="34" charset="-122"/>
                <a:cs typeface="Segoe UI" pitchFamily="34" charset="-120"/>
              </a:rPr>
              <a:t>من ملفات متفرّقة إلى نظام واحد</a:t>
            </a:r>
            <a:endParaRPr lang="en-US" sz="3300" dirty="0"/>
          </a:p>
        </p:txBody>
      </p:sp>
      <p:sp>
        <p:nvSpPr>
          <p:cNvPr id="4" name="Shape 2"/>
          <p:cNvSpPr/>
          <p:nvPr/>
        </p:nvSpPr>
        <p:spPr>
          <a:xfrm>
            <a:off x="6278728" y="1828800"/>
            <a:ext cx="5346040" cy="3218688"/>
          </a:xfrm>
          <a:prstGeom prst="roundRect">
            <a:avLst>
              <a:gd name="adj" fmla="val 2841"/>
            </a:avLst>
          </a:prstGeom>
          <a:solidFill>
            <a:srgbClr val="EEEFF0"/>
          </a:solidFill>
          <a:ln w="9525">
            <a:solidFill>
              <a:srgbClr val="DCDDDE"/>
            </a:solidFill>
            <a:prstDash val="solid"/>
          </a:ln>
          <a:effectLst>
            <a:outerShdw blurRad="101600" dist="38100" dir="5400000" algn="bl" rotWithShape="0">
              <a:srgbClr val="000000">
                <a:alpha val="5000"/>
              </a:srgbClr>
            </a:outerShdw>
          </a:effectLst>
        </p:spPr>
        <p:txBody>
          <a:bodyPr/>
          <a:lstStyle/>
          <a:p>
            <a:endParaRPr lang="en-US"/>
          </a:p>
        </p:txBody>
      </p:sp>
      <p:sp>
        <p:nvSpPr>
          <p:cNvPr id="5" name="Shape 3"/>
          <p:cNvSpPr/>
          <p:nvPr/>
        </p:nvSpPr>
        <p:spPr>
          <a:xfrm>
            <a:off x="10728655" y="2157984"/>
            <a:ext cx="530352" cy="530352"/>
          </a:xfrm>
          <a:prstGeom prst="ellipse">
            <a:avLst/>
          </a:prstGeom>
          <a:solidFill>
            <a:srgbClr val="939598"/>
          </a:solidFill>
          <a:ln w="12700">
            <a:solidFill>
              <a:srgbClr val="93959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861243" y="2290572"/>
            <a:ext cx="265176" cy="265176"/>
          </a:xfrm>
          <a:prstGeom prst="rect">
            <a:avLst/>
          </a:prstGeom>
        </p:spPr>
      </p:pic>
      <p:sp>
        <p:nvSpPr>
          <p:cNvPr id="7" name="Text 4"/>
          <p:cNvSpPr txBox="1"/>
          <p:nvPr/>
        </p:nvSpPr>
        <p:spPr>
          <a:xfrm>
            <a:off x="6644488" y="2231136"/>
            <a:ext cx="3883000" cy="384048"/>
          </a:xfrm>
          <a:prstGeom prst="rect">
            <a:avLst/>
          </a:prstGeom>
          <a:noFill/>
          <a:ln/>
        </p:spPr>
        <p:txBody>
          <a:bodyPr wrap="square" lIns="0" tIns="0" rIns="0" bIns="0" rtlCol="0" anchor="t"/>
          <a:lstStyle/>
          <a:p>
            <a:pPr marL="0" indent="0" algn="r" rtl="1">
              <a:buNone/>
            </a:pPr>
            <a:r>
              <a:rPr lang="en-US" sz="2200" b="1" dirty="0">
                <a:solidFill>
                  <a:srgbClr val="414042"/>
                </a:solidFill>
                <a:latin typeface="Segoe UI" pitchFamily="34" charset="0"/>
                <a:ea typeface="Segoe UI" pitchFamily="34" charset="-122"/>
                <a:cs typeface="Segoe UI" pitchFamily="34" charset="-120"/>
              </a:rPr>
              <a:t>قبل النظام</a:t>
            </a:r>
            <a:endParaRPr lang="en-US" sz="2200" dirty="0"/>
          </a:p>
        </p:txBody>
      </p:sp>
      <p:sp>
        <p:nvSpPr>
          <p:cNvPr id="8" name="Text 5"/>
          <p:cNvSpPr txBox="1"/>
          <p:nvPr/>
        </p:nvSpPr>
        <p:spPr>
          <a:xfrm>
            <a:off x="6644488" y="2962656"/>
            <a:ext cx="4614520" cy="1920240"/>
          </a:xfrm>
          <a:prstGeom prst="rect">
            <a:avLst/>
          </a:prstGeom>
          <a:noFill/>
          <a:ln/>
        </p:spPr>
        <p:txBody>
          <a:bodyPr wrap="square" lIns="0" tIns="0" rIns="0" bIns="0" rtlCol="0" anchor="t"/>
          <a:lstStyle/>
          <a:p>
            <a:pPr marL="177800" indent="-177800" algn="r" rtl="1">
              <a:lnSpc>
                <a:spcPts val="2200"/>
              </a:lnSpc>
              <a:spcAft>
                <a:spcPts val="700"/>
              </a:spcAft>
              <a:buSzPct val="100000"/>
              <a:buChar char="●"/>
            </a:pPr>
            <a:r>
              <a:rPr lang="en-US" sz="1400" dirty="0">
                <a:solidFill>
                  <a:srgbClr val="6D6E71"/>
                </a:solidFill>
                <a:latin typeface="Segoe UI" pitchFamily="34" charset="0"/>
                <a:ea typeface="Segoe UI" pitchFamily="34" charset="-122"/>
                <a:cs typeface="Segoe UI" pitchFamily="34" charset="-120"/>
              </a:rPr>
              <a:t>بيانات الموظفين موزّعة على ملفات Excel كثيرة ومتفرّقة.</a:t>
            </a:r>
            <a:endParaRPr lang="en-US" sz="1400" dirty="0"/>
          </a:p>
          <a:p>
            <a:pPr marL="177800" indent="-177800" algn="r" rtl="1">
              <a:lnSpc>
                <a:spcPts val="2200"/>
              </a:lnSpc>
              <a:spcAft>
                <a:spcPts val="700"/>
              </a:spcAft>
              <a:buSzPct val="100000"/>
              <a:buChar char="●"/>
            </a:pPr>
            <a:r>
              <a:rPr lang="en-US" sz="1400" dirty="0">
                <a:solidFill>
                  <a:srgbClr val="6D6E71"/>
                </a:solidFill>
                <a:latin typeface="Segoe UI" pitchFamily="34" charset="0"/>
                <a:ea typeface="Segoe UI" pitchFamily="34" charset="-122"/>
                <a:cs typeface="Segoe UI" pitchFamily="34" charset="-120"/>
              </a:rPr>
              <a:t>العقود ورقية، ومتابعة تواريخ انتهائها يدوية.</a:t>
            </a:r>
            <a:endParaRPr lang="en-US" sz="1400" dirty="0"/>
          </a:p>
          <a:p>
            <a:pPr marL="177800" indent="-177800" algn="r" rtl="1">
              <a:lnSpc>
                <a:spcPts val="2200"/>
              </a:lnSpc>
              <a:spcAft>
                <a:spcPts val="700"/>
              </a:spcAft>
              <a:buSzPct val="100000"/>
              <a:buChar char="●"/>
            </a:pPr>
            <a:r>
              <a:rPr lang="en-US" sz="1400" dirty="0">
                <a:solidFill>
                  <a:srgbClr val="6D6E71"/>
                </a:solidFill>
                <a:latin typeface="Segoe UI" pitchFamily="34" charset="0"/>
                <a:ea typeface="Segoe UI" pitchFamily="34" charset="-122"/>
                <a:cs typeface="Segoe UI" pitchFamily="34" charset="-120"/>
              </a:rPr>
              <a:t>أرصدة الإجازات تُحتسب يدوياً وتختلف من جدول لآخر.</a:t>
            </a:r>
            <a:endParaRPr lang="en-US" sz="1400" dirty="0"/>
          </a:p>
          <a:p>
            <a:pPr marL="177800" indent="-177800" algn="r" rtl="1">
              <a:lnSpc>
                <a:spcPts val="2200"/>
              </a:lnSpc>
              <a:spcAft>
                <a:spcPts val="700"/>
              </a:spcAft>
              <a:buSzPct val="100000"/>
              <a:buChar char="●"/>
            </a:pPr>
            <a:r>
              <a:rPr lang="en-US" sz="1400" dirty="0">
                <a:solidFill>
                  <a:srgbClr val="6D6E71"/>
                </a:solidFill>
                <a:latin typeface="Segoe UI" pitchFamily="34" charset="0"/>
                <a:ea typeface="Segoe UI" pitchFamily="34" charset="-122"/>
                <a:cs typeface="Segoe UI" pitchFamily="34" charset="-120"/>
              </a:rPr>
              <a:t>لا سجلّ يوضّح من عدّل البيانات ومتى.</a:t>
            </a:r>
            <a:endParaRPr lang="en-US" sz="1400" dirty="0"/>
          </a:p>
          <a:p>
            <a:pPr marL="177800" indent="-177800" algn="r" rtl="1">
              <a:lnSpc>
                <a:spcPts val="2200"/>
              </a:lnSpc>
              <a:spcAft>
                <a:spcPts val="700"/>
              </a:spcAft>
              <a:buSzPct val="100000"/>
              <a:buChar char="●"/>
            </a:pPr>
            <a:r>
              <a:rPr lang="en-US" sz="1400" dirty="0">
                <a:solidFill>
                  <a:srgbClr val="6D6E71"/>
                </a:solidFill>
                <a:latin typeface="Segoe UI" pitchFamily="34" charset="0"/>
                <a:ea typeface="Segoe UI" pitchFamily="34" charset="-122"/>
                <a:cs typeface="Segoe UI" pitchFamily="34" charset="-120"/>
              </a:rPr>
              <a:t>كل محافظة تحتفظ بنسختها الخاصة من المعلومة.</a:t>
            </a:r>
            <a:endParaRPr lang="en-US" sz="1400" dirty="0"/>
          </a:p>
        </p:txBody>
      </p:sp>
      <p:sp>
        <p:nvSpPr>
          <p:cNvPr id="9" name="Shape 6"/>
          <p:cNvSpPr/>
          <p:nvPr/>
        </p:nvSpPr>
        <p:spPr>
          <a:xfrm>
            <a:off x="566928" y="1828800"/>
            <a:ext cx="5346040" cy="3218688"/>
          </a:xfrm>
          <a:prstGeom prst="roundRect">
            <a:avLst>
              <a:gd name="adj" fmla="val 2841"/>
            </a:avLst>
          </a:prstGeom>
          <a:solidFill>
            <a:srgbClr val="FFFFFF"/>
          </a:solidFill>
          <a:ln w="15875">
            <a:solidFill>
              <a:srgbClr val="C2151C"/>
            </a:solidFill>
            <a:prstDash val="solid"/>
          </a:ln>
          <a:effectLst>
            <a:outerShdw blurRad="177800" dist="38100" dir="5400000" algn="bl" rotWithShape="0">
              <a:srgbClr val="000000">
                <a:alpha val="12000"/>
              </a:srgbClr>
            </a:outerShdw>
          </a:effectLst>
        </p:spPr>
        <p:txBody>
          <a:bodyPr/>
          <a:lstStyle/>
          <a:p>
            <a:endParaRPr lang="en-US"/>
          </a:p>
        </p:txBody>
      </p:sp>
      <p:sp>
        <p:nvSpPr>
          <p:cNvPr id="10" name="Shape 7"/>
          <p:cNvSpPr/>
          <p:nvPr/>
        </p:nvSpPr>
        <p:spPr>
          <a:xfrm>
            <a:off x="5016856" y="2157984"/>
            <a:ext cx="530352" cy="530352"/>
          </a:xfrm>
          <a:prstGeom prst="ellipse">
            <a:avLst/>
          </a:prstGeom>
          <a:solidFill>
            <a:srgbClr val="C2151C"/>
          </a:solidFill>
          <a:ln w="12700">
            <a:solidFill>
              <a:srgbClr val="C2151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5149444" y="2290572"/>
            <a:ext cx="265176" cy="265176"/>
          </a:xfrm>
          <a:prstGeom prst="rect">
            <a:avLst/>
          </a:prstGeom>
        </p:spPr>
      </p:pic>
      <p:sp>
        <p:nvSpPr>
          <p:cNvPr id="12" name="Text 8"/>
          <p:cNvSpPr txBox="1"/>
          <p:nvPr/>
        </p:nvSpPr>
        <p:spPr>
          <a:xfrm>
            <a:off x="932688" y="2231136"/>
            <a:ext cx="3883000" cy="384048"/>
          </a:xfrm>
          <a:prstGeom prst="rect">
            <a:avLst/>
          </a:prstGeom>
          <a:noFill/>
          <a:ln/>
        </p:spPr>
        <p:txBody>
          <a:bodyPr wrap="square" lIns="0" tIns="0" rIns="0" bIns="0" rtlCol="0" anchor="t"/>
          <a:lstStyle/>
          <a:p>
            <a:pPr marL="0" indent="0" algn="r" rtl="1">
              <a:buNone/>
            </a:pPr>
            <a:r>
              <a:rPr lang="en-US" sz="2200" b="1" dirty="0">
                <a:solidFill>
                  <a:srgbClr val="C2151C"/>
                </a:solidFill>
                <a:latin typeface="Segoe UI" pitchFamily="34" charset="0"/>
                <a:ea typeface="Segoe UI" pitchFamily="34" charset="-122"/>
                <a:cs typeface="Segoe UI" pitchFamily="34" charset="-120"/>
              </a:rPr>
              <a:t>مع النظام الجديد</a:t>
            </a:r>
            <a:endParaRPr lang="en-US" sz="2200" dirty="0"/>
          </a:p>
        </p:txBody>
      </p:sp>
      <p:sp>
        <p:nvSpPr>
          <p:cNvPr id="13" name="Text 9"/>
          <p:cNvSpPr txBox="1"/>
          <p:nvPr/>
        </p:nvSpPr>
        <p:spPr>
          <a:xfrm>
            <a:off x="932688" y="2962656"/>
            <a:ext cx="4614520" cy="1920240"/>
          </a:xfrm>
          <a:prstGeom prst="rect">
            <a:avLst/>
          </a:prstGeom>
          <a:noFill/>
          <a:ln/>
        </p:spPr>
        <p:txBody>
          <a:bodyPr wrap="square" lIns="0" tIns="0" rIns="0" bIns="0" rtlCol="0" anchor="t"/>
          <a:lstStyle/>
          <a:p>
            <a:pPr marL="177800" indent="-177800" algn="r" rtl="1">
              <a:lnSpc>
                <a:spcPts val="2200"/>
              </a:lnSpc>
              <a:spcAft>
                <a:spcPts val="700"/>
              </a:spcAft>
              <a:buSzPct val="100000"/>
              <a:buChar char="●"/>
            </a:pPr>
            <a:r>
              <a:rPr lang="en-US" sz="1400" dirty="0">
                <a:solidFill>
                  <a:srgbClr val="414042"/>
                </a:solidFill>
                <a:latin typeface="Segoe UI" pitchFamily="34" charset="0"/>
                <a:ea typeface="Segoe UI" pitchFamily="34" charset="-122"/>
                <a:cs typeface="Segoe UI" pitchFamily="34" charset="-120"/>
              </a:rPr>
              <a:t>مصدر واحد للبيانات يستخدمه الجميع في كل المحافظات.</a:t>
            </a:r>
            <a:endParaRPr lang="en-US" sz="1400" dirty="0"/>
          </a:p>
          <a:p>
            <a:pPr marL="177800" indent="-177800" algn="r" rtl="1">
              <a:lnSpc>
                <a:spcPts val="2200"/>
              </a:lnSpc>
              <a:spcAft>
                <a:spcPts val="700"/>
              </a:spcAft>
              <a:buSzPct val="100000"/>
              <a:buChar char="●"/>
            </a:pPr>
            <a:r>
              <a:rPr lang="en-US" sz="1400" dirty="0">
                <a:solidFill>
                  <a:srgbClr val="414042"/>
                </a:solidFill>
                <a:latin typeface="Segoe UI" pitchFamily="34" charset="0"/>
                <a:ea typeface="Segoe UI" pitchFamily="34" charset="-122"/>
                <a:cs typeface="Segoe UI" pitchFamily="34" charset="-120"/>
              </a:rPr>
              <a:t>العقود تُنشأ وتُجدَّد وتُصدَّر بصيغة PDF جاهزة للتوقيع.</a:t>
            </a:r>
            <a:endParaRPr lang="en-US" sz="1400" dirty="0"/>
          </a:p>
          <a:p>
            <a:pPr marL="177800" indent="-177800" algn="r" rtl="1">
              <a:lnSpc>
                <a:spcPts val="2200"/>
              </a:lnSpc>
              <a:spcAft>
                <a:spcPts val="700"/>
              </a:spcAft>
              <a:buSzPct val="100000"/>
              <a:buChar char="●"/>
            </a:pPr>
            <a:r>
              <a:rPr lang="en-US" sz="1400" dirty="0">
                <a:solidFill>
                  <a:srgbClr val="414042"/>
                </a:solidFill>
                <a:latin typeface="Segoe UI" pitchFamily="34" charset="0"/>
                <a:ea typeface="Segoe UI" pitchFamily="34" charset="-122"/>
                <a:cs typeface="Segoe UI" pitchFamily="34" charset="-120"/>
              </a:rPr>
              <a:t>رصيد الإجازة السنوية يُحتسب تلقائياً وفق قواعد معرّفة.</a:t>
            </a:r>
            <a:endParaRPr lang="en-US" sz="1400" dirty="0"/>
          </a:p>
          <a:p>
            <a:pPr marL="177800" indent="-177800" algn="r" rtl="1">
              <a:lnSpc>
                <a:spcPts val="2200"/>
              </a:lnSpc>
              <a:spcAft>
                <a:spcPts val="700"/>
              </a:spcAft>
              <a:buSzPct val="100000"/>
              <a:buChar char="●"/>
            </a:pPr>
            <a:r>
              <a:rPr lang="en-US" sz="1400" dirty="0">
                <a:solidFill>
                  <a:srgbClr val="414042"/>
                </a:solidFill>
                <a:latin typeface="Segoe UI" pitchFamily="34" charset="0"/>
                <a:ea typeface="Segoe UI" pitchFamily="34" charset="-122"/>
                <a:cs typeface="Segoe UI" pitchFamily="34" charset="-120"/>
              </a:rPr>
              <a:t>كل تعديل مسجَّل باسم منفّذه ووقته وقيمته قبل وبعد.</a:t>
            </a:r>
            <a:endParaRPr lang="en-US" sz="1400" dirty="0"/>
          </a:p>
          <a:p>
            <a:pPr marL="177800" indent="-177800" algn="r" rtl="1">
              <a:lnSpc>
                <a:spcPts val="2200"/>
              </a:lnSpc>
              <a:spcAft>
                <a:spcPts val="700"/>
              </a:spcAft>
              <a:buSzPct val="100000"/>
              <a:buChar char="●"/>
            </a:pPr>
            <a:r>
              <a:rPr lang="en-US" sz="1400" dirty="0">
                <a:solidFill>
                  <a:srgbClr val="414042"/>
                </a:solidFill>
                <a:latin typeface="Segoe UI" pitchFamily="34" charset="0"/>
                <a:ea typeface="Segoe UI" pitchFamily="34" charset="-122"/>
                <a:cs typeface="Segoe UI" pitchFamily="34" charset="-120"/>
              </a:rPr>
              <a:t>واجهة عربية كاملة من اليمين إلى اليسار على أي متصفح.</a:t>
            </a:r>
            <a:endParaRPr lang="en-US" sz="1400" dirty="0"/>
          </a:p>
        </p:txBody>
      </p:sp>
      <p:sp>
        <p:nvSpPr>
          <p:cNvPr id="14" name="Shape 10"/>
          <p:cNvSpPr/>
          <p:nvPr/>
        </p:nvSpPr>
        <p:spPr>
          <a:xfrm>
            <a:off x="566928" y="5376672"/>
            <a:ext cx="11057839" cy="1133856"/>
          </a:xfrm>
          <a:prstGeom prst="roundRect">
            <a:avLst>
              <a:gd name="adj" fmla="val 7258"/>
            </a:avLst>
          </a:prstGeom>
          <a:solidFill>
            <a:srgbClr val="2B2A2C"/>
          </a:solidFill>
          <a:ln w="12700">
            <a:solidFill>
              <a:srgbClr val="2B2A2C"/>
            </a:solidFill>
            <a:prstDash val="solid"/>
          </a:ln>
        </p:spPr>
        <p:txBody>
          <a:bodyPr/>
          <a:lstStyle/>
          <a:p>
            <a:endParaRPr lang="en-US"/>
          </a:p>
        </p:txBody>
      </p:sp>
      <p:sp>
        <p:nvSpPr>
          <p:cNvPr id="15" name="Shape 11"/>
          <p:cNvSpPr/>
          <p:nvPr/>
        </p:nvSpPr>
        <p:spPr>
          <a:xfrm>
            <a:off x="10692079" y="5669280"/>
            <a:ext cx="548640" cy="548640"/>
          </a:xfrm>
          <a:prstGeom prst="ellipse">
            <a:avLst/>
          </a:prstGeom>
          <a:solidFill>
            <a:srgbClr val="C2151C"/>
          </a:solidFill>
          <a:ln w="12700">
            <a:solidFill>
              <a:srgbClr val="C2151C"/>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10829239" y="5806440"/>
            <a:ext cx="274320" cy="274320"/>
          </a:xfrm>
          <a:prstGeom prst="rect">
            <a:avLst/>
          </a:prstGeom>
        </p:spPr>
      </p:pic>
      <p:sp>
        <p:nvSpPr>
          <p:cNvPr id="17" name="Text 12"/>
          <p:cNvSpPr txBox="1"/>
          <p:nvPr/>
        </p:nvSpPr>
        <p:spPr>
          <a:xfrm>
            <a:off x="950976" y="5614416"/>
            <a:ext cx="9457639" cy="310896"/>
          </a:xfrm>
          <a:prstGeom prst="rect">
            <a:avLst/>
          </a:prstGeom>
          <a:noFill/>
          <a:ln/>
        </p:spPr>
        <p:txBody>
          <a:bodyPr wrap="square" lIns="0" tIns="0" rIns="0" bIns="0" rtlCol="0" anchor="t"/>
          <a:lstStyle/>
          <a:p>
            <a:pPr marL="0" indent="0" algn="r" rtl="1">
              <a:buNone/>
            </a:pPr>
            <a:r>
              <a:rPr lang="en-US" sz="1600" b="1" dirty="0">
                <a:solidFill>
                  <a:srgbClr val="FFFFFF"/>
                </a:solidFill>
                <a:latin typeface="Segoe UI" pitchFamily="34" charset="0"/>
                <a:ea typeface="Segoe UI" pitchFamily="34" charset="-122"/>
                <a:cs typeface="Segoe UI" pitchFamily="34" charset="-120"/>
              </a:rPr>
              <a:t>النتيجة العملية</a:t>
            </a:r>
            <a:endParaRPr lang="en-US" sz="1600" dirty="0"/>
          </a:p>
        </p:txBody>
      </p:sp>
      <p:sp>
        <p:nvSpPr>
          <p:cNvPr id="18" name="Text 13"/>
          <p:cNvSpPr txBox="1"/>
          <p:nvPr/>
        </p:nvSpPr>
        <p:spPr>
          <a:xfrm>
            <a:off x="950976" y="5961888"/>
            <a:ext cx="9457639" cy="438912"/>
          </a:xfrm>
          <a:prstGeom prst="rect">
            <a:avLst/>
          </a:prstGeom>
          <a:noFill/>
          <a:ln/>
        </p:spPr>
        <p:txBody>
          <a:bodyPr wrap="square" lIns="0" tIns="0" rIns="0" bIns="0" rtlCol="0" anchor="t"/>
          <a:lstStyle/>
          <a:p>
            <a:pPr marL="0" indent="0" algn="r" rtl="1">
              <a:lnSpc>
                <a:spcPts val="1900"/>
              </a:lnSpc>
              <a:buNone/>
            </a:pPr>
            <a:r>
              <a:rPr lang="en-US" sz="1300" dirty="0">
                <a:solidFill>
                  <a:srgbClr val="DCDDDE"/>
                </a:solidFill>
                <a:latin typeface="Segoe UI" pitchFamily="34" charset="0"/>
                <a:ea typeface="Segoe UI" pitchFamily="34" charset="-122"/>
                <a:cs typeface="Segoe UI" pitchFamily="34" charset="-120"/>
              </a:rPr>
              <a:t>بيانات الموارد البشرية في كل المحافظات تُدار من مكان واحد، بقواعد موحّدة وسجلّ كامل لكل تغيير. الوقت الذي كان يذهب في تجميع الملفات ومطابقتها يعود إلى العمل نفسه.</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6"/>
        </a:solidFill>
        <a:effectLst/>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t"/>
          <a:lstStyle/>
          <a:p>
            <a:pPr marL="0" indent="0" algn="r" rtl="1">
              <a:buNone/>
            </a:pPr>
            <a:r>
              <a:rPr lang="en-US" sz="1250" b="1" kern="0" spc="100" dirty="0">
                <a:solidFill>
                  <a:srgbClr val="C2151C"/>
                </a:solidFill>
                <a:latin typeface="Segoe UI" pitchFamily="34" charset="0"/>
                <a:ea typeface="Segoe UI" pitchFamily="34" charset="-122"/>
                <a:cs typeface="Segoe UI" pitchFamily="34" charset="-120"/>
              </a:rPr>
              <a:t>المزايا</a:t>
            </a:r>
            <a:endParaRPr lang="en-US" sz="1250" dirty="0"/>
          </a:p>
        </p:txBody>
      </p:sp>
      <p:sp>
        <p:nvSpPr>
          <p:cNvPr id="3" name="Text 1"/>
          <p:cNvSpPr txBox="1"/>
          <p:nvPr/>
        </p:nvSpPr>
        <p:spPr>
          <a:xfrm>
            <a:off x="566928" y="713232"/>
            <a:ext cx="11057839" cy="658368"/>
          </a:xfrm>
          <a:prstGeom prst="rect">
            <a:avLst/>
          </a:prstGeom>
          <a:noFill/>
          <a:ln/>
        </p:spPr>
        <p:txBody>
          <a:bodyPr wrap="square" lIns="0" tIns="0" rIns="0" bIns="0" rtlCol="0" anchor="t"/>
          <a:lstStyle/>
          <a:p>
            <a:pPr marL="0" indent="0" algn="r" rtl="1">
              <a:buNone/>
            </a:pPr>
            <a:r>
              <a:rPr lang="en-US" sz="3300" b="1" dirty="0">
                <a:solidFill>
                  <a:srgbClr val="2B2A2C"/>
                </a:solidFill>
                <a:latin typeface="Segoe UI" pitchFamily="34" charset="0"/>
                <a:ea typeface="Segoe UI" pitchFamily="34" charset="-122"/>
                <a:cs typeface="Segoe UI" pitchFamily="34" charset="-120"/>
              </a:rPr>
              <a:t>ستّ مكاسب مباشرة لفريق الموارد البشرية</a:t>
            </a:r>
            <a:endParaRPr lang="en-US" sz="3300" dirty="0"/>
          </a:p>
        </p:txBody>
      </p:sp>
      <p:sp>
        <p:nvSpPr>
          <p:cNvPr id="4" name="Shape 2"/>
          <p:cNvSpPr/>
          <p:nvPr/>
        </p:nvSpPr>
        <p:spPr>
          <a:xfrm>
            <a:off x="8121701" y="1810512"/>
            <a:ext cx="3503066" cy="2011680"/>
          </a:xfrm>
          <a:prstGeom prst="roundRect">
            <a:avLst>
              <a:gd name="adj" fmla="val 4545"/>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5" name="Shape 3"/>
          <p:cNvSpPr/>
          <p:nvPr/>
        </p:nvSpPr>
        <p:spPr>
          <a:xfrm>
            <a:off x="10728655" y="2103120"/>
            <a:ext cx="585216" cy="585216"/>
          </a:xfrm>
          <a:prstGeom prst="ellipse">
            <a:avLst/>
          </a:prstGeom>
          <a:solidFill>
            <a:srgbClr val="C2151C"/>
          </a:solidFill>
          <a:ln w="12700">
            <a:solidFill>
              <a:srgbClr val="C2151C"/>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874959" y="2249424"/>
            <a:ext cx="292608" cy="292608"/>
          </a:xfrm>
          <a:prstGeom prst="rect">
            <a:avLst/>
          </a:prstGeom>
        </p:spPr>
      </p:pic>
      <p:sp>
        <p:nvSpPr>
          <p:cNvPr id="7" name="Text 4"/>
          <p:cNvSpPr txBox="1"/>
          <p:nvPr/>
        </p:nvSpPr>
        <p:spPr>
          <a:xfrm>
            <a:off x="8432597" y="2816352"/>
            <a:ext cx="2881274" cy="329184"/>
          </a:xfrm>
          <a:prstGeom prst="rect">
            <a:avLst/>
          </a:prstGeom>
          <a:noFill/>
          <a:ln/>
        </p:spPr>
        <p:txBody>
          <a:bodyPr wrap="square" lIns="0" tIns="0" rIns="0" bIns="0" rtlCol="0" anchor="t"/>
          <a:lstStyle/>
          <a:p>
            <a:pPr marL="0" indent="0" algn="r" rtl="1">
              <a:buNone/>
            </a:pPr>
            <a:r>
              <a:rPr lang="en-US" sz="1650" b="1" dirty="0">
                <a:solidFill>
                  <a:srgbClr val="2B2A2C"/>
                </a:solidFill>
                <a:latin typeface="Segoe UI" pitchFamily="34" charset="0"/>
                <a:ea typeface="Segoe UI" pitchFamily="34" charset="-122"/>
                <a:cs typeface="Segoe UI" pitchFamily="34" charset="-120"/>
              </a:rPr>
              <a:t>مصدر واحد للبيانات</a:t>
            </a:r>
            <a:endParaRPr lang="en-US" sz="1650" dirty="0"/>
          </a:p>
        </p:txBody>
      </p:sp>
      <p:sp>
        <p:nvSpPr>
          <p:cNvPr id="8" name="Text 5"/>
          <p:cNvSpPr txBox="1"/>
          <p:nvPr/>
        </p:nvSpPr>
        <p:spPr>
          <a:xfrm>
            <a:off x="8432597" y="3182112"/>
            <a:ext cx="2881274" cy="548640"/>
          </a:xfrm>
          <a:prstGeom prst="rect">
            <a:avLst/>
          </a:prstGeom>
          <a:noFill/>
          <a:ln/>
        </p:spPr>
        <p:txBody>
          <a:bodyPr wrap="square" lIns="0" tIns="0" rIns="0" bIns="0" rtlCol="0" anchor="t"/>
          <a:lstStyle/>
          <a:p>
            <a:pPr marL="0" indent="0" algn="r" rtl="1">
              <a:lnSpc>
                <a:spcPts val="1800"/>
              </a:lnSpc>
              <a:buNone/>
            </a:pPr>
            <a:r>
              <a:rPr lang="en-US" sz="1250" dirty="0">
                <a:solidFill>
                  <a:srgbClr val="6D6E71"/>
                </a:solidFill>
                <a:latin typeface="Segoe UI" pitchFamily="34" charset="0"/>
                <a:ea typeface="Segoe UI" pitchFamily="34" charset="-122"/>
                <a:cs typeface="Segoe UI" pitchFamily="34" charset="-120"/>
              </a:rPr>
              <a:t>ملف الموظف وعقوده وإجازاته ومستنداته في سجلّ واحد مترابط.</a:t>
            </a:r>
            <a:endParaRPr lang="en-US" sz="1250" dirty="0"/>
          </a:p>
        </p:txBody>
      </p:sp>
      <p:sp>
        <p:nvSpPr>
          <p:cNvPr id="9" name="Shape 6"/>
          <p:cNvSpPr/>
          <p:nvPr/>
        </p:nvSpPr>
        <p:spPr>
          <a:xfrm>
            <a:off x="4344314" y="1810512"/>
            <a:ext cx="3503066" cy="2011680"/>
          </a:xfrm>
          <a:prstGeom prst="roundRect">
            <a:avLst>
              <a:gd name="adj" fmla="val 4545"/>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10" name="Shape 7"/>
          <p:cNvSpPr/>
          <p:nvPr/>
        </p:nvSpPr>
        <p:spPr>
          <a:xfrm>
            <a:off x="6951269" y="2103120"/>
            <a:ext cx="585216" cy="585216"/>
          </a:xfrm>
          <a:prstGeom prst="ellipse">
            <a:avLst/>
          </a:prstGeom>
          <a:solidFill>
            <a:srgbClr val="C2151C"/>
          </a:solidFill>
          <a:ln w="12700">
            <a:solidFill>
              <a:srgbClr val="C2151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7097573" y="2249424"/>
            <a:ext cx="292608" cy="292608"/>
          </a:xfrm>
          <a:prstGeom prst="rect">
            <a:avLst/>
          </a:prstGeom>
        </p:spPr>
      </p:pic>
      <p:sp>
        <p:nvSpPr>
          <p:cNvPr id="12" name="Text 8"/>
          <p:cNvSpPr txBox="1"/>
          <p:nvPr/>
        </p:nvSpPr>
        <p:spPr>
          <a:xfrm>
            <a:off x="4655210" y="2816352"/>
            <a:ext cx="2881274" cy="329184"/>
          </a:xfrm>
          <a:prstGeom prst="rect">
            <a:avLst/>
          </a:prstGeom>
          <a:noFill/>
          <a:ln/>
        </p:spPr>
        <p:txBody>
          <a:bodyPr wrap="square" lIns="0" tIns="0" rIns="0" bIns="0" rtlCol="0" anchor="t"/>
          <a:lstStyle/>
          <a:p>
            <a:pPr marL="0" indent="0" algn="r" rtl="1">
              <a:buNone/>
            </a:pPr>
            <a:r>
              <a:rPr lang="en-US" sz="1650" b="1" dirty="0">
                <a:solidFill>
                  <a:srgbClr val="2B2A2C"/>
                </a:solidFill>
                <a:latin typeface="Segoe UI" pitchFamily="34" charset="0"/>
                <a:ea typeface="Segoe UI" pitchFamily="34" charset="-122"/>
                <a:cs typeface="Segoe UI" pitchFamily="34" charset="-120"/>
              </a:rPr>
              <a:t>صلاحيات دقيقة</a:t>
            </a:r>
            <a:endParaRPr lang="en-US" sz="1650" dirty="0"/>
          </a:p>
        </p:txBody>
      </p:sp>
      <p:sp>
        <p:nvSpPr>
          <p:cNvPr id="13" name="Text 9"/>
          <p:cNvSpPr txBox="1"/>
          <p:nvPr/>
        </p:nvSpPr>
        <p:spPr>
          <a:xfrm>
            <a:off x="4655210" y="3182112"/>
            <a:ext cx="2881274" cy="548640"/>
          </a:xfrm>
          <a:prstGeom prst="rect">
            <a:avLst/>
          </a:prstGeom>
          <a:noFill/>
          <a:ln/>
        </p:spPr>
        <p:txBody>
          <a:bodyPr wrap="square" lIns="0" tIns="0" rIns="0" bIns="0" rtlCol="0" anchor="t"/>
          <a:lstStyle/>
          <a:p>
            <a:pPr marL="0" indent="0" algn="r" rtl="1">
              <a:lnSpc>
                <a:spcPts val="1800"/>
              </a:lnSpc>
              <a:buNone/>
            </a:pPr>
            <a:r>
              <a:rPr lang="en-US" sz="1250" dirty="0">
                <a:solidFill>
                  <a:srgbClr val="6D6E71"/>
                </a:solidFill>
                <a:latin typeface="Segoe UI" pitchFamily="34" charset="0"/>
                <a:ea typeface="Segoe UI" pitchFamily="34" charset="-122"/>
                <a:cs typeface="Segoe UI" pitchFamily="34" charset="-120"/>
              </a:rPr>
              <a:t>كل مستخدم يرى ما يخصّ دوره ومحافظته فقط، لا أكثر.</a:t>
            </a:r>
            <a:endParaRPr lang="en-US" sz="1250" dirty="0"/>
          </a:p>
        </p:txBody>
      </p:sp>
      <p:sp>
        <p:nvSpPr>
          <p:cNvPr id="14" name="Shape 10"/>
          <p:cNvSpPr/>
          <p:nvPr/>
        </p:nvSpPr>
        <p:spPr>
          <a:xfrm>
            <a:off x="566928" y="1810512"/>
            <a:ext cx="3503066" cy="2011680"/>
          </a:xfrm>
          <a:prstGeom prst="roundRect">
            <a:avLst>
              <a:gd name="adj" fmla="val 4545"/>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15" name="Shape 11"/>
          <p:cNvSpPr/>
          <p:nvPr/>
        </p:nvSpPr>
        <p:spPr>
          <a:xfrm>
            <a:off x="3173882" y="2103120"/>
            <a:ext cx="585216" cy="585216"/>
          </a:xfrm>
          <a:prstGeom prst="ellipse">
            <a:avLst/>
          </a:prstGeom>
          <a:solidFill>
            <a:srgbClr val="C2151C"/>
          </a:solidFill>
          <a:ln w="12700">
            <a:solidFill>
              <a:srgbClr val="C2151C"/>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3320186" y="2249424"/>
            <a:ext cx="292608" cy="292608"/>
          </a:xfrm>
          <a:prstGeom prst="rect">
            <a:avLst/>
          </a:prstGeom>
        </p:spPr>
      </p:pic>
      <p:sp>
        <p:nvSpPr>
          <p:cNvPr id="17" name="Text 12"/>
          <p:cNvSpPr txBox="1"/>
          <p:nvPr/>
        </p:nvSpPr>
        <p:spPr>
          <a:xfrm>
            <a:off x="877824" y="2816352"/>
            <a:ext cx="2881274" cy="329184"/>
          </a:xfrm>
          <a:prstGeom prst="rect">
            <a:avLst/>
          </a:prstGeom>
          <a:noFill/>
          <a:ln/>
        </p:spPr>
        <p:txBody>
          <a:bodyPr wrap="square" lIns="0" tIns="0" rIns="0" bIns="0" rtlCol="0" anchor="t"/>
          <a:lstStyle/>
          <a:p>
            <a:pPr marL="0" indent="0" algn="r" rtl="1">
              <a:buNone/>
            </a:pPr>
            <a:r>
              <a:rPr lang="en-US" sz="1650" b="1" dirty="0">
                <a:solidFill>
                  <a:srgbClr val="2B2A2C"/>
                </a:solidFill>
                <a:latin typeface="Segoe UI" pitchFamily="34" charset="0"/>
                <a:ea typeface="Segoe UI" pitchFamily="34" charset="-122"/>
                <a:cs typeface="Segoe UI" pitchFamily="34" charset="-120"/>
              </a:rPr>
              <a:t>أتمتة الحسابات</a:t>
            </a:r>
            <a:endParaRPr lang="en-US" sz="1650" dirty="0"/>
          </a:p>
        </p:txBody>
      </p:sp>
      <p:sp>
        <p:nvSpPr>
          <p:cNvPr id="18" name="Text 13"/>
          <p:cNvSpPr txBox="1"/>
          <p:nvPr/>
        </p:nvSpPr>
        <p:spPr>
          <a:xfrm>
            <a:off x="877824" y="3182112"/>
            <a:ext cx="2881274" cy="548640"/>
          </a:xfrm>
          <a:prstGeom prst="rect">
            <a:avLst/>
          </a:prstGeom>
          <a:noFill/>
          <a:ln/>
        </p:spPr>
        <p:txBody>
          <a:bodyPr wrap="square" lIns="0" tIns="0" rIns="0" bIns="0" rtlCol="0" anchor="t"/>
          <a:lstStyle/>
          <a:p>
            <a:pPr marL="0" indent="0" algn="r" rtl="1">
              <a:lnSpc>
                <a:spcPts val="1800"/>
              </a:lnSpc>
              <a:buNone/>
            </a:pPr>
            <a:r>
              <a:rPr lang="en-US" sz="1250" dirty="0">
                <a:solidFill>
                  <a:srgbClr val="6D6E71"/>
                </a:solidFill>
                <a:latin typeface="Segoe UI" pitchFamily="34" charset="0"/>
                <a:ea typeface="Segoe UI" pitchFamily="34" charset="-122"/>
                <a:cs typeface="Segoe UI" pitchFamily="34" charset="-120"/>
              </a:rPr>
              <a:t>أرصدة الإجازات وسعة المناصب وحالة العقود تتحدّث من تلقائها.</a:t>
            </a:r>
            <a:endParaRPr lang="en-US" sz="1250" dirty="0"/>
          </a:p>
        </p:txBody>
      </p:sp>
      <p:sp>
        <p:nvSpPr>
          <p:cNvPr id="19" name="Shape 14"/>
          <p:cNvSpPr/>
          <p:nvPr/>
        </p:nvSpPr>
        <p:spPr>
          <a:xfrm>
            <a:off x="8121701" y="4096512"/>
            <a:ext cx="3503066" cy="2011680"/>
          </a:xfrm>
          <a:prstGeom prst="roundRect">
            <a:avLst>
              <a:gd name="adj" fmla="val 4545"/>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20" name="Shape 15"/>
          <p:cNvSpPr/>
          <p:nvPr/>
        </p:nvSpPr>
        <p:spPr>
          <a:xfrm>
            <a:off x="10728655" y="4389120"/>
            <a:ext cx="585216" cy="585216"/>
          </a:xfrm>
          <a:prstGeom prst="ellipse">
            <a:avLst/>
          </a:prstGeom>
          <a:solidFill>
            <a:srgbClr val="C2151C"/>
          </a:solidFill>
          <a:ln w="12700">
            <a:solidFill>
              <a:srgbClr val="C2151C"/>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10874959" y="4535424"/>
            <a:ext cx="292608" cy="292608"/>
          </a:xfrm>
          <a:prstGeom prst="rect">
            <a:avLst/>
          </a:prstGeom>
        </p:spPr>
      </p:pic>
      <p:sp>
        <p:nvSpPr>
          <p:cNvPr id="22" name="Text 16"/>
          <p:cNvSpPr txBox="1"/>
          <p:nvPr/>
        </p:nvSpPr>
        <p:spPr>
          <a:xfrm>
            <a:off x="8432597" y="5102352"/>
            <a:ext cx="2881274" cy="329184"/>
          </a:xfrm>
          <a:prstGeom prst="rect">
            <a:avLst/>
          </a:prstGeom>
          <a:noFill/>
          <a:ln/>
        </p:spPr>
        <p:txBody>
          <a:bodyPr wrap="square" lIns="0" tIns="0" rIns="0" bIns="0" rtlCol="0" anchor="t"/>
          <a:lstStyle/>
          <a:p>
            <a:pPr marL="0" indent="0" algn="r" rtl="1">
              <a:buNone/>
            </a:pPr>
            <a:r>
              <a:rPr lang="en-US" sz="1650" b="1" dirty="0">
                <a:solidFill>
                  <a:srgbClr val="2B2A2C"/>
                </a:solidFill>
                <a:latin typeface="Segoe UI" pitchFamily="34" charset="0"/>
                <a:ea typeface="Segoe UI" pitchFamily="34" charset="-122"/>
                <a:cs typeface="Segoe UI" pitchFamily="34" charset="-120"/>
              </a:rPr>
              <a:t>أثر كامل للتغييرات</a:t>
            </a:r>
            <a:endParaRPr lang="en-US" sz="1650" dirty="0"/>
          </a:p>
        </p:txBody>
      </p:sp>
      <p:sp>
        <p:nvSpPr>
          <p:cNvPr id="23" name="Text 17"/>
          <p:cNvSpPr txBox="1"/>
          <p:nvPr/>
        </p:nvSpPr>
        <p:spPr>
          <a:xfrm>
            <a:off x="8432597" y="5468112"/>
            <a:ext cx="2881274" cy="548640"/>
          </a:xfrm>
          <a:prstGeom prst="rect">
            <a:avLst/>
          </a:prstGeom>
          <a:noFill/>
          <a:ln/>
        </p:spPr>
        <p:txBody>
          <a:bodyPr wrap="square" lIns="0" tIns="0" rIns="0" bIns="0" rtlCol="0" anchor="t"/>
          <a:lstStyle/>
          <a:p>
            <a:pPr marL="0" indent="0" algn="r" rtl="1">
              <a:lnSpc>
                <a:spcPts val="1800"/>
              </a:lnSpc>
              <a:buNone/>
            </a:pPr>
            <a:r>
              <a:rPr lang="en-US" sz="1250" dirty="0">
                <a:solidFill>
                  <a:srgbClr val="6D6E71"/>
                </a:solidFill>
                <a:latin typeface="Segoe UI" pitchFamily="34" charset="0"/>
                <a:ea typeface="Segoe UI" pitchFamily="34" charset="-122"/>
                <a:cs typeface="Segoe UI" pitchFamily="34" charset="-120"/>
              </a:rPr>
              <a:t>سجلّ أنشطة يوضّح من غيّر أي حقل ومتى وما القيمة السابقة.</a:t>
            </a:r>
            <a:endParaRPr lang="en-US" sz="1250" dirty="0"/>
          </a:p>
        </p:txBody>
      </p:sp>
      <p:sp>
        <p:nvSpPr>
          <p:cNvPr id="24" name="Shape 18"/>
          <p:cNvSpPr/>
          <p:nvPr/>
        </p:nvSpPr>
        <p:spPr>
          <a:xfrm>
            <a:off x="4344314" y="4096512"/>
            <a:ext cx="3503066" cy="2011680"/>
          </a:xfrm>
          <a:prstGeom prst="roundRect">
            <a:avLst>
              <a:gd name="adj" fmla="val 4545"/>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25" name="Shape 19"/>
          <p:cNvSpPr/>
          <p:nvPr/>
        </p:nvSpPr>
        <p:spPr>
          <a:xfrm>
            <a:off x="6951269" y="4389120"/>
            <a:ext cx="585216" cy="585216"/>
          </a:xfrm>
          <a:prstGeom prst="ellipse">
            <a:avLst/>
          </a:prstGeom>
          <a:solidFill>
            <a:srgbClr val="C2151C"/>
          </a:solidFill>
          <a:ln w="12700">
            <a:solidFill>
              <a:srgbClr val="C2151C"/>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7097573" y="4535424"/>
            <a:ext cx="292608" cy="292608"/>
          </a:xfrm>
          <a:prstGeom prst="rect">
            <a:avLst/>
          </a:prstGeom>
        </p:spPr>
      </p:pic>
      <p:sp>
        <p:nvSpPr>
          <p:cNvPr id="27" name="Text 20"/>
          <p:cNvSpPr txBox="1"/>
          <p:nvPr/>
        </p:nvSpPr>
        <p:spPr>
          <a:xfrm>
            <a:off x="4655210" y="5102352"/>
            <a:ext cx="2881274" cy="329184"/>
          </a:xfrm>
          <a:prstGeom prst="rect">
            <a:avLst/>
          </a:prstGeom>
          <a:noFill/>
          <a:ln/>
        </p:spPr>
        <p:txBody>
          <a:bodyPr wrap="square" lIns="0" tIns="0" rIns="0" bIns="0" rtlCol="0" anchor="t"/>
          <a:lstStyle/>
          <a:p>
            <a:pPr marL="0" indent="0" algn="r" rtl="1">
              <a:buNone/>
            </a:pPr>
            <a:r>
              <a:rPr lang="en-US" sz="1650" b="1" dirty="0">
                <a:solidFill>
                  <a:srgbClr val="2B2A2C"/>
                </a:solidFill>
                <a:latin typeface="Segoe UI" pitchFamily="34" charset="0"/>
                <a:ea typeface="Segoe UI" pitchFamily="34" charset="-122"/>
                <a:cs typeface="Segoe UI" pitchFamily="34" charset="-120"/>
              </a:rPr>
              <a:t>تقارير جاهزة للتصدير</a:t>
            </a:r>
            <a:endParaRPr lang="en-US" sz="1650" dirty="0"/>
          </a:p>
        </p:txBody>
      </p:sp>
      <p:sp>
        <p:nvSpPr>
          <p:cNvPr id="28" name="Text 21"/>
          <p:cNvSpPr txBox="1"/>
          <p:nvPr/>
        </p:nvSpPr>
        <p:spPr>
          <a:xfrm>
            <a:off x="4655210" y="5468112"/>
            <a:ext cx="2881274" cy="548640"/>
          </a:xfrm>
          <a:prstGeom prst="rect">
            <a:avLst/>
          </a:prstGeom>
          <a:noFill/>
          <a:ln/>
        </p:spPr>
        <p:txBody>
          <a:bodyPr wrap="square" lIns="0" tIns="0" rIns="0" bIns="0" rtlCol="0" anchor="t"/>
          <a:lstStyle/>
          <a:p>
            <a:pPr marL="0" indent="0" algn="r" rtl="1">
              <a:lnSpc>
                <a:spcPts val="1800"/>
              </a:lnSpc>
              <a:buNone/>
            </a:pPr>
            <a:r>
              <a:rPr lang="en-US" sz="1250" dirty="0">
                <a:solidFill>
                  <a:srgbClr val="6D6E71"/>
                </a:solidFill>
                <a:latin typeface="Segoe UI" pitchFamily="34" charset="0"/>
                <a:ea typeface="Segoe UI" pitchFamily="34" charset="-122"/>
                <a:cs typeface="Segoe UI" pitchFamily="34" charset="-120"/>
              </a:rPr>
              <a:t>إحصائيات فورية مع تصدير مباشر بصيغ Excel / PDF / CSV</a:t>
            </a:r>
            <a:endParaRPr lang="en-US" sz="1250" dirty="0"/>
          </a:p>
        </p:txBody>
      </p:sp>
      <p:sp>
        <p:nvSpPr>
          <p:cNvPr id="29" name="Shape 22"/>
          <p:cNvSpPr/>
          <p:nvPr/>
        </p:nvSpPr>
        <p:spPr>
          <a:xfrm>
            <a:off x="566928" y="4096512"/>
            <a:ext cx="3503066" cy="2011680"/>
          </a:xfrm>
          <a:prstGeom prst="roundRect">
            <a:avLst>
              <a:gd name="adj" fmla="val 4545"/>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30" name="Shape 23"/>
          <p:cNvSpPr/>
          <p:nvPr/>
        </p:nvSpPr>
        <p:spPr>
          <a:xfrm>
            <a:off x="3173882" y="4389120"/>
            <a:ext cx="585216" cy="585216"/>
          </a:xfrm>
          <a:prstGeom prst="ellipse">
            <a:avLst/>
          </a:prstGeom>
          <a:solidFill>
            <a:srgbClr val="C2151C"/>
          </a:solidFill>
          <a:ln w="12700">
            <a:solidFill>
              <a:srgbClr val="C2151C"/>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3320186" y="4535424"/>
            <a:ext cx="292608" cy="292608"/>
          </a:xfrm>
          <a:prstGeom prst="rect">
            <a:avLst/>
          </a:prstGeom>
        </p:spPr>
      </p:pic>
      <p:sp>
        <p:nvSpPr>
          <p:cNvPr id="32" name="Text 24"/>
          <p:cNvSpPr txBox="1"/>
          <p:nvPr/>
        </p:nvSpPr>
        <p:spPr>
          <a:xfrm>
            <a:off x="877824" y="5102352"/>
            <a:ext cx="2881274" cy="329184"/>
          </a:xfrm>
          <a:prstGeom prst="rect">
            <a:avLst/>
          </a:prstGeom>
          <a:noFill/>
          <a:ln/>
        </p:spPr>
        <p:txBody>
          <a:bodyPr wrap="square" lIns="0" tIns="0" rIns="0" bIns="0" rtlCol="0" anchor="t"/>
          <a:lstStyle/>
          <a:p>
            <a:pPr marL="0" indent="0" algn="r" rtl="1">
              <a:buNone/>
            </a:pPr>
            <a:r>
              <a:rPr lang="en-US" sz="1650" b="1" dirty="0">
                <a:solidFill>
                  <a:srgbClr val="2B2A2C"/>
                </a:solidFill>
                <a:latin typeface="Segoe UI" pitchFamily="34" charset="0"/>
                <a:ea typeface="Segoe UI" pitchFamily="34" charset="-122"/>
                <a:cs typeface="Segoe UI" pitchFamily="34" charset="-120"/>
              </a:rPr>
              <a:t>عربي وإنجليزي</a:t>
            </a:r>
            <a:endParaRPr lang="en-US" sz="1650" dirty="0"/>
          </a:p>
        </p:txBody>
      </p:sp>
      <p:sp>
        <p:nvSpPr>
          <p:cNvPr id="33" name="Text 25"/>
          <p:cNvSpPr txBox="1"/>
          <p:nvPr/>
        </p:nvSpPr>
        <p:spPr>
          <a:xfrm>
            <a:off x="877824" y="5468112"/>
            <a:ext cx="2881274" cy="548640"/>
          </a:xfrm>
          <a:prstGeom prst="rect">
            <a:avLst/>
          </a:prstGeom>
          <a:noFill/>
          <a:ln/>
        </p:spPr>
        <p:txBody>
          <a:bodyPr wrap="square" lIns="0" tIns="0" rIns="0" bIns="0" rtlCol="0" anchor="t"/>
          <a:lstStyle/>
          <a:p>
            <a:pPr marL="0" indent="0" algn="r" rtl="1">
              <a:lnSpc>
                <a:spcPts val="1800"/>
              </a:lnSpc>
              <a:buNone/>
            </a:pPr>
            <a:r>
              <a:rPr lang="en-US" sz="1250" dirty="0">
                <a:solidFill>
                  <a:srgbClr val="6D6E71"/>
                </a:solidFill>
                <a:latin typeface="Segoe UI" pitchFamily="34" charset="0"/>
                <a:ea typeface="Segoe UI" pitchFamily="34" charset="-122"/>
                <a:cs typeface="Segoe UI" pitchFamily="34" charset="-120"/>
              </a:rPr>
              <a:t>تبديل اللغة من رابط الصفحة، مع دعم كامل للاتجاه من اليمين لليسار.</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6"/>
        </a:solidFill>
        <a:effectLst/>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t"/>
          <a:lstStyle/>
          <a:p>
            <a:pPr marL="0" indent="0" algn="r" rtl="1">
              <a:buNone/>
            </a:pPr>
            <a:r>
              <a:rPr lang="en-US" sz="1250" b="1" kern="0" spc="100" dirty="0">
                <a:solidFill>
                  <a:srgbClr val="C2151C"/>
                </a:solidFill>
                <a:latin typeface="Segoe UI" pitchFamily="34" charset="0"/>
                <a:ea typeface="Segoe UI" pitchFamily="34" charset="-122"/>
                <a:cs typeface="Segoe UI" pitchFamily="34" charset="-120"/>
              </a:rPr>
              <a:t>خريطة النظام</a:t>
            </a:r>
            <a:endParaRPr lang="en-US" sz="1250" dirty="0"/>
          </a:p>
        </p:txBody>
      </p:sp>
      <p:sp>
        <p:nvSpPr>
          <p:cNvPr id="3" name="Text 1"/>
          <p:cNvSpPr txBox="1"/>
          <p:nvPr/>
        </p:nvSpPr>
        <p:spPr>
          <a:xfrm>
            <a:off x="566928" y="713232"/>
            <a:ext cx="11057839" cy="658368"/>
          </a:xfrm>
          <a:prstGeom prst="rect">
            <a:avLst/>
          </a:prstGeom>
          <a:noFill/>
          <a:ln/>
        </p:spPr>
        <p:txBody>
          <a:bodyPr wrap="square" lIns="0" tIns="0" rIns="0" bIns="0" rtlCol="0" anchor="t"/>
          <a:lstStyle/>
          <a:p>
            <a:pPr marL="0" indent="0" algn="r" rtl="1">
              <a:buNone/>
            </a:pPr>
            <a:r>
              <a:rPr lang="en-US" sz="3300" b="1" dirty="0">
                <a:solidFill>
                  <a:srgbClr val="2B2A2C"/>
                </a:solidFill>
                <a:latin typeface="Segoe UI" pitchFamily="34" charset="0"/>
                <a:ea typeface="Segoe UI" pitchFamily="34" charset="-122"/>
                <a:cs typeface="Segoe UI" pitchFamily="34" charset="-120"/>
              </a:rPr>
              <a:t>وحدات النظام الثماني</a:t>
            </a:r>
            <a:endParaRPr lang="en-US" sz="3300" dirty="0"/>
          </a:p>
        </p:txBody>
      </p:sp>
      <p:sp>
        <p:nvSpPr>
          <p:cNvPr id="4" name="Text 2"/>
          <p:cNvSpPr txBox="1"/>
          <p:nvPr/>
        </p:nvSpPr>
        <p:spPr>
          <a:xfrm>
            <a:off x="566928" y="1389888"/>
            <a:ext cx="11057839" cy="310896"/>
          </a:xfrm>
          <a:prstGeom prst="rect">
            <a:avLst/>
          </a:prstGeom>
          <a:noFill/>
          <a:ln/>
        </p:spPr>
        <p:txBody>
          <a:bodyPr wrap="square" lIns="0" tIns="0" rIns="0" bIns="0" rtlCol="0" anchor="t"/>
          <a:lstStyle/>
          <a:p>
            <a:pPr marL="0" indent="0" algn="r" rtl="1">
              <a:buNone/>
            </a:pPr>
            <a:r>
              <a:rPr lang="en-US" sz="1400" dirty="0">
                <a:solidFill>
                  <a:srgbClr val="6D6E71"/>
                </a:solidFill>
                <a:latin typeface="Segoe UI" pitchFamily="34" charset="0"/>
                <a:ea typeface="Segoe UI" pitchFamily="34" charset="-122"/>
                <a:cs typeface="Segoe UI" pitchFamily="34" charset="-120"/>
              </a:rPr>
              <a:t>تظهر في القائمة الجانبية بحسب صلاحيات دورك النشط.</a:t>
            </a:r>
            <a:endParaRPr lang="en-US" sz="1400" dirty="0"/>
          </a:p>
        </p:txBody>
      </p:sp>
      <p:sp>
        <p:nvSpPr>
          <p:cNvPr id="5" name="Shape 3"/>
          <p:cNvSpPr/>
          <p:nvPr/>
        </p:nvSpPr>
        <p:spPr>
          <a:xfrm>
            <a:off x="9038615" y="1938528"/>
            <a:ext cx="2586152" cy="1901952"/>
          </a:xfrm>
          <a:prstGeom prst="roundRect">
            <a:avLst>
              <a:gd name="adj" fmla="val 4808"/>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6" name="Shape 4"/>
          <p:cNvSpPr/>
          <p:nvPr/>
        </p:nvSpPr>
        <p:spPr>
          <a:xfrm>
            <a:off x="10746943" y="2212848"/>
            <a:ext cx="603504" cy="603504"/>
          </a:xfrm>
          <a:prstGeom prst="ellipse">
            <a:avLst/>
          </a:prstGeom>
          <a:solidFill>
            <a:srgbClr val="F7E8E9"/>
          </a:solidFill>
          <a:ln w="12700">
            <a:solidFill>
              <a:srgbClr val="F7E8E9"/>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0897819" y="2363724"/>
            <a:ext cx="301752" cy="301752"/>
          </a:xfrm>
          <a:prstGeom prst="rect">
            <a:avLst/>
          </a:prstGeom>
        </p:spPr>
      </p:pic>
      <p:sp>
        <p:nvSpPr>
          <p:cNvPr id="8" name="Text 5"/>
          <p:cNvSpPr txBox="1"/>
          <p:nvPr/>
        </p:nvSpPr>
        <p:spPr>
          <a:xfrm>
            <a:off x="9312935" y="2962656"/>
            <a:ext cx="2037512" cy="347472"/>
          </a:xfrm>
          <a:prstGeom prst="rect">
            <a:avLst/>
          </a:prstGeom>
          <a:noFill/>
          <a:ln/>
        </p:spPr>
        <p:txBody>
          <a:bodyPr wrap="square" lIns="0" tIns="0" rIns="0" bIns="0" rtlCol="0" anchor="t"/>
          <a:lstStyle/>
          <a:p>
            <a:pPr marL="0" indent="0" algn="r" rtl="1">
              <a:buNone/>
            </a:pPr>
            <a:r>
              <a:rPr lang="en-US" sz="1600" b="1" dirty="0">
                <a:solidFill>
                  <a:srgbClr val="2B2A2C"/>
                </a:solidFill>
                <a:latin typeface="Segoe UI" pitchFamily="34" charset="0"/>
                <a:ea typeface="Segoe UI" pitchFamily="34" charset="-122"/>
                <a:cs typeface="Segoe UI" pitchFamily="34" charset="-120"/>
              </a:rPr>
              <a:t>الموظفون</a:t>
            </a:r>
            <a:endParaRPr lang="en-US" sz="1600" dirty="0"/>
          </a:p>
        </p:txBody>
      </p:sp>
      <p:sp>
        <p:nvSpPr>
          <p:cNvPr id="9" name="Text 6"/>
          <p:cNvSpPr txBox="1"/>
          <p:nvPr/>
        </p:nvSpPr>
        <p:spPr>
          <a:xfrm>
            <a:off x="9312935" y="3337560"/>
            <a:ext cx="2037512" cy="292608"/>
          </a:xfrm>
          <a:prstGeom prst="rect">
            <a:avLst/>
          </a:prstGeom>
          <a:noFill/>
          <a:ln/>
        </p:spPr>
        <p:txBody>
          <a:bodyPr wrap="square" lIns="0" tIns="0" rIns="0" bIns="0" rtlCol="0" anchor="t"/>
          <a:lstStyle/>
          <a:p>
            <a:pPr marL="0" indent="0" algn="r" rtl="1">
              <a:buNone/>
            </a:pPr>
            <a:r>
              <a:rPr lang="en-US" sz="1200" dirty="0">
                <a:solidFill>
                  <a:srgbClr val="6D6E71"/>
                </a:solidFill>
                <a:latin typeface="Segoe UI" pitchFamily="34" charset="0"/>
                <a:ea typeface="Segoe UI" pitchFamily="34" charset="-122"/>
                <a:cs typeface="Segoe UI" pitchFamily="34" charset="-120"/>
              </a:rPr>
              <a:t>الملفات الشخصية</a:t>
            </a:r>
            <a:endParaRPr lang="en-US" sz="1200" dirty="0"/>
          </a:p>
        </p:txBody>
      </p:sp>
      <p:sp>
        <p:nvSpPr>
          <p:cNvPr id="10" name="Shape 7"/>
          <p:cNvSpPr/>
          <p:nvPr/>
        </p:nvSpPr>
        <p:spPr>
          <a:xfrm>
            <a:off x="6214720" y="1938528"/>
            <a:ext cx="2586152" cy="1901952"/>
          </a:xfrm>
          <a:prstGeom prst="roundRect">
            <a:avLst>
              <a:gd name="adj" fmla="val 4808"/>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11" name="Shape 8"/>
          <p:cNvSpPr/>
          <p:nvPr/>
        </p:nvSpPr>
        <p:spPr>
          <a:xfrm>
            <a:off x="7923047" y="2212848"/>
            <a:ext cx="603504" cy="603504"/>
          </a:xfrm>
          <a:prstGeom prst="ellipse">
            <a:avLst/>
          </a:prstGeom>
          <a:solidFill>
            <a:srgbClr val="F7E8E9"/>
          </a:solidFill>
          <a:ln w="12700">
            <a:solidFill>
              <a:srgbClr val="F7E8E9"/>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8073923" y="2363724"/>
            <a:ext cx="301752" cy="301752"/>
          </a:xfrm>
          <a:prstGeom prst="rect">
            <a:avLst/>
          </a:prstGeom>
        </p:spPr>
      </p:pic>
      <p:sp>
        <p:nvSpPr>
          <p:cNvPr id="13" name="Text 9"/>
          <p:cNvSpPr txBox="1"/>
          <p:nvPr/>
        </p:nvSpPr>
        <p:spPr>
          <a:xfrm>
            <a:off x="6489040" y="2962656"/>
            <a:ext cx="2037512" cy="347472"/>
          </a:xfrm>
          <a:prstGeom prst="rect">
            <a:avLst/>
          </a:prstGeom>
          <a:noFill/>
          <a:ln/>
        </p:spPr>
        <p:txBody>
          <a:bodyPr wrap="square" lIns="0" tIns="0" rIns="0" bIns="0" rtlCol="0" anchor="t"/>
          <a:lstStyle/>
          <a:p>
            <a:pPr marL="0" indent="0" algn="r" rtl="1">
              <a:buNone/>
            </a:pPr>
            <a:r>
              <a:rPr lang="en-US" sz="1600" b="1" dirty="0">
                <a:solidFill>
                  <a:srgbClr val="2B2A2C"/>
                </a:solidFill>
                <a:latin typeface="Segoe UI" pitchFamily="34" charset="0"/>
                <a:ea typeface="Segoe UI" pitchFamily="34" charset="-122"/>
                <a:cs typeface="Segoe UI" pitchFamily="34" charset="-120"/>
              </a:rPr>
              <a:t>العقود</a:t>
            </a:r>
            <a:endParaRPr lang="en-US" sz="1600" dirty="0"/>
          </a:p>
        </p:txBody>
      </p:sp>
      <p:sp>
        <p:nvSpPr>
          <p:cNvPr id="14" name="Text 10"/>
          <p:cNvSpPr txBox="1"/>
          <p:nvPr/>
        </p:nvSpPr>
        <p:spPr>
          <a:xfrm>
            <a:off x="6489040" y="3337560"/>
            <a:ext cx="2037512" cy="292608"/>
          </a:xfrm>
          <a:prstGeom prst="rect">
            <a:avLst/>
          </a:prstGeom>
          <a:noFill/>
          <a:ln/>
        </p:spPr>
        <p:txBody>
          <a:bodyPr wrap="square" lIns="0" tIns="0" rIns="0" bIns="0" rtlCol="0" anchor="t"/>
          <a:lstStyle/>
          <a:p>
            <a:pPr marL="0" indent="0" algn="r" rtl="1">
              <a:buNone/>
            </a:pPr>
            <a:r>
              <a:rPr lang="en-US" sz="1200" dirty="0">
                <a:solidFill>
                  <a:srgbClr val="6D6E71"/>
                </a:solidFill>
                <a:latin typeface="Segoe UI" pitchFamily="34" charset="0"/>
                <a:ea typeface="Segoe UI" pitchFamily="34" charset="-122"/>
                <a:cs typeface="Segoe UI" pitchFamily="34" charset="-120"/>
              </a:rPr>
              <a:t>الإنشاء والتجديد</a:t>
            </a:r>
            <a:endParaRPr lang="en-US" sz="1200" dirty="0"/>
          </a:p>
        </p:txBody>
      </p:sp>
      <p:sp>
        <p:nvSpPr>
          <p:cNvPr id="15" name="Shape 11"/>
          <p:cNvSpPr/>
          <p:nvPr/>
        </p:nvSpPr>
        <p:spPr>
          <a:xfrm>
            <a:off x="3390824" y="1938528"/>
            <a:ext cx="2586152" cy="1901952"/>
          </a:xfrm>
          <a:prstGeom prst="roundRect">
            <a:avLst>
              <a:gd name="adj" fmla="val 4808"/>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16" name="Shape 12"/>
          <p:cNvSpPr/>
          <p:nvPr/>
        </p:nvSpPr>
        <p:spPr>
          <a:xfrm>
            <a:off x="5099152" y="2212848"/>
            <a:ext cx="603504" cy="603504"/>
          </a:xfrm>
          <a:prstGeom prst="ellipse">
            <a:avLst/>
          </a:prstGeom>
          <a:solidFill>
            <a:srgbClr val="F7E8E9"/>
          </a:solidFill>
          <a:ln w="12700">
            <a:solidFill>
              <a:srgbClr val="F7E8E9"/>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5250028" y="2363724"/>
            <a:ext cx="301752" cy="301752"/>
          </a:xfrm>
          <a:prstGeom prst="rect">
            <a:avLst/>
          </a:prstGeom>
        </p:spPr>
      </p:pic>
      <p:sp>
        <p:nvSpPr>
          <p:cNvPr id="18" name="Text 13"/>
          <p:cNvSpPr txBox="1"/>
          <p:nvPr/>
        </p:nvSpPr>
        <p:spPr>
          <a:xfrm>
            <a:off x="3665144" y="2962656"/>
            <a:ext cx="2037512" cy="347472"/>
          </a:xfrm>
          <a:prstGeom prst="rect">
            <a:avLst/>
          </a:prstGeom>
          <a:noFill/>
          <a:ln/>
        </p:spPr>
        <p:txBody>
          <a:bodyPr wrap="square" lIns="0" tIns="0" rIns="0" bIns="0" rtlCol="0" anchor="t"/>
          <a:lstStyle/>
          <a:p>
            <a:pPr marL="0" indent="0" algn="r" rtl="1">
              <a:buNone/>
            </a:pPr>
            <a:r>
              <a:rPr lang="en-US" sz="1600" b="1" dirty="0">
                <a:solidFill>
                  <a:srgbClr val="2B2A2C"/>
                </a:solidFill>
                <a:latin typeface="Segoe UI" pitchFamily="34" charset="0"/>
                <a:ea typeface="Segoe UI" pitchFamily="34" charset="-122"/>
                <a:cs typeface="Segoe UI" pitchFamily="34" charset="-120"/>
              </a:rPr>
              <a:t>الإجازات</a:t>
            </a:r>
            <a:endParaRPr lang="en-US" sz="1600" dirty="0"/>
          </a:p>
        </p:txBody>
      </p:sp>
      <p:sp>
        <p:nvSpPr>
          <p:cNvPr id="19" name="Text 14"/>
          <p:cNvSpPr txBox="1"/>
          <p:nvPr/>
        </p:nvSpPr>
        <p:spPr>
          <a:xfrm>
            <a:off x="3665144" y="3337560"/>
            <a:ext cx="2037512" cy="292608"/>
          </a:xfrm>
          <a:prstGeom prst="rect">
            <a:avLst/>
          </a:prstGeom>
          <a:noFill/>
          <a:ln/>
        </p:spPr>
        <p:txBody>
          <a:bodyPr wrap="square" lIns="0" tIns="0" rIns="0" bIns="0" rtlCol="0" anchor="t"/>
          <a:lstStyle/>
          <a:p>
            <a:pPr marL="0" indent="0" algn="r" rtl="1">
              <a:buNone/>
            </a:pPr>
            <a:r>
              <a:rPr lang="en-US" sz="1200" dirty="0">
                <a:solidFill>
                  <a:srgbClr val="6D6E71"/>
                </a:solidFill>
                <a:latin typeface="Segoe UI" pitchFamily="34" charset="0"/>
                <a:ea typeface="Segoe UI" pitchFamily="34" charset="-122"/>
                <a:cs typeface="Segoe UI" pitchFamily="34" charset="-120"/>
              </a:rPr>
              <a:t>الطلبات والأرصدة</a:t>
            </a:r>
            <a:endParaRPr lang="en-US" sz="1200" dirty="0"/>
          </a:p>
        </p:txBody>
      </p:sp>
      <p:sp>
        <p:nvSpPr>
          <p:cNvPr id="20" name="Shape 15"/>
          <p:cNvSpPr/>
          <p:nvPr/>
        </p:nvSpPr>
        <p:spPr>
          <a:xfrm>
            <a:off x="566928" y="1938528"/>
            <a:ext cx="2586152" cy="1901952"/>
          </a:xfrm>
          <a:prstGeom prst="roundRect">
            <a:avLst>
              <a:gd name="adj" fmla="val 4808"/>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21" name="Shape 16"/>
          <p:cNvSpPr/>
          <p:nvPr/>
        </p:nvSpPr>
        <p:spPr>
          <a:xfrm>
            <a:off x="2275256" y="2212848"/>
            <a:ext cx="603504" cy="603504"/>
          </a:xfrm>
          <a:prstGeom prst="ellipse">
            <a:avLst/>
          </a:prstGeom>
          <a:solidFill>
            <a:srgbClr val="F7E8E9"/>
          </a:solidFill>
          <a:ln w="12700">
            <a:solidFill>
              <a:srgbClr val="F7E8E9"/>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2426132" y="2363724"/>
            <a:ext cx="301752" cy="301752"/>
          </a:xfrm>
          <a:prstGeom prst="rect">
            <a:avLst/>
          </a:prstGeom>
        </p:spPr>
      </p:pic>
      <p:sp>
        <p:nvSpPr>
          <p:cNvPr id="23" name="Text 17"/>
          <p:cNvSpPr txBox="1"/>
          <p:nvPr/>
        </p:nvSpPr>
        <p:spPr>
          <a:xfrm>
            <a:off x="841248" y="2962656"/>
            <a:ext cx="2037512" cy="347472"/>
          </a:xfrm>
          <a:prstGeom prst="rect">
            <a:avLst/>
          </a:prstGeom>
          <a:noFill/>
          <a:ln/>
        </p:spPr>
        <p:txBody>
          <a:bodyPr wrap="square" lIns="0" tIns="0" rIns="0" bIns="0" rtlCol="0" anchor="t"/>
          <a:lstStyle/>
          <a:p>
            <a:pPr marL="0" indent="0" algn="r" rtl="1">
              <a:buNone/>
            </a:pPr>
            <a:r>
              <a:rPr lang="en-US" sz="1600" b="1" dirty="0">
                <a:solidFill>
                  <a:srgbClr val="2B2A2C"/>
                </a:solidFill>
                <a:latin typeface="Segoe UI" pitchFamily="34" charset="0"/>
                <a:ea typeface="Segoe UI" pitchFamily="34" charset="-122"/>
                <a:cs typeface="Segoe UI" pitchFamily="34" charset="-120"/>
              </a:rPr>
              <a:t>البرامج والمراكز</a:t>
            </a:r>
            <a:endParaRPr lang="en-US" sz="1600" dirty="0"/>
          </a:p>
        </p:txBody>
      </p:sp>
      <p:sp>
        <p:nvSpPr>
          <p:cNvPr id="24" name="Text 18"/>
          <p:cNvSpPr txBox="1"/>
          <p:nvPr/>
        </p:nvSpPr>
        <p:spPr>
          <a:xfrm>
            <a:off x="841248" y="3337560"/>
            <a:ext cx="2037512" cy="292608"/>
          </a:xfrm>
          <a:prstGeom prst="rect">
            <a:avLst/>
          </a:prstGeom>
          <a:noFill/>
          <a:ln/>
        </p:spPr>
        <p:txBody>
          <a:bodyPr wrap="square" lIns="0" tIns="0" rIns="0" bIns="0" rtlCol="0" anchor="t"/>
          <a:lstStyle/>
          <a:p>
            <a:pPr marL="0" indent="0" algn="r" rtl="1">
              <a:buNone/>
            </a:pPr>
            <a:r>
              <a:rPr lang="en-US" sz="1200" dirty="0">
                <a:solidFill>
                  <a:srgbClr val="6D6E71"/>
                </a:solidFill>
                <a:latin typeface="Segoe UI" pitchFamily="34" charset="0"/>
                <a:ea typeface="Segoe UI" pitchFamily="34" charset="-122"/>
                <a:cs typeface="Segoe UI" pitchFamily="34" charset="-120"/>
              </a:rPr>
              <a:t>هيكل التشغيل</a:t>
            </a:r>
            <a:endParaRPr lang="en-US" sz="1200" dirty="0"/>
          </a:p>
        </p:txBody>
      </p:sp>
      <p:sp>
        <p:nvSpPr>
          <p:cNvPr id="25" name="Shape 19"/>
          <p:cNvSpPr/>
          <p:nvPr/>
        </p:nvSpPr>
        <p:spPr>
          <a:xfrm>
            <a:off x="9038615" y="4096512"/>
            <a:ext cx="2586152" cy="1901952"/>
          </a:xfrm>
          <a:prstGeom prst="roundRect">
            <a:avLst>
              <a:gd name="adj" fmla="val 4808"/>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26" name="Shape 20"/>
          <p:cNvSpPr/>
          <p:nvPr/>
        </p:nvSpPr>
        <p:spPr>
          <a:xfrm>
            <a:off x="10746943" y="4370832"/>
            <a:ext cx="603504" cy="603504"/>
          </a:xfrm>
          <a:prstGeom prst="ellipse">
            <a:avLst/>
          </a:prstGeom>
          <a:solidFill>
            <a:srgbClr val="F7E8E9"/>
          </a:solidFill>
          <a:ln w="12700">
            <a:solidFill>
              <a:srgbClr val="F7E8E9"/>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10897819" y="4521708"/>
            <a:ext cx="301752" cy="301752"/>
          </a:xfrm>
          <a:prstGeom prst="rect">
            <a:avLst/>
          </a:prstGeom>
        </p:spPr>
      </p:pic>
      <p:sp>
        <p:nvSpPr>
          <p:cNvPr id="28" name="Text 21"/>
          <p:cNvSpPr txBox="1"/>
          <p:nvPr/>
        </p:nvSpPr>
        <p:spPr>
          <a:xfrm>
            <a:off x="9312935" y="5120640"/>
            <a:ext cx="2037512" cy="347472"/>
          </a:xfrm>
          <a:prstGeom prst="rect">
            <a:avLst/>
          </a:prstGeom>
          <a:noFill/>
          <a:ln/>
        </p:spPr>
        <p:txBody>
          <a:bodyPr wrap="square" lIns="0" tIns="0" rIns="0" bIns="0" rtlCol="0" anchor="t"/>
          <a:lstStyle/>
          <a:p>
            <a:pPr marL="0" indent="0" algn="r" rtl="1">
              <a:buNone/>
            </a:pPr>
            <a:r>
              <a:rPr lang="en-US" sz="1600" b="1" dirty="0">
                <a:solidFill>
                  <a:srgbClr val="2B2A2C"/>
                </a:solidFill>
                <a:latin typeface="Segoe UI" pitchFamily="34" charset="0"/>
                <a:ea typeface="Segoe UI" pitchFamily="34" charset="-122"/>
                <a:cs typeface="Segoe UI" pitchFamily="34" charset="-120"/>
              </a:rPr>
              <a:t>المناصب والهيكلية</a:t>
            </a:r>
            <a:endParaRPr lang="en-US" sz="1600" dirty="0"/>
          </a:p>
        </p:txBody>
      </p:sp>
      <p:sp>
        <p:nvSpPr>
          <p:cNvPr id="29" name="Text 22"/>
          <p:cNvSpPr txBox="1"/>
          <p:nvPr/>
        </p:nvSpPr>
        <p:spPr>
          <a:xfrm>
            <a:off x="9312935" y="5495544"/>
            <a:ext cx="2037512" cy="292608"/>
          </a:xfrm>
          <a:prstGeom prst="rect">
            <a:avLst/>
          </a:prstGeom>
          <a:noFill/>
          <a:ln/>
        </p:spPr>
        <p:txBody>
          <a:bodyPr wrap="square" lIns="0" tIns="0" rIns="0" bIns="0" rtlCol="0" anchor="t"/>
          <a:lstStyle/>
          <a:p>
            <a:pPr marL="0" indent="0" algn="r" rtl="1">
              <a:buNone/>
            </a:pPr>
            <a:r>
              <a:rPr lang="en-US" sz="1200" dirty="0">
                <a:solidFill>
                  <a:srgbClr val="6D6E71"/>
                </a:solidFill>
                <a:latin typeface="Segoe UI" pitchFamily="34" charset="0"/>
                <a:ea typeface="Segoe UI" pitchFamily="34" charset="-122"/>
                <a:cs typeface="Segoe UI" pitchFamily="34" charset="-120"/>
              </a:rPr>
              <a:t>الشجرة التنظيمية</a:t>
            </a:r>
            <a:endParaRPr lang="en-US" sz="1200" dirty="0"/>
          </a:p>
        </p:txBody>
      </p:sp>
      <p:sp>
        <p:nvSpPr>
          <p:cNvPr id="30" name="Shape 23"/>
          <p:cNvSpPr/>
          <p:nvPr/>
        </p:nvSpPr>
        <p:spPr>
          <a:xfrm>
            <a:off x="6214720" y="4096512"/>
            <a:ext cx="2586152" cy="1901952"/>
          </a:xfrm>
          <a:prstGeom prst="roundRect">
            <a:avLst>
              <a:gd name="adj" fmla="val 4808"/>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31" name="Shape 24"/>
          <p:cNvSpPr/>
          <p:nvPr/>
        </p:nvSpPr>
        <p:spPr>
          <a:xfrm>
            <a:off x="7923047" y="4370832"/>
            <a:ext cx="603504" cy="603504"/>
          </a:xfrm>
          <a:prstGeom prst="ellipse">
            <a:avLst/>
          </a:prstGeom>
          <a:solidFill>
            <a:srgbClr val="F7E8E9"/>
          </a:solidFill>
          <a:ln w="12700">
            <a:solidFill>
              <a:srgbClr val="F7E8E9"/>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8073923" y="4521708"/>
            <a:ext cx="301752" cy="301752"/>
          </a:xfrm>
          <a:prstGeom prst="rect">
            <a:avLst/>
          </a:prstGeom>
        </p:spPr>
      </p:pic>
      <p:sp>
        <p:nvSpPr>
          <p:cNvPr id="33" name="Text 25"/>
          <p:cNvSpPr txBox="1"/>
          <p:nvPr/>
        </p:nvSpPr>
        <p:spPr>
          <a:xfrm>
            <a:off x="6489040" y="5120640"/>
            <a:ext cx="2037512" cy="347472"/>
          </a:xfrm>
          <a:prstGeom prst="rect">
            <a:avLst/>
          </a:prstGeom>
          <a:noFill/>
          <a:ln/>
        </p:spPr>
        <p:txBody>
          <a:bodyPr wrap="square" lIns="0" tIns="0" rIns="0" bIns="0" rtlCol="0" anchor="t"/>
          <a:lstStyle/>
          <a:p>
            <a:pPr marL="0" indent="0" algn="r" rtl="1">
              <a:buNone/>
            </a:pPr>
            <a:r>
              <a:rPr lang="en-US" sz="1600" b="1" dirty="0">
                <a:solidFill>
                  <a:srgbClr val="2B2A2C"/>
                </a:solidFill>
                <a:latin typeface="Segoe UI" pitchFamily="34" charset="0"/>
                <a:ea typeface="Segoe UI" pitchFamily="34" charset="-122"/>
                <a:cs typeface="Segoe UI" pitchFamily="34" charset="-120"/>
              </a:rPr>
              <a:t>عناصر التسليم</a:t>
            </a:r>
            <a:endParaRPr lang="en-US" sz="1600" dirty="0"/>
          </a:p>
        </p:txBody>
      </p:sp>
      <p:sp>
        <p:nvSpPr>
          <p:cNvPr id="34" name="Text 26"/>
          <p:cNvSpPr txBox="1"/>
          <p:nvPr/>
        </p:nvSpPr>
        <p:spPr>
          <a:xfrm>
            <a:off x="6489040" y="5495544"/>
            <a:ext cx="2037512" cy="292608"/>
          </a:xfrm>
          <a:prstGeom prst="rect">
            <a:avLst/>
          </a:prstGeom>
          <a:noFill/>
          <a:ln/>
        </p:spPr>
        <p:txBody>
          <a:bodyPr wrap="square" lIns="0" tIns="0" rIns="0" bIns="0" rtlCol="0" anchor="t"/>
          <a:lstStyle/>
          <a:p>
            <a:pPr marL="0" indent="0" algn="r" rtl="1">
              <a:buNone/>
            </a:pPr>
            <a:r>
              <a:rPr lang="en-US" sz="1200" dirty="0">
                <a:solidFill>
                  <a:srgbClr val="6D6E71"/>
                </a:solidFill>
                <a:latin typeface="Segoe UI" pitchFamily="34" charset="0"/>
                <a:ea typeface="Segoe UI" pitchFamily="34" charset="-122"/>
                <a:cs typeface="Segoe UI" pitchFamily="34" charset="-120"/>
              </a:rPr>
              <a:t>العهدة والأجهزة</a:t>
            </a:r>
            <a:endParaRPr lang="en-US" sz="1200" dirty="0"/>
          </a:p>
        </p:txBody>
      </p:sp>
      <p:sp>
        <p:nvSpPr>
          <p:cNvPr id="35" name="Shape 27"/>
          <p:cNvSpPr/>
          <p:nvPr/>
        </p:nvSpPr>
        <p:spPr>
          <a:xfrm>
            <a:off x="3390824" y="4096512"/>
            <a:ext cx="2586152" cy="1901952"/>
          </a:xfrm>
          <a:prstGeom prst="roundRect">
            <a:avLst>
              <a:gd name="adj" fmla="val 4808"/>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36" name="Shape 28"/>
          <p:cNvSpPr/>
          <p:nvPr/>
        </p:nvSpPr>
        <p:spPr>
          <a:xfrm>
            <a:off x="5099152" y="4370832"/>
            <a:ext cx="603504" cy="603504"/>
          </a:xfrm>
          <a:prstGeom prst="ellipse">
            <a:avLst/>
          </a:prstGeom>
          <a:solidFill>
            <a:srgbClr val="F7E8E9"/>
          </a:solidFill>
          <a:ln w="12700">
            <a:solidFill>
              <a:srgbClr val="F7E8E9"/>
            </a:solidFill>
            <a:prstDash val="solid"/>
          </a:ln>
        </p:spPr>
        <p:txBody>
          <a:bodyPr/>
          <a:lstStyle/>
          <a:p>
            <a:endParaRPr lang="en-US"/>
          </a:p>
        </p:txBody>
      </p:sp>
      <p:pic>
        <p:nvPicPr>
          <p:cNvPr id="37" name="Image 6" descr="preencoded.png"/>
          <p:cNvPicPr>
            <a:picLocks noChangeAspect="1"/>
          </p:cNvPicPr>
          <p:nvPr/>
        </p:nvPicPr>
        <p:blipFill>
          <a:blip r:embed="rId9"/>
          <a:stretch>
            <a:fillRect/>
          </a:stretch>
        </p:blipFill>
        <p:spPr>
          <a:xfrm>
            <a:off x="5250028" y="4521708"/>
            <a:ext cx="301752" cy="301752"/>
          </a:xfrm>
          <a:prstGeom prst="rect">
            <a:avLst/>
          </a:prstGeom>
        </p:spPr>
      </p:pic>
      <p:sp>
        <p:nvSpPr>
          <p:cNvPr id="38" name="Text 29"/>
          <p:cNvSpPr txBox="1"/>
          <p:nvPr/>
        </p:nvSpPr>
        <p:spPr>
          <a:xfrm>
            <a:off x="3665144" y="5120640"/>
            <a:ext cx="2037512" cy="347472"/>
          </a:xfrm>
          <a:prstGeom prst="rect">
            <a:avLst/>
          </a:prstGeom>
          <a:noFill/>
          <a:ln/>
        </p:spPr>
        <p:txBody>
          <a:bodyPr wrap="square" lIns="0" tIns="0" rIns="0" bIns="0" rtlCol="0" anchor="t"/>
          <a:lstStyle/>
          <a:p>
            <a:pPr marL="0" indent="0" algn="r" rtl="1">
              <a:buNone/>
            </a:pPr>
            <a:r>
              <a:rPr lang="en-US" sz="1600" b="1" dirty="0">
                <a:solidFill>
                  <a:srgbClr val="2B2A2C"/>
                </a:solidFill>
                <a:latin typeface="Segoe UI" pitchFamily="34" charset="0"/>
                <a:ea typeface="Segoe UI" pitchFamily="34" charset="-122"/>
                <a:cs typeface="Segoe UI" pitchFamily="34" charset="-120"/>
              </a:rPr>
              <a:t>الأرشيف والملفات</a:t>
            </a:r>
            <a:endParaRPr lang="en-US" sz="1600" dirty="0"/>
          </a:p>
        </p:txBody>
      </p:sp>
      <p:sp>
        <p:nvSpPr>
          <p:cNvPr id="39" name="Text 30"/>
          <p:cNvSpPr txBox="1"/>
          <p:nvPr/>
        </p:nvSpPr>
        <p:spPr>
          <a:xfrm>
            <a:off x="3665144" y="5495544"/>
            <a:ext cx="2037512" cy="292608"/>
          </a:xfrm>
          <a:prstGeom prst="rect">
            <a:avLst/>
          </a:prstGeom>
          <a:noFill/>
          <a:ln/>
        </p:spPr>
        <p:txBody>
          <a:bodyPr wrap="square" lIns="0" tIns="0" rIns="0" bIns="0" rtlCol="0" anchor="t"/>
          <a:lstStyle/>
          <a:p>
            <a:pPr marL="0" indent="0" algn="r" rtl="1">
              <a:buNone/>
            </a:pPr>
            <a:r>
              <a:rPr lang="en-US" sz="1200" dirty="0">
                <a:solidFill>
                  <a:srgbClr val="6D6E71"/>
                </a:solidFill>
                <a:latin typeface="Segoe UI" pitchFamily="34" charset="0"/>
                <a:ea typeface="Segoe UI" pitchFamily="34" charset="-122"/>
                <a:cs typeface="Segoe UI" pitchFamily="34" charset="-120"/>
              </a:rPr>
              <a:t>مجلدات خاصة ومشتركة</a:t>
            </a:r>
            <a:endParaRPr lang="en-US" sz="1200" dirty="0"/>
          </a:p>
        </p:txBody>
      </p:sp>
      <p:sp>
        <p:nvSpPr>
          <p:cNvPr id="40" name="Shape 31"/>
          <p:cNvSpPr/>
          <p:nvPr/>
        </p:nvSpPr>
        <p:spPr>
          <a:xfrm>
            <a:off x="566928" y="4096512"/>
            <a:ext cx="2586152" cy="1901952"/>
          </a:xfrm>
          <a:prstGeom prst="roundRect">
            <a:avLst>
              <a:gd name="adj" fmla="val 4808"/>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41" name="Shape 32"/>
          <p:cNvSpPr/>
          <p:nvPr/>
        </p:nvSpPr>
        <p:spPr>
          <a:xfrm>
            <a:off x="2275256" y="4370832"/>
            <a:ext cx="603504" cy="603504"/>
          </a:xfrm>
          <a:prstGeom prst="ellipse">
            <a:avLst/>
          </a:prstGeom>
          <a:solidFill>
            <a:srgbClr val="F7E8E9"/>
          </a:solidFill>
          <a:ln w="12700">
            <a:solidFill>
              <a:srgbClr val="F7E8E9"/>
            </a:solidFill>
            <a:prstDash val="solid"/>
          </a:ln>
        </p:spPr>
        <p:txBody>
          <a:bodyPr/>
          <a:lstStyle/>
          <a:p>
            <a:endParaRPr lang="en-US"/>
          </a:p>
        </p:txBody>
      </p:sp>
      <p:pic>
        <p:nvPicPr>
          <p:cNvPr id="42" name="Image 7" descr="preencoded.png"/>
          <p:cNvPicPr>
            <a:picLocks noChangeAspect="1"/>
          </p:cNvPicPr>
          <p:nvPr/>
        </p:nvPicPr>
        <p:blipFill>
          <a:blip r:embed="rId10"/>
          <a:stretch>
            <a:fillRect/>
          </a:stretch>
        </p:blipFill>
        <p:spPr>
          <a:xfrm>
            <a:off x="2426132" y="4521708"/>
            <a:ext cx="301752" cy="301752"/>
          </a:xfrm>
          <a:prstGeom prst="rect">
            <a:avLst/>
          </a:prstGeom>
        </p:spPr>
      </p:pic>
      <p:sp>
        <p:nvSpPr>
          <p:cNvPr id="43" name="Text 33"/>
          <p:cNvSpPr txBox="1"/>
          <p:nvPr/>
        </p:nvSpPr>
        <p:spPr>
          <a:xfrm>
            <a:off x="841248" y="5120640"/>
            <a:ext cx="2037512" cy="347472"/>
          </a:xfrm>
          <a:prstGeom prst="rect">
            <a:avLst/>
          </a:prstGeom>
          <a:noFill/>
          <a:ln/>
        </p:spPr>
        <p:txBody>
          <a:bodyPr wrap="square" lIns="0" tIns="0" rIns="0" bIns="0" rtlCol="0" anchor="t"/>
          <a:lstStyle/>
          <a:p>
            <a:pPr marL="0" indent="0" algn="r" rtl="1">
              <a:buNone/>
            </a:pPr>
            <a:r>
              <a:rPr lang="en-US" sz="1600" b="1" dirty="0">
                <a:solidFill>
                  <a:srgbClr val="2B2A2C"/>
                </a:solidFill>
                <a:latin typeface="Segoe UI" pitchFamily="34" charset="0"/>
                <a:ea typeface="Segoe UI" pitchFamily="34" charset="-122"/>
                <a:cs typeface="Segoe UI" pitchFamily="34" charset="-120"/>
              </a:rPr>
              <a:t>الأخبار والشارات</a:t>
            </a:r>
            <a:endParaRPr lang="en-US" sz="1600" dirty="0"/>
          </a:p>
        </p:txBody>
      </p:sp>
      <p:sp>
        <p:nvSpPr>
          <p:cNvPr id="44" name="Text 34"/>
          <p:cNvSpPr txBox="1"/>
          <p:nvPr/>
        </p:nvSpPr>
        <p:spPr>
          <a:xfrm>
            <a:off x="841248" y="5495544"/>
            <a:ext cx="2037512" cy="292608"/>
          </a:xfrm>
          <a:prstGeom prst="rect">
            <a:avLst/>
          </a:prstGeom>
          <a:noFill/>
          <a:ln/>
        </p:spPr>
        <p:txBody>
          <a:bodyPr wrap="square" lIns="0" tIns="0" rIns="0" bIns="0" rtlCol="0" anchor="t"/>
          <a:lstStyle/>
          <a:p>
            <a:pPr marL="0" indent="0" algn="r" rtl="1">
              <a:buNone/>
            </a:pPr>
            <a:r>
              <a:rPr lang="en-US" sz="1200" dirty="0">
                <a:solidFill>
                  <a:srgbClr val="6D6E71"/>
                </a:solidFill>
                <a:latin typeface="Segoe UI" pitchFamily="34" charset="0"/>
                <a:ea typeface="Segoe UI" pitchFamily="34" charset="-122"/>
                <a:cs typeface="Segoe UI" pitchFamily="34" charset="-120"/>
              </a:rPr>
              <a:t>التواصل والتقدير</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6"/>
        </a:solidFill>
        <a:effectLst/>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t"/>
          <a:lstStyle/>
          <a:p>
            <a:pPr marL="0" indent="0" algn="r" rtl="1">
              <a:buNone/>
            </a:pPr>
            <a:r>
              <a:rPr lang="en-US" sz="1250" b="1" kern="0" spc="100" dirty="0">
                <a:solidFill>
                  <a:srgbClr val="C2151C"/>
                </a:solidFill>
                <a:latin typeface="Segoe UI" pitchFamily="34" charset="0"/>
                <a:ea typeface="Segoe UI" pitchFamily="34" charset="-122"/>
                <a:cs typeface="Segoe UI" pitchFamily="34" charset="-120"/>
              </a:rPr>
              <a:t>البداية</a:t>
            </a:r>
            <a:endParaRPr lang="en-US" sz="1250" dirty="0"/>
          </a:p>
        </p:txBody>
      </p:sp>
      <p:sp>
        <p:nvSpPr>
          <p:cNvPr id="3" name="Text 1"/>
          <p:cNvSpPr txBox="1"/>
          <p:nvPr/>
        </p:nvSpPr>
        <p:spPr>
          <a:xfrm>
            <a:off x="566928" y="713232"/>
            <a:ext cx="11057839" cy="658368"/>
          </a:xfrm>
          <a:prstGeom prst="rect">
            <a:avLst/>
          </a:prstGeom>
          <a:noFill/>
          <a:ln/>
        </p:spPr>
        <p:txBody>
          <a:bodyPr wrap="square" lIns="0" tIns="0" rIns="0" bIns="0" rtlCol="0" anchor="t"/>
          <a:lstStyle/>
          <a:p>
            <a:pPr marL="0" indent="0" algn="r" rtl="1">
              <a:buNone/>
            </a:pPr>
            <a:r>
              <a:rPr lang="en-US" sz="3300" b="1" dirty="0">
                <a:solidFill>
                  <a:srgbClr val="2B2A2C"/>
                </a:solidFill>
                <a:latin typeface="Segoe UI" pitchFamily="34" charset="0"/>
                <a:ea typeface="Segoe UI" pitchFamily="34" charset="-122"/>
                <a:cs typeface="Segoe UI" pitchFamily="34" charset="-120"/>
              </a:rPr>
              <a:t>الدخول إلى النظام ولوحة التحكم</a:t>
            </a:r>
            <a:endParaRPr lang="en-US" sz="3300" dirty="0"/>
          </a:p>
        </p:txBody>
      </p:sp>
      <p:sp>
        <p:nvSpPr>
          <p:cNvPr id="4" name="Shape 2"/>
          <p:cNvSpPr/>
          <p:nvPr/>
        </p:nvSpPr>
        <p:spPr>
          <a:xfrm>
            <a:off x="6278728" y="1828800"/>
            <a:ext cx="5346040" cy="4297680"/>
          </a:xfrm>
          <a:prstGeom prst="roundRect">
            <a:avLst>
              <a:gd name="adj" fmla="val 2128"/>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5" name="Shape 3"/>
          <p:cNvSpPr/>
          <p:nvPr/>
        </p:nvSpPr>
        <p:spPr>
          <a:xfrm>
            <a:off x="10728655" y="2157984"/>
            <a:ext cx="530352" cy="530352"/>
          </a:xfrm>
          <a:prstGeom prst="ellipse">
            <a:avLst/>
          </a:prstGeom>
          <a:solidFill>
            <a:srgbClr val="C2151C"/>
          </a:solidFill>
          <a:ln w="12700">
            <a:solidFill>
              <a:srgbClr val="C2151C"/>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861243" y="2290572"/>
            <a:ext cx="265176" cy="265176"/>
          </a:xfrm>
          <a:prstGeom prst="rect">
            <a:avLst/>
          </a:prstGeom>
        </p:spPr>
      </p:pic>
      <p:sp>
        <p:nvSpPr>
          <p:cNvPr id="7" name="Text 4"/>
          <p:cNvSpPr txBox="1"/>
          <p:nvPr/>
        </p:nvSpPr>
        <p:spPr>
          <a:xfrm>
            <a:off x="6644488" y="2231136"/>
            <a:ext cx="3883000" cy="365760"/>
          </a:xfrm>
          <a:prstGeom prst="rect">
            <a:avLst/>
          </a:prstGeom>
          <a:noFill/>
          <a:ln/>
        </p:spPr>
        <p:txBody>
          <a:bodyPr wrap="square" lIns="0" tIns="0" rIns="0" bIns="0" rtlCol="0" anchor="t"/>
          <a:lstStyle/>
          <a:p>
            <a:pPr marL="0" indent="0" algn="r" rtl="1">
              <a:buNone/>
            </a:pPr>
            <a:r>
              <a:rPr lang="en-US" sz="2100" b="1" dirty="0">
                <a:solidFill>
                  <a:srgbClr val="2B2A2C"/>
                </a:solidFill>
                <a:latin typeface="Segoe UI" pitchFamily="34" charset="0"/>
                <a:ea typeface="Segoe UI" pitchFamily="34" charset="-122"/>
                <a:cs typeface="Segoe UI" pitchFamily="34" charset="-120"/>
              </a:rPr>
              <a:t>تسجيل الدخول</a:t>
            </a:r>
            <a:endParaRPr lang="en-US" sz="2100" dirty="0"/>
          </a:p>
        </p:txBody>
      </p:sp>
      <p:sp>
        <p:nvSpPr>
          <p:cNvPr id="8" name="Shape 5"/>
          <p:cNvSpPr/>
          <p:nvPr/>
        </p:nvSpPr>
        <p:spPr>
          <a:xfrm>
            <a:off x="10874959" y="2889504"/>
            <a:ext cx="384048" cy="384048"/>
          </a:xfrm>
          <a:prstGeom prst="ellipse">
            <a:avLst/>
          </a:prstGeom>
          <a:solidFill>
            <a:srgbClr val="F7E8E9"/>
          </a:solidFill>
          <a:ln w="12700">
            <a:solidFill>
              <a:srgbClr val="F7E8E9"/>
            </a:solidFill>
            <a:prstDash val="solid"/>
          </a:ln>
        </p:spPr>
        <p:txBody>
          <a:bodyPr/>
          <a:lstStyle/>
          <a:p>
            <a:endParaRPr lang="en-US"/>
          </a:p>
        </p:txBody>
      </p:sp>
      <p:sp>
        <p:nvSpPr>
          <p:cNvPr id="9" name="Text 6"/>
          <p:cNvSpPr txBox="1"/>
          <p:nvPr/>
        </p:nvSpPr>
        <p:spPr>
          <a:xfrm>
            <a:off x="10874959" y="2889504"/>
            <a:ext cx="384048" cy="384048"/>
          </a:xfrm>
          <a:prstGeom prst="rect">
            <a:avLst/>
          </a:prstGeom>
          <a:noFill/>
          <a:ln/>
        </p:spPr>
        <p:txBody>
          <a:bodyPr wrap="square" lIns="0" tIns="0" rIns="0" bIns="0" rtlCol="0" anchor="ctr"/>
          <a:lstStyle/>
          <a:p>
            <a:pPr marL="0" indent="0" algn="ctr">
              <a:buNone/>
            </a:pPr>
            <a:r>
              <a:rPr lang="en-US" sz="1100" b="1" dirty="0">
                <a:solidFill>
                  <a:srgbClr val="C2151C"/>
                </a:solidFill>
                <a:latin typeface="Segoe UI" pitchFamily="34" charset="0"/>
                <a:ea typeface="Segoe UI" pitchFamily="34" charset="-122"/>
                <a:cs typeface="Segoe UI" pitchFamily="34" charset="-120"/>
              </a:rPr>
              <a:t>1</a:t>
            </a:r>
            <a:endParaRPr lang="en-US" sz="1100" dirty="0"/>
          </a:p>
        </p:txBody>
      </p:sp>
      <p:sp>
        <p:nvSpPr>
          <p:cNvPr id="10" name="Text 7"/>
          <p:cNvSpPr txBox="1"/>
          <p:nvPr/>
        </p:nvSpPr>
        <p:spPr>
          <a:xfrm>
            <a:off x="6644488" y="2926080"/>
            <a:ext cx="4084167" cy="457200"/>
          </a:xfrm>
          <a:prstGeom prst="rect">
            <a:avLst/>
          </a:prstGeom>
          <a:noFill/>
          <a:ln/>
        </p:spPr>
        <p:txBody>
          <a:bodyPr wrap="square" lIns="0" tIns="0" rIns="0" bIns="0" rtlCol="0" anchor="t"/>
          <a:lstStyle/>
          <a:p>
            <a:pPr marL="0" indent="0" algn="r" rtl="1">
              <a:lnSpc>
                <a:spcPts val="1900"/>
              </a:lnSpc>
              <a:buNone/>
            </a:pPr>
            <a:r>
              <a:rPr lang="en-US" sz="1350" dirty="0">
                <a:solidFill>
                  <a:srgbClr val="414042"/>
                </a:solidFill>
                <a:latin typeface="Segoe UI" pitchFamily="34" charset="0"/>
                <a:ea typeface="Segoe UI" pitchFamily="34" charset="-122"/>
                <a:cs typeface="Segoe UI" pitchFamily="34" charset="-120"/>
              </a:rPr>
              <a:t>افتح رابط النظام في المتصفح.</a:t>
            </a:r>
            <a:endParaRPr lang="en-US" sz="1350" dirty="0"/>
          </a:p>
        </p:txBody>
      </p:sp>
      <p:sp>
        <p:nvSpPr>
          <p:cNvPr id="11" name="Shape 8"/>
          <p:cNvSpPr/>
          <p:nvPr/>
        </p:nvSpPr>
        <p:spPr>
          <a:xfrm>
            <a:off x="10874959" y="3493008"/>
            <a:ext cx="384048" cy="384048"/>
          </a:xfrm>
          <a:prstGeom prst="ellipse">
            <a:avLst/>
          </a:prstGeom>
          <a:solidFill>
            <a:srgbClr val="F7E8E9"/>
          </a:solidFill>
          <a:ln w="12700">
            <a:solidFill>
              <a:srgbClr val="F7E8E9"/>
            </a:solidFill>
            <a:prstDash val="solid"/>
          </a:ln>
        </p:spPr>
        <p:txBody>
          <a:bodyPr/>
          <a:lstStyle/>
          <a:p>
            <a:endParaRPr lang="en-US"/>
          </a:p>
        </p:txBody>
      </p:sp>
      <p:sp>
        <p:nvSpPr>
          <p:cNvPr id="12" name="Text 9"/>
          <p:cNvSpPr txBox="1"/>
          <p:nvPr/>
        </p:nvSpPr>
        <p:spPr>
          <a:xfrm>
            <a:off x="10874959" y="3493008"/>
            <a:ext cx="384048" cy="384048"/>
          </a:xfrm>
          <a:prstGeom prst="rect">
            <a:avLst/>
          </a:prstGeom>
          <a:noFill/>
          <a:ln/>
        </p:spPr>
        <p:txBody>
          <a:bodyPr wrap="square" lIns="0" tIns="0" rIns="0" bIns="0" rtlCol="0" anchor="ctr"/>
          <a:lstStyle/>
          <a:p>
            <a:pPr marL="0" indent="0" algn="ctr">
              <a:buNone/>
            </a:pPr>
            <a:r>
              <a:rPr lang="en-US" sz="1100" b="1" dirty="0">
                <a:solidFill>
                  <a:srgbClr val="C2151C"/>
                </a:solidFill>
                <a:latin typeface="Segoe UI" pitchFamily="34" charset="0"/>
                <a:ea typeface="Segoe UI" pitchFamily="34" charset="-122"/>
                <a:cs typeface="Segoe UI" pitchFamily="34" charset="-120"/>
              </a:rPr>
              <a:t>2</a:t>
            </a:r>
            <a:endParaRPr lang="en-US" sz="1100" dirty="0"/>
          </a:p>
        </p:txBody>
      </p:sp>
      <p:sp>
        <p:nvSpPr>
          <p:cNvPr id="13" name="Text 10"/>
          <p:cNvSpPr txBox="1"/>
          <p:nvPr/>
        </p:nvSpPr>
        <p:spPr>
          <a:xfrm>
            <a:off x="6644488" y="3529584"/>
            <a:ext cx="4084167" cy="457200"/>
          </a:xfrm>
          <a:prstGeom prst="rect">
            <a:avLst/>
          </a:prstGeom>
          <a:noFill/>
          <a:ln/>
        </p:spPr>
        <p:txBody>
          <a:bodyPr wrap="square" lIns="0" tIns="0" rIns="0" bIns="0" rtlCol="0" anchor="t"/>
          <a:lstStyle/>
          <a:p>
            <a:pPr marL="0" indent="0" algn="r" rtl="1">
              <a:lnSpc>
                <a:spcPts val="1900"/>
              </a:lnSpc>
              <a:buNone/>
            </a:pPr>
            <a:r>
              <a:rPr lang="en-US" sz="1350" dirty="0">
                <a:solidFill>
                  <a:srgbClr val="414042"/>
                </a:solidFill>
                <a:latin typeface="Segoe UI" pitchFamily="34" charset="0"/>
                <a:ea typeface="Segoe UI" pitchFamily="34" charset="-122"/>
                <a:cs typeface="Segoe UI" pitchFamily="34" charset="-120"/>
              </a:rPr>
              <a:t>أدخل البريد الإلكتروني وكلمة المرور.</a:t>
            </a:r>
            <a:endParaRPr lang="en-US" sz="1350" dirty="0"/>
          </a:p>
        </p:txBody>
      </p:sp>
      <p:sp>
        <p:nvSpPr>
          <p:cNvPr id="14" name="Shape 11"/>
          <p:cNvSpPr/>
          <p:nvPr/>
        </p:nvSpPr>
        <p:spPr>
          <a:xfrm>
            <a:off x="10874959" y="4096512"/>
            <a:ext cx="384048" cy="384048"/>
          </a:xfrm>
          <a:prstGeom prst="ellipse">
            <a:avLst/>
          </a:prstGeom>
          <a:solidFill>
            <a:srgbClr val="F7E8E9"/>
          </a:solidFill>
          <a:ln w="12700">
            <a:solidFill>
              <a:srgbClr val="F7E8E9"/>
            </a:solidFill>
            <a:prstDash val="solid"/>
          </a:ln>
        </p:spPr>
        <p:txBody>
          <a:bodyPr/>
          <a:lstStyle/>
          <a:p>
            <a:endParaRPr lang="en-US"/>
          </a:p>
        </p:txBody>
      </p:sp>
      <p:sp>
        <p:nvSpPr>
          <p:cNvPr id="15" name="Text 12"/>
          <p:cNvSpPr txBox="1"/>
          <p:nvPr/>
        </p:nvSpPr>
        <p:spPr>
          <a:xfrm>
            <a:off x="10874959" y="4096512"/>
            <a:ext cx="384048" cy="384048"/>
          </a:xfrm>
          <a:prstGeom prst="rect">
            <a:avLst/>
          </a:prstGeom>
          <a:noFill/>
          <a:ln/>
        </p:spPr>
        <p:txBody>
          <a:bodyPr wrap="square" lIns="0" tIns="0" rIns="0" bIns="0" rtlCol="0" anchor="ctr"/>
          <a:lstStyle/>
          <a:p>
            <a:pPr marL="0" indent="0" algn="ctr">
              <a:buNone/>
            </a:pPr>
            <a:r>
              <a:rPr lang="en-US" sz="1100" b="1" dirty="0">
                <a:solidFill>
                  <a:srgbClr val="C2151C"/>
                </a:solidFill>
                <a:latin typeface="Segoe UI" pitchFamily="34" charset="0"/>
                <a:ea typeface="Segoe UI" pitchFamily="34" charset="-122"/>
                <a:cs typeface="Segoe UI" pitchFamily="34" charset="-120"/>
              </a:rPr>
              <a:t>3</a:t>
            </a:r>
            <a:endParaRPr lang="en-US" sz="1100" dirty="0"/>
          </a:p>
        </p:txBody>
      </p:sp>
      <p:sp>
        <p:nvSpPr>
          <p:cNvPr id="16" name="Text 13"/>
          <p:cNvSpPr txBox="1"/>
          <p:nvPr/>
        </p:nvSpPr>
        <p:spPr>
          <a:xfrm>
            <a:off x="6644488" y="4133088"/>
            <a:ext cx="4084167" cy="457200"/>
          </a:xfrm>
          <a:prstGeom prst="rect">
            <a:avLst/>
          </a:prstGeom>
          <a:noFill/>
          <a:ln/>
        </p:spPr>
        <p:txBody>
          <a:bodyPr wrap="square" lIns="0" tIns="0" rIns="0" bIns="0" rtlCol="0" anchor="t"/>
          <a:lstStyle/>
          <a:p>
            <a:pPr marL="0" indent="0" algn="r" rtl="1">
              <a:lnSpc>
                <a:spcPts val="1900"/>
              </a:lnSpc>
              <a:buNone/>
            </a:pPr>
            <a:r>
              <a:rPr lang="en-US" sz="1350" dirty="0">
                <a:solidFill>
                  <a:srgbClr val="414042"/>
                </a:solidFill>
                <a:latin typeface="Segoe UI" pitchFamily="34" charset="0"/>
                <a:ea typeface="Segoe UI" pitchFamily="34" charset="-122"/>
                <a:cs typeface="Segoe UI" pitchFamily="34" charset="-120"/>
              </a:rPr>
              <a:t>اضغط زر تسجيل الدخول.</a:t>
            </a:r>
            <a:endParaRPr lang="en-US" sz="1350" dirty="0"/>
          </a:p>
        </p:txBody>
      </p:sp>
      <p:sp>
        <p:nvSpPr>
          <p:cNvPr id="17" name="Shape 14"/>
          <p:cNvSpPr/>
          <p:nvPr/>
        </p:nvSpPr>
        <p:spPr>
          <a:xfrm>
            <a:off x="10874959" y="4700016"/>
            <a:ext cx="384048" cy="384048"/>
          </a:xfrm>
          <a:prstGeom prst="ellipse">
            <a:avLst/>
          </a:prstGeom>
          <a:solidFill>
            <a:srgbClr val="F7E8E9"/>
          </a:solidFill>
          <a:ln w="12700">
            <a:solidFill>
              <a:srgbClr val="F7E8E9"/>
            </a:solidFill>
            <a:prstDash val="solid"/>
          </a:ln>
        </p:spPr>
        <p:txBody>
          <a:bodyPr/>
          <a:lstStyle/>
          <a:p>
            <a:endParaRPr lang="en-US"/>
          </a:p>
        </p:txBody>
      </p:sp>
      <p:sp>
        <p:nvSpPr>
          <p:cNvPr id="18" name="Text 15"/>
          <p:cNvSpPr txBox="1"/>
          <p:nvPr/>
        </p:nvSpPr>
        <p:spPr>
          <a:xfrm>
            <a:off x="10874959" y="4700016"/>
            <a:ext cx="384048" cy="384048"/>
          </a:xfrm>
          <a:prstGeom prst="rect">
            <a:avLst/>
          </a:prstGeom>
          <a:noFill/>
          <a:ln/>
        </p:spPr>
        <p:txBody>
          <a:bodyPr wrap="square" lIns="0" tIns="0" rIns="0" bIns="0" rtlCol="0" anchor="ctr"/>
          <a:lstStyle/>
          <a:p>
            <a:pPr marL="0" indent="0" algn="ctr">
              <a:buNone/>
            </a:pPr>
            <a:r>
              <a:rPr lang="en-US" sz="1100" b="1" dirty="0">
                <a:solidFill>
                  <a:srgbClr val="C2151C"/>
                </a:solidFill>
                <a:latin typeface="Segoe UI" pitchFamily="34" charset="0"/>
                <a:ea typeface="Segoe UI" pitchFamily="34" charset="-122"/>
                <a:cs typeface="Segoe UI" pitchFamily="34" charset="-120"/>
              </a:rPr>
              <a:t>4</a:t>
            </a:r>
            <a:endParaRPr lang="en-US" sz="1100" dirty="0"/>
          </a:p>
        </p:txBody>
      </p:sp>
      <p:sp>
        <p:nvSpPr>
          <p:cNvPr id="19" name="Text 16"/>
          <p:cNvSpPr txBox="1"/>
          <p:nvPr/>
        </p:nvSpPr>
        <p:spPr>
          <a:xfrm>
            <a:off x="6644488" y="4736592"/>
            <a:ext cx="4084167" cy="457200"/>
          </a:xfrm>
          <a:prstGeom prst="rect">
            <a:avLst/>
          </a:prstGeom>
          <a:noFill/>
          <a:ln/>
        </p:spPr>
        <p:txBody>
          <a:bodyPr wrap="square" lIns="0" tIns="0" rIns="0" bIns="0" rtlCol="0" anchor="t"/>
          <a:lstStyle/>
          <a:p>
            <a:pPr marL="0" indent="0" algn="r" rtl="1">
              <a:lnSpc>
                <a:spcPts val="1900"/>
              </a:lnSpc>
              <a:buNone/>
            </a:pPr>
            <a:r>
              <a:rPr lang="en-US" sz="1350" dirty="0">
                <a:solidFill>
                  <a:srgbClr val="414042"/>
                </a:solidFill>
                <a:latin typeface="Segoe UI" pitchFamily="34" charset="0"/>
                <a:ea typeface="Segoe UI" pitchFamily="34" charset="-122"/>
                <a:cs typeface="Segoe UI" pitchFamily="34" charset="-120"/>
              </a:rPr>
              <a:t>نسيت كلمة المرور؟ استخدم رابط الاستعادة عبر بريدك.</a:t>
            </a:r>
            <a:endParaRPr lang="en-US" sz="1350" dirty="0"/>
          </a:p>
        </p:txBody>
      </p:sp>
      <p:sp>
        <p:nvSpPr>
          <p:cNvPr id="20" name="Shape 17"/>
          <p:cNvSpPr/>
          <p:nvPr/>
        </p:nvSpPr>
        <p:spPr>
          <a:xfrm>
            <a:off x="6644488" y="5285232"/>
            <a:ext cx="4614520" cy="640080"/>
          </a:xfrm>
          <a:prstGeom prst="roundRect">
            <a:avLst>
              <a:gd name="adj" fmla="val 10000"/>
            </a:avLst>
          </a:prstGeom>
          <a:solidFill>
            <a:srgbClr val="F7E8E9"/>
          </a:solidFill>
          <a:ln w="12700">
            <a:solidFill>
              <a:srgbClr val="F7E8E9"/>
            </a:solidFill>
            <a:prstDash val="solid"/>
          </a:ln>
        </p:spPr>
        <p:txBody>
          <a:bodyPr/>
          <a:lstStyle/>
          <a:p>
            <a:endParaRPr lang="en-US"/>
          </a:p>
        </p:txBody>
      </p:sp>
      <p:sp>
        <p:nvSpPr>
          <p:cNvPr id="21" name="Text 18"/>
          <p:cNvSpPr txBox="1"/>
          <p:nvPr/>
        </p:nvSpPr>
        <p:spPr>
          <a:xfrm>
            <a:off x="6827368" y="5285232"/>
            <a:ext cx="4248760" cy="640080"/>
          </a:xfrm>
          <a:prstGeom prst="rect">
            <a:avLst/>
          </a:prstGeom>
          <a:noFill/>
          <a:ln/>
        </p:spPr>
        <p:txBody>
          <a:bodyPr wrap="square" lIns="0" tIns="0" rIns="0" bIns="0" rtlCol="0" anchor="ctr"/>
          <a:lstStyle/>
          <a:p>
            <a:pPr marL="0" indent="0" algn="r" rtl="1">
              <a:lnSpc>
                <a:spcPts val="1700"/>
              </a:lnSpc>
              <a:buNone/>
            </a:pPr>
            <a:r>
              <a:rPr lang="en-US" sz="1250" b="1" dirty="0">
                <a:solidFill>
                  <a:srgbClr val="A51218"/>
                </a:solidFill>
                <a:latin typeface="Segoe UI" pitchFamily="34" charset="0"/>
                <a:ea typeface="Segoe UI" pitchFamily="34" charset="-122"/>
                <a:cs typeface="Segoe UI" pitchFamily="34" charset="-120"/>
              </a:rPr>
              <a:t>على الأجهزة المشتركة، سجّل الخروج دائماً من القائمة أعلى الصفحة.</a:t>
            </a:r>
            <a:endParaRPr lang="en-US" sz="1250" dirty="0"/>
          </a:p>
        </p:txBody>
      </p:sp>
      <p:sp>
        <p:nvSpPr>
          <p:cNvPr id="22" name="Shape 19"/>
          <p:cNvSpPr/>
          <p:nvPr/>
        </p:nvSpPr>
        <p:spPr>
          <a:xfrm>
            <a:off x="566928" y="1828800"/>
            <a:ext cx="5346040" cy="4297680"/>
          </a:xfrm>
          <a:prstGeom prst="roundRect">
            <a:avLst>
              <a:gd name="adj" fmla="val 2128"/>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23" name="Shape 20"/>
          <p:cNvSpPr/>
          <p:nvPr/>
        </p:nvSpPr>
        <p:spPr>
          <a:xfrm>
            <a:off x="5016856" y="2157984"/>
            <a:ext cx="530352" cy="530352"/>
          </a:xfrm>
          <a:prstGeom prst="ellipse">
            <a:avLst/>
          </a:prstGeom>
          <a:solidFill>
            <a:srgbClr val="C2151C"/>
          </a:solidFill>
          <a:ln w="12700">
            <a:solidFill>
              <a:srgbClr val="C2151C"/>
            </a:solidFill>
            <a:prstDash val="solid"/>
          </a:ln>
        </p:spPr>
        <p:txBody>
          <a:bodyPr/>
          <a:lstStyle/>
          <a:p>
            <a:endParaRPr lang="en-US"/>
          </a:p>
        </p:txBody>
      </p:sp>
      <p:pic>
        <p:nvPicPr>
          <p:cNvPr id="24" name="Image 1" descr="preencoded.png"/>
          <p:cNvPicPr>
            <a:picLocks noChangeAspect="1"/>
          </p:cNvPicPr>
          <p:nvPr/>
        </p:nvPicPr>
        <p:blipFill>
          <a:blip r:embed="rId4"/>
          <a:stretch>
            <a:fillRect/>
          </a:stretch>
        </p:blipFill>
        <p:spPr>
          <a:xfrm>
            <a:off x="5149444" y="2290572"/>
            <a:ext cx="265176" cy="265176"/>
          </a:xfrm>
          <a:prstGeom prst="rect">
            <a:avLst/>
          </a:prstGeom>
        </p:spPr>
      </p:pic>
      <p:sp>
        <p:nvSpPr>
          <p:cNvPr id="25" name="Text 21"/>
          <p:cNvSpPr txBox="1"/>
          <p:nvPr/>
        </p:nvSpPr>
        <p:spPr>
          <a:xfrm>
            <a:off x="932688" y="2231136"/>
            <a:ext cx="3883000" cy="365760"/>
          </a:xfrm>
          <a:prstGeom prst="rect">
            <a:avLst/>
          </a:prstGeom>
          <a:noFill/>
          <a:ln/>
        </p:spPr>
        <p:txBody>
          <a:bodyPr wrap="square" lIns="0" tIns="0" rIns="0" bIns="0" rtlCol="0" anchor="t"/>
          <a:lstStyle/>
          <a:p>
            <a:pPr marL="0" indent="0" algn="r" rtl="1">
              <a:buNone/>
            </a:pPr>
            <a:r>
              <a:rPr lang="en-US" sz="2100" b="1" dirty="0">
                <a:solidFill>
                  <a:srgbClr val="2B2A2C"/>
                </a:solidFill>
                <a:latin typeface="Segoe UI" pitchFamily="34" charset="0"/>
                <a:ea typeface="Segoe UI" pitchFamily="34" charset="-122"/>
                <a:cs typeface="Segoe UI" pitchFamily="34" charset="-120"/>
              </a:rPr>
              <a:t>ما تراه في لوحة التحكم</a:t>
            </a:r>
            <a:endParaRPr lang="en-US" sz="2100" dirty="0"/>
          </a:p>
        </p:txBody>
      </p:sp>
      <p:sp>
        <p:nvSpPr>
          <p:cNvPr id="26" name="Shape 22"/>
          <p:cNvSpPr/>
          <p:nvPr/>
        </p:nvSpPr>
        <p:spPr>
          <a:xfrm>
            <a:off x="5428336" y="2990088"/>
            <a:ext cx="118872" cy="118872"/>
          </a:xfrm>
          <a:prstGeom prst="ellipse">
            <a:avLst/>
          </a:prstGeom>
          <a:solidFill>
            <a:srgbClr val="C2151C"/>
          </a:solidFill>
          <a:ln w="12700">
            <a:solidFill>
              <a:srgbClr val="C2151C"/>
            </a:solidFill>
            <a:prstDash val="solid"/>
          </a:ln>
        </p:spPr>
        <p:txBody>
          <a:bodyPr/>
          <a:lstStyle/>
          <a:p>
            <a:endParaRPr lang="en-US"/>
          </a:p>
        </p:txBody>
      </p:sp>
      <p:sp>
        <p:nvSpPr>
          <p:cNvPr id="27" name="Text 23"/>
          <p:cNvSpPr txBox="1"/>
          <p:nvPr/>
        </p:nvSpPr>
        <p:spPr>
          <a:xfrm>
            <a:off x="932688" y="2889504"/>
            <a:ext cx="4385920" cy="274320"/>
          </a:xfrm>
          <a:prstGeom prst="rect">
            <a:avLst/>
          </a:prstGeom>
          <a:noFill/>
          <a:ln/>
        </p:spPr>
        <p:txBody>
          <a:bodyPr wrap="square" lIns="0" tIns="0" rIns="0" bIns="0" rtlCol="0" anchor="t"/>
          <a:lstStyle/>
          <a:p>
            <a:pPr marL="0" indent="0" algn="r" rtl="1">
              <a:buNone/>
            </a:pPr>
            <a:r>
              <a:rPr lang="en-US" sz="1400" b="1" dirty="0">
                <a:solidFill>
                  <a:srgbClr val="2B2A2C"/>
                </a:solidFill>
                <a:latin typeface="Segoe UI" pitchFamily="34" charset="0"/>
                <a:ea typeface="Segoe UI" pitchFamily="34" charset="-122"/>
                <a:cs typeface="Segoe UI" pitchFamily="34" charset="-120"/>
              </a:rPr>
              <a:t>ملخّص ملفك الشخصي</a:t>
            </a:r>
            <a:endParaRPr lang="en-US" sz="1400" dirty="0"/>
          </a:p>
        </p:txBody>
      </p:sp>
      <p:sp>
        <p:nvSpPr>
          <p:cNvPr id="28" name="Text 24"/>
          <p:cNvSpPr txBox="1"/>
          <p:nvPr/>
        </p:nvSpPr>
        <p:spPr>
          <a:xfrm>
            <a:off x="932688" y="3163824"/>
            <a:ext cx="4385920" cy="274320"/>
          </a:xfrm>
          <a:prstGeom prst="rect">
            <a:avLst/>
          </a:prstGeom>
          <a:noFill/>
          <a:ln/>
        </p:spPr>
        <p:txBody>
          <a:bodyPr wrap="square" lIns="0" tIns="0" rIns="0" bIns="0" rtlCol="0" anchor="t"/>
          <a:lstStyle/>
          <a:p>
            <a:pPr marL="0" indent="0" algn="r" rtl="1">
              <a:buNone/>
            </a:pPr>
            <a:r>
              <a:rPr lang="en-US" sz="1200" dirty="0">
                <a:solidFill>
                  <a:srgbClr val="6D6E71"/>
                </a:solidFill>
                <a:latin typeface="Segoe UI" pitchFamily="34" charset="0"/>
                <a:ea typeface="Segoe UI" pitchFamily="34" charset="-122"/>
                <a:cs typeface="Segoe UI" pitchFamily="34" charset="-120"/>
              </a:rPr>
              <a:t>المسمّى الوظيفي والقسم وتاريخ الالتحاق</a:t>
            </a:r>
            <a:endParaRPr lang="en-US" sz="1200" dirty="0"/>
          </a:p>
        </p:txBody>
      </p:sp>
      <p:sp>
        <p:nvSpPr>
          <p:cNvPr id="29" name="Shape 25"/>
          <p:cNvSpPr/>
          <p:nvPr/>
        </p:nvSpPr>
        <p:spPr>
          <a:xfrm>
            <a:off x="5428336" y="3630168"/>
            <a:ext cx="118872" cy="118872"/>
          </a:xfrm>
          <a:prstGeom prst="ellipse">
            <a:avLst/>
          </a:prstGeom>
          <a:solidFill>
            <a:srgbClr val="C2151C"/>
          </a:solidFill>
          <a:ln w="12700">
            <a:solidFill>
              <a:srgbClr val="C2151C"/>
            </a:solidFill>
            <a:prstDash val="solid"/>
          </a:ln>
        </p:spPr>
        <p:txBody>
          <a:bodyPr/>
          <a:lstStyle/>
          <a:p>
            <a:endParaRPr lang="en-US"/>
          </a:p>
        </p:txBody>
      </p:sp>
      <p:sp>
        <p:nvSpPr>
          <p:cNvPr id="30" name="Text 26"/>
          <p:cNvSpPr txBox="1"/>
          <p:nvPr/>
        </p:nvSpPr>
        <p:spPr>
          <a:xfrm>
            <a:off x="932688" y="3529584"/>
            <a:ext cx="4385920" cy="274320"/>
          </a:xfrm>
          <a:prstGeom prst="rect">
            <a:avLst/>
          </a:prstGeom>
          <a:noFill/>
          <a:ln/>
        </p:spPr>
        <p:txBody>
          <a:bodyPr wrap="square" lIns="0" tIns="0" rIns="0" bIns="0" rtlCol="0" anchor="t"/>
          <a:lstStyle/>
          <a:p>
            <a:pPr marL="0" indent="0" algn="r" rtl="1">
              <a:buNone/>
            </a:pPr>
            <a:r>
              <a:rPr lang="en-US" sz="1400" b="1" dirty="0">
                <a:solidFill>
                  <a:srgbClr val="2B2A2C"/>
                </a:solidFill>
                <a:latin typeface="Segoe UI" pitchFamily="34" charset="0"/>
                <a:ea typeface="Segoe UI" pitchFamily="34" charset="-122"/>
                <a:cs typeface="Segoe UI" pitchFamily="34" charset="-120"/>
              </a:rPr>
              <a:t>أحداث اليوم</a:t>
            </a:r>
            <a:endParaRPr lang="en-US" sz="1400" dirty="0"/>
          </a:p>
        </p:txBody>
      </p:sp>
      <p:sp>
        <p:nvSpPr>
          <p:cNvPr id="31" name="Text 27"/>
          <p:cNvSpPr txBox="1"/>
          <p:nvPr/>
        </p:nvSpPr>
        <p:spPr>
          <a:xfrm>
            <a:off x="932688" y="3803904"/>
            <a:ext cx="4385920" cy="274320"/>
          </a:xfrm>
          <a:prstGeom prst="rect">
            <a:avLst/>
          </a:prstGeom>
          <a:noFill/>
          <a:ln/>
        </p:spPr>
        <p:txBody>
          <a:bodyPr wrap="square" lIns="0" tIns="0" rIns="0" bIns="0" rtlCol="0" anchor="t"/>
          <a:lstStyle/>
          <a:p>
            <a:pPr marL="0" indent="0" algn="r" rtl="1">
              <a:buNone/>
            </a:pPr>
            <a:r>
              <a:rPr lang="en-US" sz="1200" dirty="0">
                <a:solidFill>
                  <a:srgbClr val="6D6E71"/>
                </a:solidFill>
                <a:latin typeface="Segoe UI" pitchFamily="34" charset="0"/>
                <a:ea typeface="Segoe UI" pitchFamily="34" charset="-122"/>
                <a:cs typeface="Segoe UI" pitchFamily="34" charset="-120"/>
              </a:rPr>
              <a:t>أعياد الميلاد والمناسبات والأخبار المنشورة</a:t>
            </a:r>
            <a:endParaRPr lang="en-US" sz="1200" dirty="0"/>
          </a:p>
        </p:txBody>
      </p:sp>
      <p:sp>
        <p:nvSpPr>
          <p:cNvPr id="32" name="Shape 28"/>
          <p:cNvSpPr/>
          <p:nvPr/>
        </p:nvSpPr>
        <p:spPr>
          <a:xfrm>
            <a:off x="5428336" y="4270248"/>
            <a:ext cx="118872" cy="118872"/>
          </a:xfrm>
          <a:prstGeom prst="ellipse">
            <a:avLst/>
          </a:prstGeom>
          <a:solidFill>
            <a:srgbClr val="C2151C"/>
          </a:solidFill>
          <a:ln w="12700">
            <a:solidFill>
              <a:srgbClr val="C2151C"/>
            </a:solidFill>
            <a:prstDash val="solid"/>
          </a:ln>
        </p:spPr>
        <p:txBody>
          <a:bodyPr/>
          <a:lstStyle/>
          <a:p>
            <a:endParaRPr lang="en-US"/>
          </a:p>
        </p:txBody>
      </p:sp>
      <p:sp>
        <p:nvSpPr>
          <p:cNvPr id="33" name="Text 29"/>
          <p:cNvSpPr txBox="1"/>
          <p:nvPr/>
        </p:nvSpPr>
        <p:spPr>
          <a:xfrm>
            <a:off x="932688" y="4169664"/>
            <a:ext cx="4385920" cy="274320"/>
          </a:xfrm>
          <a:prstGeom prst="rect">
            <a:avLst/>
          </a:prstGeom>
          <a:noFill/>
          <a:ln/>
        </p:spPr>
        <p:txBody>
          <a:bodyPr wrap="square" lIns="0" tIns="0" rIns="0" bIns="0" rtlCol="0" anchor="t"/>
          <a:lstStyle/>
          <a:p>
            <a:pPr marL="0" indent="0" algn="r" rtl="1">
              <a:buNone/>
            </a:pPr>
            <a:r>
              <a:rPr lang="en-US" sz="1400" b="1" dirty="0">
                <a:solidFill>
                  <a:srgbClr val="2B2A2C"/>
                </a:solidFill>
                <a:latin typeface="Segoe UI" pitchFamily="34" charset="0"/>
                <a:ea typeface="Segoe UI" pitchFamily="34" charset="-122"/>
                <a:cs typeface="Segoe UI" pitchFamily="34" charset="-120"/>
              </a:rPr>
              <a:t>رصيد إجازاتك</a:t>
            </a:r>
            <a:endParaRPr lang="en-US" sz="1400" dirty="0"/>
          </a:p>
        </p:txBody>
      </p:sp>
      <p:sp>
        <p:nvSpPr>
          <p:cNvPr id="34" name="Text 30"/>
          <p:cNvSpPr txBox="1"/>
          <p:nvPr/>
        </p:nvSpPr>
        <p:spPr>
          <a:xfrm>
            <a:off x="932688" y="4443984"/>
            <a:ext cx="4385920" cy="274320"/>
          </a:xfrm>
          <a:prstGeom prst="rect">
            <a:avLst/>
          </a:prstGeom>
          <a:noFill/>
          <a:ln/>
        </p:spPr>
        <p:txBody>
          <a:bodyPr wrap="square" lIns="0" tIns="0" rIns="0" bIns="0" rtlCol="0" anchor="t"/>
          <a:lstStyle/>
          <a:p>
            <a:pPr marL="0" indent="0" algn="r" rtl="1">
              <a:buNone/>
            </a:pPr>
            <a:r>
              <a:rPr lang="en-US" sz="1200" dirty="0">
                <a:solidFill>
                  <a:srgbClr val="6D6E71"/>
                </a:solidFill>
                <a:latin typeface="Segoe UI" pitchFamily="34" charset="0"/>
                <a:ea typeface="Segoe UI" pitchFamily="34" charset="-122"/>
                <a:cs typeface="Segoe UI" pitchFamily="34" charset="-120"/>
              </a:rPr>
              <a:t>بطاقة لكل نوع إجازة مع المتبقّي منها</a:t>
            </a:r>
            <a:endParaRPr lang="en-US" sz="1200" dirty="0"/>
          </a:p>
        </p:txBody>
      </p:sp>
      <p:sp>
        <p:nvSpPr>
          <p:cNvPr id="35" name="Shape 31"/>
          <p:cNvSpPr/>
          <p:nvPr/>
        </p:nvSpPr>
        <p:spPr>
          <a:xfrm>
            <a:off x="5428336" y="4910328"/>
            <a:ext cx="118872" cy="118872"/>
          </a:xfrm>
          <a:prstGeom prst="ellipse">
            <a:avLst/>
          </a:prstGeom>
          <a:solidFill>
            <a:srgbClr val="C2151C"/>
          </a:solidFill>
          <a:ln w="12700">
            <a:solidFill>
              <a:srgbClr val="C2151C"/>
            </a:solidFill>
            <a:prstDash val="solid"/>
          </a:ln>
        </p:spPr>
        <p:txBody>
          <a:bodyPr/>
          <a:lstStyle/>
          <a:p>
            <a:endParaRPr lang="en-US"/>
          </a:p>
        </p:txBody>
      </p:sp>
      <p:sp>
        <p:nvSpPr>
          <p:cNvPr id="36" name="Text 32"/>
          <p:cNvSpPr txBox="1"/>
          <p:nvPr/>
        </p:nvSpPr>
        <p:spPr>
          <a:xfrm>
            <a:off x="932688" y="4809744"/>
            <a:ext cx="4385920" cy="274320"/>
          </a:xfrm>
          <a:prstGeom prst="rect">
            <a:avLst/>
          </a:prstGeom>
          <a:noFill/>
          <a:ln/>
        </p:spPr>
        <p:txBody>
          <a:bodyPr wrap="square" lIns="0" tIns="0" rIns="0" bIns="0" rtlCol="0" anchor="t"/>
          <a:lstStyle/>
          <a:p>
            <a:pPr marL="0" indent="0" algn="r" rtl="1">
              <a:buNone/>
            </a:pPr>
            <a:r>
              <a:rPr lang="en-US" sz="1400" b="1" dirty="0">
                <a:solidFill>
                  <a:srgbClr val="2B2A2C"/>
                </a:solidFill>
                <a:latin typeface="Segoe UI" pitchFamily="34" charset="0"/>
                <a:ea typeface="Segoe UI" pitchFamily="34" charset="-122"/>
                <a:cs typeface="Segoe UI" pitchFamily="34" charset="-120"/>
              </a:rPr>
              <a:t>المهام المعلّقة</a:t>
            </a:r>
            <a:endParaRPr lang="en-US" sz="1400" dirty="0"/>
          </a:p>
        </p:txBody>
      </p:sp>
      <p:sp>
        <p:nvSpPr>
          <p:cNvPr id="37" name="Text 33"/>
          <p:cNvSpPr txBox="1"/>
          <p:nvPr/>
        </p:nvSpPr>
        <p:spPr>
          <a:xfrm>
            <a:off x="932688" y="5084064"/>
            <a:ext cx="4385920" cy="274320"/>
          </a:xfrm>
          <a:prstGeom prst="rect">
            <a:avLst/>
          </a:prstGeom>
          <a:noFill/>
          <a:ln/>
        </p:spPr>
        <p:txBody>
          <a:bodyPr wrap="square" lIns="0" tIns="0" rIns="0" bIns="0" rtlCol="0" anchor="t"/>
          <a:lstStyle/>
          <a:p>
            <a:pPr marL="0" indent="0" algn="r" rtl="1">
              <a:buNone/>
            </a:pPr>
            <a:r>
              <a:rPr lang="en-US" sz="1200" dirty="0">
                <a:solidFill>
                  <a:srgbClr val="6D6E71"/>
                </a:solidFill>
                <a:latin typeface="Segoe UI" pitchFamily="34" charset="0"/>
                <a:ea typeface="Segoe UI" pitchFamily="34" charset="-122"/>
                <a:cs typeface="Segoe UI" pitchFamily="34" charset="-120"/>
              </a:rPr>
              <a:t>الطلبات والعناصر التي تنتظر إجراءً منك</a:t>
            </a:r>
            <a:endParaRPr lang="en-US" sz="1200" dirty="0"/>
          </a:p>
        </p:txBody>
      </p:sp>
      <p:sp>
        <p:nvSpPr>
          <p:cNvPr id="38" name="Shape 34"/>
          <p:cNvSpPr/>
          <p:nvPr/>
        </p:nvSpPr>
        <p:spPr>
          <a:xfrm>
            <a:off x="5428336" y="5550408"/>
            <a:ext cx="118872" cy="118872"/>
          </a:xfrm>
          <a:prstGeom prst="ellipse">
            <a:avLst/>
          </a:prstGeom>
          <a:solidFill>
            <a:srgbClr val="C2151C"/>
          </a:solidFill>
          <a:ln w="12700">
            <a:solidFill>
              <a:srgbClr val="C2151C"/>
            </a:solidFill>
            <a:prstDash val="solid"/>
          </a:ln>
        </p:spPr>
        <p:txBody>
          <a:bodyPr/>
          <a:lstStyle/>
          <a:p>
            <a:endParaRPr lang="en-US"/>
          </a:p>
        </p:txBody>
      </p:sp>
      <p:sp>
        <p:nvSpPr>
          <p:cNvPr id="39" name="Text 35"/>
          <p:cNvSpPr txBox="1"/>
          <p:nvPr/>
        </p:nvSpPr>
        <p:spPr>
          <a:xfrm>
            <a:off x="932688" y="5449824"/>
            <a:ext cx="4385920" cy="274320"/>
          </a:xfrm>
          <a:prstGeom prst="rect">
            <a:avLst/>
          </a:prstGeom>
          <a:noFill/>
          <a:ln/>
        </p:spPr>
        <p:txBody>
          <a:bodyPr wrap="square" lIns="0" tIns="0" rIns="0" bIns="0" rtlCol="0" anchor="t"/>
          <a:lstStyle/>
          <a:p>
            <a:pPr marL="0" indent="0" algn="r" rtl="1">
              <a:buNone/>
            </a:pPr>
            <a:r>
              <a:rPr lang="en-US" sz="1400" b="1" dirty="0">
                <a:solidFill>
                  <a:srgbClr val="2B2A2C"/>
                </a:solidFill>
                <a:latin typeface="Segoe UI" pitchFamily="34" charset="0"/>
                <a:ea typeface="Segoe UI" pitchFamily="34" charset="-122"/>
                <a:cs typeface="Segoe UI" pitchFamily="34" charset="-120"/>
              </a:rPr>
              <a:t>فريقك وشاراتك</a:t>
            </a:r>
            <a:endParaRPr lang="en-US" sz="1400" dirty="0"/>
          </a:p>
        </p:txBody>
      </p:sp>
      <p:sp>
        <p:nvSpPr>
          <p:cNvPr id="40" name="Text 36"/>
          <p:cNvSpPr txBox="1"/>
          <p:nvPr/>
        </p:nvSpPr>
        <p:spPr>
          <a:xfrm>
            <a:off x="932688" y="5724144"/>
            <a:ext cx="4385920" cy="274320"/>
          </a:xfrm>
          <a:prstGeom prst="rect">
            <a:avLst/>
          </a:prstGeom>
          <a:noFill/>
          <a:ln/>
        </p:spPr>
        <p:txBody>
          <a:bodyPr wrap="square" lIns="0" tIns="0" rIns="0" bIns="0" rtlCol="0" anchor="t"/>
          <a:lstStyle/>
          <a:p>
            <a:pPr marL="0" indent="0" algn="r" rtl="1">
              <a:buNone/>
            </a:pPr>
            <a:r>
              <a:rPr lang="en-US" sz="1200" dirty="0">
                <a:solidFill>
                  <a:srgbClr val="6D6E71"/>
                </a:solidFill>
                <a:latin typeface="Segoe UI" pitchFamily="34" charset="0"/>
                <a:ea typeface="Segoe UI" pitchFamily="34" charset="-122"/>
                <a:cs typeface="Segoe UI" pitchFamily="34" charset="-120"/>
              </a:rPr>
              <a:t>أعضاء الفريق وشارات التقدير الممنوحة</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6"/>
        </a:solidFill>
        <a:effectLst/>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t"/>
          <a:lstStyle/>
          <a:p>
            <a:pPr marL="0" indent="0" algn="r" rtl="1">
              <a:buNone/>
            </a:pPr>
            <a:r>
              <a:rPr lang="en-US" sz="1250" b="1" kern="0" spc="100" dirty="0">
                <a:solidFill>
                  <a:srgbClr val="C2151C"/>
                </a:solidFill>
                <a:latin typeface="Segoe UI" pitchFamily="34" charset="0"/>
                <a:ea typeface="Segoe UI" pitchFamily="34" charset="-122"/>
                <a:cs typeface="Segoe UI" pitchFamily="34" charset="-120"/>
              </a:rPr>
              <a:t>الصلاحيات</a:t>
            </a:r>
            <a:endParaRPr lang="en-US" sz="1250" dirty="0"/>
          </a:p>
        </p:txBody>
      </p:sp>
      <p:sp>
        <p:nvSpPr>
          <p:cNvPr id="3" name="Text 1"/>
          <p:cNvSpPr txBox="1"/>
          <p:nvPr/>
        </p:nvSpPr>
        <p:spPr>
          <a:xfrm>
            <a:off x="566928" y="713232"/>
            <a:ext cx="11057839" cy="658368"/>
          </a:xfrm>
          <a:prstGeom prst="rect">
            <a:avLst/>
          </a:prstGeom>
          <a:noFill/>
          <a:ln/>
        </p:spPr>
        <p:txBody>
          <a:bodyPr wrap="square" lIns="0" tIns="0" rIns="0" bIns="0" rtlCol="0" anchor="t"/>
          <a:lstStyle/>
          <a:p>
            <a:pPr marL="0" indent="0" algn="r" rtl="1">
              <a:buNone/>
            </a:pPr>
            <a:r>
              <a:rPr lang="en-US" sz="3300" b="1" dirty="0">
                <a:solidFill>
                  <a:srgbClr val="2B2A2C"/>
                </a:solidFill>
                <a:latin typeface="Segoe UI" pitchFamily="34" charset="0"/>
                <a:ea typeface="Segoe UI" pitchFamily="34" charset="-122"/>
                <a:cs typeface="Segoe UI" pitchFamily="34" charset="-120"/>
              </a:rPr>
              <a:t>الأدوار وصلاحية كل دور</a:t>
            </a:r>
            <a:endParaRPr lang="en-US" sz="3300" dirty="0"/>
          </a:p>
        </p:txBody>
      </p:sp>
      <p:sp>
        <p:nvSpPr>
          <p:cNvPr id="4" name="Shape 2"/>
          <p:cNvSpPr/>
          <p:nvPr/>
        </p:nvSpPr>
        <p:spPr>
          <a:xfrm>
            <a:off x="6260440" y="1810512"/>
            <a:ext cx="5364328" cy="859536"/>
          </a:xfrm>
          <a:prstGeom prst="roundRect">
            <a:avLst>
              <a:gd name="adj" fmla="val 10638"/>
            </a:avLst>
          </a:prstGeom>
          <a:solidFill>
            <a:srgbClr val="FFFFFF"/>
          </a:solidFill>
          <a:ln w="7620">
            <a:solidFill>
              <a:srgbClr val="DCDDDE"/>
            </a:solidFill>
            <a:prstDash val="solid"/>
          </a:ln>
          <a:effectLst>
            <a:outerShdw blurRad="101600" dist="38100" dir="5400000" algn="bl" rotWithShape="0">
              <a:srgbClr val="000000">
                <a:alpha val="6000"/>
              </a:srgbClr>
            </a:outerShdw>
          </a:effectLst>
        </p:spPr>
        <p:txBody>
          <a:bodyPr/>
          <a:lstStyle/>
          <a:p>
            <a:endParaRPr lang="en-US"/>
          </a:p>
        </p:txBody>
      </p:sp>
      <p:sp>
        <p:nvSpPr>
          <p:cNvPr id="5" name="Shape 3"/>
          <p:cNvSpPr/>
          <p:nvPr/>
        </p:nvSpPr>
        <p:spPr>
          <a:xfrm>
            <a:off x="9887407" y="1984248"/>
            <a:ext cx="1481328" cy="384048"/>
          </a:xfrm>
          <a:prstGeom prst="roundRect">
            <a:avLst>
              <a:gd name="adj" fmla="val 14286"/>
            </a:avLst>
          </a:prstGeom>
          <a:solidFill>
            <a:srgbClr val="C2151C"/>
          </a:solidFill>
          <a:ln w="12700">
            <a:solidFill>
              <a:srgbClr val="C2151C"/>
            </a:solidFill>
            <a:prstDash val="solid"/>
          </a:ln>
        </p:spPr>
        <p:txBody>
          <a:bodyPr/>
          <a:lstStyle/>
          <a:p>
            <a:endParaRPr lang="en-US"/>
          </a:p>
        </p:txBody>
      </p:sp>
      <p:sp>
        <p:nvSpPr>
          <p:cNvPr id="6" name="Text 4"/>
          <p:cNvSpPr txBox="1"/>
          <p:nvPr/>
        </p:nvSpPr>
        <p:spPr>
          <a:xfrm>
            <a:off x="9887407" y="1984248"/>
            <a:ext cx="148132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Super Admin</a:t>
            </a:r>
            <a:endParaRPr lang="en-US" sz="1050" dirty="0"/>
          </a:p>
        </p:txBody>
      </p:sp>
      <p:sp>
        <p:nvSpPr>
          <p:cNvPr id="7" name="Text 5"/>
          <p:cNvSpPr txBox="1"/>
          <p:nvPr/>
        </p:nvSpPr>
        <p:spPr>
          <a:xfrm>
            <a:off x="6516472" y="2048256"/>
            <a:ext cx="3032608" cy="457200"/>
          </a:xfrm>
          <a:prstGeom prst="rect">
            <a:avLst/>
          </a:prstGeom>
          <a:noFill/>
          <a:ln/>
        </p:spPr>
        <p:txBody>
          <a:bodyPr wrap="square" lIns="0" tIns="0" rIns="0" bIns="0" rtlCol="0" anchor="ctr"/>
          <a:lstStyle/>
          <a:p>
            <a:pPr marL="0" indent="0" algn="r" rtl="1">
              <a:lnSpc>
                <a:spcPts val="1800"/>
              </a:lnSpc>
              <a:buNone/>
            </a:pPr>
            <a:r>
              <a:rPr lang="en-US" sz="1300" dirty="0">
                <a:solidFill>
                  <a:srgbClr val="414042"/>
                </a:solidFill>
                <a:latin typeface="Segoe UI" pitchFamily="34" charset="0"/>
                <a:ea typeface="Segoe UI" pitchFamily="34" charset="-122"/>
                <a:cs typeface="Segoe UI" pitchFamily="34" charset="-120"/>
              </a:rPr>
              <a:t>صلاحيات كاملة على جميع أجزاء النظام وكل المحافظات.</a:t>
            </a:r>
            <a:endParaRPr lang="en-US" sz="1300" dirty="0"/>
          </a:p>
        </p:txBody>
      </p:sp>
      <p:sp>
        <p:nvSpPr>
          <p:cNvPr id="8" name="Shape 6"/>
          <p:cNvSpPr/>
          <p:nvPr/>
        </p:nvSpPr>
        <p:spPr>
          <a:xfrm>
            <a:off x="566928" y="1810512"/>
            <a:ext cx="5364328" cy="859536"/>
          </a:xfrm>
          <a:prstGeom prst="roundRect">
            <a:avLst>
              <a:gd name="adj" fmla="val 10638"/>
            </a:avLst>
          </a:prstGeom>
          <a:solidFill>
            <a:srgbClr val="FFFFFF"/>
          </a:solidFill>
          <a:ln w="7620">
            <a:solidFill>
              <a:srgbClr val="DCDDDE"/>
            </a:solidFill>
            <a:prstDash val="solid"/>
          </a:ln>
          <a:effectLst>
            <a:outerShdw blurRad="101600" dist="38100" dir="5400000" algn="bl" rotWithShape="0">
              <a:srgbClr val="000000">
                <a:alpha val="6000"/>
              </a:srgbClr>
            </a:outerShdw>
          </a:effectLst>
        </p:spPr>
        <p:txBody>
          <a:bodyPr/>
          <a:lstStyle/>
          <a:p>
            <a:endParaRPr lang="en-US"/>
          </a:p>
        </p:txBody>
      </p:sp>
      <p:sp>
        <p:nvSpPr>
          <p:cNvPr id="9" name="Shape 7"/>
          <p:cNvSpPr/>
          <p:nvPr/>
        </p:nvSpPr>
        <p:spPr>
          <a:xfrm>
            <a:off x="4193896" y="1984248"/>
            <a:ext cx="1481328" cy="384048"/>
          </a:xfrm>
          <a:prstGeom prst="roundRect">
            <a:avLst>
              <a:gd name="adj" fmla="val 14286"/>
            </a:avLst>
          </a:prstGeom>
          <a:solidFill>
            <a:srgbClr val="C2151C"/>
          </a:solidFill>
          <a:ln w="12700">
            <a:solidFill>
              <a:srgbClr val="C2151C"/>
            </a:solidFill>
            <a:prstDash val="solid"/>
          </a:ln>
        </p:spPr>
        <p:txBody>
          <a:bodyPr/>
          <a:lstStyle/>
          <a:p>
            <a:endParaRPr lang="en-US"/>
          </a:p>
        </p:txBody>
      </p:sp>
      <p:sp>
        <p:nvSpPr>
          <p:cNvPr id="10" name="Text 8"/>
          <p:cNvSpPr txBox="1"/>
          <p:nvPr/>
        </p:nvSpPr>
        <p:spPr>
          <a:xfrm>
            <a:off x="4193896" y="1984248"/>
            <a:ext cx="148132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HR</a:t>
            </a:r>
            <a:endParaRPr lang="en-US" sz="1050" dirty="0"/>
          </a:p>
        </p:txBody>
      </p:sp>
      <p:sp>
        <p:nvSpPr>
          <p:cNvPr id="11" name="Text 9"/>
          <p:cNvSpPr txBox="1"/>
          <p:nvPr/>
        </p:nvSpPr>
        <p:spPr>
          <a:xfrm>
            <a:off x="822960" y="2048256"/>
            <a:ext cx="3032608" cy="457200"/>
          </a:xfrm>
          <a:prstGeom prst="rect">
            <a:avLst/>
          </a:prstGeom>
          <a:noFill/>
          <a:ln/>
        </p:spPr>
        <p:txBody>
          <a:bodyPr wrap="square" lIns="0" tIns="0" rIns="0" bIns="0" rtlCol="0" anchor="ctr"/>
          <a:lstStyle/>
          <a:p>
            <a:pPr marL="0" indent="0" algn="r" rtl="1">
              <a:lnSpc>
                <a:spcPts val="1800"/>
              </a:lnSpc>
              <a:buNone/>
            </a:pPr>
            <a:r>
              <a:rPr lang="en-US" sz="1300" dirty="0">
                <a:solidFill>
                  <a:srgbClr val="414042"/>
                </a:solidFill>
                <a:latin typeface="Segoe UI" pitchFamily="34" charset="0"/>
                <a:ea typeface="Segoe UI" pitchFamily="34" charset="-122"/>
                <a:cs typeface="Segoe UI" pitchFamily="34" charset="-120"/>
              </a:rPr>
              <a:t>إدارة الموظفين والعقود والإجازات والإعدادات الأساسية.</a:t>
            </a:r>
            <a:endParaRPr lang="en-US" sz="1300" dirty="0"/>
          </a:p>
        </p:txBody>
      </p:sp>
      <p:sp>
        <p:nvSpPr>
          <p:cNvPr id="12" name="Shape 10"/>
          <p:cNvSpPr/>
          <p:nvPr/>
        </p:nvSpPr>
        <p:spPr>
          <a:xfrm>
            <a:off x="6260440" y="2889504"/>
            <a:ext cx="5364328" cy="859536"/>
          </a:xfrm>
          <a:prstGeom prst="roundRect">
            <a:avLst>
              <a:gd name="adj" fmla="val 10638"/>
            </a:avLst>
          </a:prstGeom>
          <a:solidFill>
            <a:srgbClr val="FFFFFF"/>
          </a:solidFill>
          <a:ln w="7620">
            <a:solidFill>
              <a:srgbClr val="DCDDDE"/>
            </a:solidFill>
            <a:prstDash val="solid"/>
          </a:ln>
          <a:effectLst>
            <a:outerShdw blurRad="101600" dist="38100" dir="5400000" algn="bl" rotWithShape="0">
              <a:srgbClr val="000000">
                <a:alpha val="6000"/>
              </a:srgbClr>
            </a:outerShdw>
          </a:effectLst>
        </p:spPr>
        <p:txBody>
          <a:bodyPr/>
          <a:lstStyle/>
          <a:p>
            <a:endParaRPr lang="en-US"/>
          </a:p>
        </p:txBody>
      </p:sp>
      <p:sp>
        <p:nvSpPr>
          <p:cNvPr id="13" name="Shape 11"/>
          <p:cNvSpPr/>
          <p:nvPr/>
        </p:nvSpPr>
        <p:spPr>
          <a:xfrm>
            <a:off x="9887407" y="3063240"/>
            <a:ext cx="1481328" cy="384048"/>
          </a:xfrm>
          <a:prstGeom prst="roundRect">
            <a:avLst>
              <a:gd name="adj" fmla="val 14286"/>
            </a:avLst>
          </a:prstGeom>
          <a:solidFill>
            <a:srgbClr val="C2151C"/>
          </a:solidFill>
          <a:ln w="12700">
            <a:solidFill>
              <a:srgbClr val="C2151C"/>
            </a:solidFill>
            <a:prstDash val="solid"/>
          </a:ln>
        </p:spPr>
        <p:txBody>
          <a:bodyPr/>
          <a:lstStyle/>
          <a:p>
            <a:endParaRPr lang="en-US"/>
          </a:p>
        </p:txBody>
      </p:sp>
      <p:sp>
        <p:nvSpPr>
          <p:cNvPr id="14" name="Text 12"/>
          <p:cNvSpPr txBox="1"/>
          <p:nvPr/>
        </p:nvSpPr>
        <p:spPr>
          <a:xfrm>
            <a:off x="9887407" y="3063240"/>
            <a:ext cx="148132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General Manager</a:t>
            </a:r>
            <a:endParaRPr lang="en-US" sz="1050" dirty="0"/>
          </a:p>
        </p:txBody>
      </p:sp>
      <p:sp>
        <p:nvSpPr>
          <p:cNvPr id="15" name="Text 13"/>
          <p:cNvSpPr txBox="1"/>
          <p:nvPr/>
        </p:nvSpPr>
        <p:spPr>
          <a:xfrm>
            <a:off x="6516472" y="3127248"/>
            <a:ext cx="3032608" cy="457200"/>
          </a:xfrm>
          <a:prstGeom prst="rect">
            <a:avLst/>
          </a:prstGeom>
          <a:noFill/>
          <a:ln/>
        </p:spPr>
        <p:txBody>
          <a:bodyPr wrap="square" lIns="0" tIns="0" rIns="0" bIns="0" rtlCol="0" anchor="ctr"/>
          <a:lstStyle/>
          <a:p>
            <a:pPr marL="0" indent="0" algn="r" rtl="1">
              <a:lnSpc>
                <a:spcPts val="1800"/>
              </a:lnSpc>
              <a:buNone/>
            </a:pPr>
            <a:r>
              <a:rPr lang="en-US" sz="1300" dirty="0">
                <a:solidFill>
                  <a:srgbClr val="414042"/>
                </a:solidFill>
                <a:latin typeface="Segoe UI" pitchFamily="34" charset="0"/>
                <a:ea typeface="Segoe UI" pitchFamily="34" charset="-122"/>
                <a:cs typeface="Segoe UI" pitchFamily="34" charset="-120"/>
              </a:rPr>
              <a:t>عرض الموظفين والعقود، ومتابعة الإجازات والبرامج.</a:t>
            </a:r>
            <a:endParaRPr lang="en-US" sz="1300" dirty="0"/>
          </a:p>
        </p:txBody>
      </p:sp>
      <p:sp>
        <p:nvSpPr>
          <p:cNvPr id="16" name="Shape 14"/>
          <p:cNvSpPr/>
          <p:nvPr/>
        </p:nvSpPr>
        <p:spPr>
          <a:xfrm>
            <a:off x="566928" y="2889504"/>
            <a:ext cx="5364328" cy="859536"/>
          </a:xfrm>
          <a:prstGeom prst="roundRect">
            <a:avLst>
              <a:gd name="adj" fmla="val 10638"/>
            </a:avLst>
          </a:prstGeom>
          <a:solidFill>
            <a:srgbClr val="FFFFFF"/>
          </a:solidFill>
          <a:ln w="7620">
            <a:solidFill>
              <a:srgbClr val="DCDDDE"/>
            </a:solidFill>
            <a:prstDash val="solid"/>
          </a:ln>
          <a:effectLst>
            <a:outerShdw blurRad="101600" dist="38100" dir="5400000" algn="bl" rotWithShape="0">
              <a:srgbClr val="000000">
                <a:alpha val="6000"/>
              </a:srgbClr>
            </a:outerShdw>
          </a:effectLst>
        </p:spPr>
        <p:txBody>
          <a:bodyPr/>
          <a:lstStyle/>
          <a:p>
            <a:endParaRPr lang="en-US"/>
          </a:p>
        </p:txBody>
      </p:sp>
      <p:sp>
        <p:nvSpPr>
          <p:cNvPr id="17" name="Shape 15"/>
          <p:cNvSpPr/>
          <p:nvPr/>
        </p:nvSpPr>
        <p:spPr>
          <a:xfrm>
            <a:off x="4193896" y="3063240"/>
            <a:ext cx="1481328" cy="384048"/>
          </a:xfrm>
          <a:prstGeom prst="roundRect">
            <a:avLst>
              <a:gd name="adj" fmla="val 14286"/>
            </a:avLst>
          </a:prstGeom>
          <a:solidFill>
            <a:srgbClr val="C2151C"/>
          </a:solidFill>
          <a:ln w="12700">
            <a:solidFill>
              <a:srgbClr val="C2151C"/>
            </a:solidFill>
            <a:prstDash val="solid"/>
          </a:ln>
        </p:spPr>
        <p:txBody>
          <a:bodyPr/>
          <a:lstStyle/>
          <a:p>
            <a:endParaRPr lang="en-US"/>
          </a:p>
        </p:txBody>
      </p:sp>
      <p:sp>
        <p:nvSpPr>
          <p:cNvPr id="18" name="Text 16"/>
          <p:cNvSpPr txBox="1"/>
          <p:nvPr/>
        </p:nvSpPr>
        <p:spPr>
          <a:xfrm>
            <a:off x="4193896" y="3063240"/>
            <a:ext cx="148132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Manager</a:t>
            </a:r>
            <a:endParaRPr lang="en-US" sz="1050" dirty="0"/>
          </a:p>
        </p:txBody>
      </p:sp>
      <p:sp>
        <p:nvSpPr>
          <p:cNvPr id="19" name="Text 17"/>
          <p:cNvSpPr txBox="1"/>
          <p:nvPr/>
        </p:nvSpPr>
        <p:spPr>
          <a:xfrm>
            <a:off x="822960" y="3127248"/>
            <a:ext cx="3032608" cy="457200"/>
          </a:xfrm>
          <a:prstGeom prst="rect">
            <a:avLst/>
          </a:prstGeom>
          <a:noFill/>
          <a:ln/>
        </p:spPr>
        <p:txBody>
          <a:bodyPr wrap="square" lIns="0" tIns="0" rIns="0" bIns="0" rtlCol="0" anchor="ctr"/>
          <a:lstStyle/>
          <a:p>
            <a:pPr marL="0" indent="0" algn="r" rtl="1">
              <a:lnSpc>
                <a:spcPts val="1800"/>
              </a:lnSpc>
              <a:buNone/>
            </a:pPr>
            <a:r>
              <a:rPr lang="en-US" sz="1300" dirty="0">
                <a:solidFill>
                  <a:srgbClr val="414042"/>
                </a:solidFill>
                <a:latin typeface="Segoe UI" pitchFamily="34" charset="0"/>
                <a:ea typeface="Segoe UI" pitchFamily="34" charset="-122"/>
                <a:cs typeface="Segoe UI" pitchFamily="34" charset="-120"/>
              </a:rPr>
              <a:t>متابعة إجازات الفريق، وإدارة البرامج، ونشر الأخبار.</a:t>
            </a:r>
            <a:endParaRPr lang="en-US" sz="1300" dirty="0"/>
          </a:p>
        </p:txBody>
      </p:sp>
      <p:sp>
        <p:nvSpPr>
          <p:cNvPr id="20" name="Shape 18"/>
          <p:cNvSpPr/>
          <p:nvPr/>
        </p:nvSpPr>
        <p:spPr>
          <a:xfrm>
            <a:off x="6260440" y="3968496"/>
            <a:ext cx="5364328" cy="859536"/>
          </a:xfrm>
          <a:prstGeom prst="roundRect">
            <a:avLst>
              <a:gd name="adj" fmla="val 10638"/>
            </a:avLst>
          </a:prstGeom>
          <a:solidFill>
            <a:srgbClr val="FFFFFF"/>
          </a:solidFill>
          <a:ln w="7620">
            <a:solidFill>
              <a:srgbClr val="DCDDDE"/>
            </a:solidFill>
            <a:prstDash val="solid"/>
          </a:ln>
          <a:effectLst>
            <a:outerShdw blurRad="101600" dist="38100" dir="5400000" algn="bl" rotWithShape="0">
              <a:srgbClr val="000000">
                <a:alpha val="6000"/>
              </a:srgbClr>
            </a:outerShdw>
          </a:effectLst>
        </p:spPr>
        <p:txBody>
          <a:bodyPr/>
          <a:lstStyle/>
          <a:p>
            <a:endParaRPr lang="en-US"/>
          </a:p>
        </p:txBody>
      </p:sp>
      <p:sp>
        <p:nvSpPr>
          <p:cNvPr id="21" name="Shape 19"/>
          <p:cNvSpPr/>
          <p:nvPr/>
        </p:nvSpPr>
        <p:spPr>
          <a:xfrm>
            <a:off x="9887407" y="4142232"/>
            <a:ext cx="1481328" cy="384048"/>
          </a:xfrm>
          <a:prstGeom prst="roundRect">
            <a:avLst>
              <a:gd name="adj" fmla="val 14286"/>
            </a:avLst>
          </a:prstGeom>
          <a:solidFill>
            <a:srgbClr val="C2151C"/>
          </a:solidFill>
          <a:ln w="12700">
            <a:solidFill>
              <a:srgbClr val="C2151C"/>
            </a:solidFill>
            <a:prstDash val="solid"/>
          </a:ln>
        </p:spPr>
        <p:txBody>
          <a:bodyPr/>
          <a:lstStyle/>
          <a:p>
            <a:endParaRPr lang="en-US"/>
          </a:p>
        </p:txBody>
      </p:sp>
      <p:sp>
        <p:nvSpPr>
          <p:cNvPr id="22" name="Text 20"/>
          <p:cNvSpPr txBox="1"/>
          <p:nvPr/>
        </p:nvSpPr>
        <p:spPr>
          <a:xfrm>
            <a:off x="9887407" y="4142232"/>
            <a:ext cx="148132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Employee</a:t>
            </a:r>
            <a:endParaRPr lang="en-US" sz="1050" dirty="0"/>
          </a:p>
        </p:txBody>
      </p:sp>
      <p:sp>
        <p:nvSpPr>
          <p:cNvPr id="23" name="Text 21"/>
          <p:cNvSpPr txBox="1"/>
          <p:nvPr/>
        </p:nvSpPr>
        <p:spPr>
          <a:xfrm>
            <a:off x="6516472" y="4206240"/>
            <a:ext cx="3032608" cy="457200"/>
          </a:xfrm>
          <a:prstGeom prst="rect">
            <a:avLst/>
          </a:prstGeom>
          <a:noFill/>
          <a:ln/>
        </p:spPr>
        <p:txBody>
          <a:bodyPr wrap="square" lIns="0" tIns="0" rIns="0" bIns="0" rtlCol="0" anchor="ctr"/>
          <a:lstStyle/>
          <a:p>
            <a:pPr marL="0" indent="0" algn="r" rtl="1">
              <a:lnSpc>
                <a:spcPts val="1800"/>
              </a:lnSpc>
              <a:buNone/>
            </a:pPr>
            <a:r>
              <a:rPr lang="en-US" sz="1300" dirty="0">
                <a:solidFill>
                  <a:srgbClr val="414042"/>
                </a:solidFill>
                <a:latin typeface="Segoe UI" pitchFamily="34" charset="0"/>
                <a:ea typeface="Segoe UI" pitchFamily="34" charset="-122"/>
                <a:cs typeface="Segoe UI" pitchFamily="34" charset="-120"/>
              </a:rPr>
              <a:t>الملف الشخصي وطلب الإجازات والملفات الخاصة به.</a:t>
            </a:r>
            <a:endParaRPr lang="en-US" sz="1300" dirty="0"/>
          </a:p>
        </p:txBody>
      </p:sp>
      <p:sp>
        <p:nvSpPr>
          <p:cNvPr id="24" name="Shape 22"/>
          <p:cNvSpPr/>
          <p:nvPr/>
        </p:nvSpPr>
        <p:spPr>
          <a:xfrm>
            <a:off x="566928" y="3968496"/>
            <a:ext cx="5364328" cy="859536"/>
          </a:xfrm>
          <a:prstGeom prst="roundRect">
            <a:avLst>
              <a:gd name="adj" fmla="val 10638"/>
            </a:avLst>
          </a:prstGeom>
          <a:solidFill>
            <a:srgbClr val="FFFFFF"/>
          </a:solidFill>
          <a:ln w="7620">
            <a:solidFill>
              <a:srgbClr val="DCDDDE"/>
            </a:solidFill>
            <a:prstDash val="solid"/>
          </a:ln>
          <a:effectLst>
            <a:outerShdw blurRad="101600" dist="38100" dir="5400000" algn="bl" rotWithShape="0">
              <a:srgbClr val="000000">
                <a:alpha val="6000"/>
              </a:srgbClr>
            </a:outerShdw>
          </a:effectLst>
        </p:spPr>
        <p:txBody>
          <a:bodyPr/>
          <a:lstStyle/>
          <a:p>
            <a:endParaRPr lang="en-US"/>
          </a:p>
        </p:txBody>
      </p:sp>
      <p:sp>
        <p:nvSpPr>
          <p:cNvPr id="25" name="Shape 23"/>
          <p:cNvSpPr/>
          <p:nvPr/>
        </p:nvSpPr>
        <p:spPr>
          <a:xfrm>
            <a:off x="4193896" y="4142232"/>
            <a:ext cx="1481328" cy="384048"/>
          </a:xfrm>
          <a:prstGeom prst="roundRect">
            <a:avLst>
              <a:gd name="adj" fmla="val 14286"/>
            </a:avLst>
          </a:prstGeom>
          <a:solidFill>
            <a:srgbClr val="C2151C"/>
          </a:solidFill>
          <a:ln w="12700">
            <a:solidFill>
              <a:srgbClr val="C2151C"/>
            </a:solidFill>
            <a:prstDash val="solid"/>
          </a:ln>
        </p:spPr>
        <p:txBody>
          <a:bodyPr/>
          <a:lstStyle/>
          <a:p>
            <a:endParaRPr lang="en-US"/>
          </a:p>
        </p:txBody>
      </p:sp>
      <p:sp>
        <p:nvSpPr>
          <p:cNvPr id="26" name="Text 24"/>
          <p:cNvSpPr txBox="1"/>
          <p:nvPr/>
        </p:nvSpPr>
        <p:spPr>
          <a:xfrm>
            <a:off x="4193896" y="4142232"/>
            <a:ext cx="148132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IT / CT</a:t>
            </a:r>
            <a:endParaRPr lang="en-US" sz="1050" dirty="0"/>
          </a:p>
        </p:txBody>
      </p:sp>
      <p:sp>
        <p:nvSpPr>
          <p:cNvPr id="27" name="Text 25"/>
          <p:cNvSpPr txBox="1"/>
          <p:nvPr/>
        </p:nvSpPr>
        <p:spPr>
          <a:xfrm>
            <a:off x="822960" y="4206240"/>
            <a:ext cx="3032608" cy="457200"/>
          </a:xfrm>
          <a:prstGeom prst="rect">
            <a:avLst/>
          </a:prstGeom>
          <a:noFill/>
          <a:ln/>
        </p:spPr>
        <p:txBody>
          <a:bodyPr wrap="square" lIns="0" tIns="0" rIns="0" bIns="0" rtlCol="0" anchor="ctr"/>
          <a:lstStyle/>
          <a:p>
            <a:pPr marL="0" indent="0" algn="r" rtl="1">
              <a:lnSpc>
                <a:spcPts val="1800"/>
              </a:lnSpc>
              <a:buNone/>
            </a:pPr>
            <a:r>
              <a:rPr lang="en-US" sz="1300" dirty="0">
                <a:solidFill>
                  <a:srgbClr val="414042"/>
                </a:solidFill>
                <a:latin typeface="Segoe UI" pitchFamily="34" charset="0"/>
                <a:ea typeface="Segoe UI" pitchFamily="34" charset="-122"/>
                <a:cs typeface="Segoe UI" pitchFamily="34" charset="-120"/>
              </a:rPr>
              <a:t>إدارة عناصر التسليم والاستلام من عهدة وأجهزة.</a:t>
            </a:r>
            <a:endParaRPr lang="en-US" sz="1300" dirty="0"/>
          </a:p>
        </p:txBody>
      </p:sp>
      <p:sp>
        <p:nvSpPr>
          <p:cNvPr id="28" name="Shape 26"/>
          <p:cNvSpPr/>
          <p:nvPr/>
        </p:nvSpPr>
        <p:spPr>
          <a:xfrm>
            <a:off x="566928" y="5212080"/>
            <a:ext cx="11057839" cy="1115568"/>
          </a:xfrm>
          <a:prstGeom prst="roundRect">
            <a:avLst>
              <a:gd name="adj" fmla="val 7377"/>
            </a:avLst>
          </a:prstGeom>
          <a:solidFill>
            <a:srgbClr val="2B2A2C"/>
          </a:solidFill>
          <a:ln w="12700">
            <a:solidFill>
              <a:srgbClr val="2B2A2C"/>
            </a:solidFill>
            <a:prstDash val="solid"/>
          </a:ln>
        </p:spPr>
        <p:txBody>
          <a:bodyPr/>
          <a:lstStyle/>
          <a:p>
            <a:endParaRPr lang="en-US"/>
          </a:p>
        </p:txBody>
      </p:sp>
      <p:sp>
        <p:nvSpPr>
          <p:cNvPr id="29" name="Shape 27"/>
          <p:cNvSpPr/>
          <p:nvPr/>
        </p:nvSpPr>
        <p:spPr>
          <a:xfrm>
            <a:off x="10746943" y="5504688"/>
            <a:ext cx="530352" cy="530352"/>
          </a:xfrm>
          <a:prstGeom prst="ellipse">
            <a:avLst/>
          </a:prstGeom>
          <a:solidFill>
            <a:srgbClr val="C2151C"/>
          </a:solidFill>
          <a:ln w="12700">
            <a:solidFill>
              <a:srgbClr val="C2151C"/>
            </a:solidFill>
            <a:prstDash val="solid"/>
          </a:ln>
        </p:spPr>
        <p:txBody>
          <a:bodyPr/>
          <a:lstStyle/>
          <a:p>
            <a:endParaRPr lang="en-US"/>
          </a:p>
        </p:txBody>
      </p:sp>
      <p:pic>
        <p:nvPicPr>
          <p:cNvPr id="30" name="Image 0" descr="preencoded.png"/>
          <p:cNvPicPr>
            <a:picLocks noChangeAspect="1"/>
          </p:cNvPicPr>
          <p:nvPr/>
        </p:nvPicPr>
        <p:blipFill>
          <a:blip r:embed="rId3"/>
          <a:stretch>
            <a:fillRect/>
          </a:stretch>
        </p:blipFill>
        <p:spPr>
          <a:xfrm>
            <a:off x="10879531" y="5637276"/>
            <a:ext cx="265176" cy="265176"/>
          </a:xfrm>
          <a:prstGeom prst="rect">
            <a:avLst/>
          </a:prstGeom>
        </p:spPr>
      </p:pic>
      <p:sp>
        <p:nvSpPr>
          <p:cNvPr id="31" name="Text 28"/>
          <p:cNvSpPr txBox="1"/>
          <p:nvPr/>
        </p:nvSpPr>
        <p:spPr>
          <a:xfrm>
            <a:off x="914400" y="5431536"/>
            <a:ext cx="9503359" cy="310896"/>
          </a:xfrm>
          <a:prstGeom prst="rect">
            <a:avLst/>
          </a:prstGeom>
          <a:noFill/>
          <a:ln/>
        </p:spPr>
        <p:txBody>
          <a:bodyPr wrap="square" lIns="0" tIns="0" rIns="0" bIns="0" rtlCol="0" anchor="t"/>
          <a:lstStyle/>
          <a:p>
            <a:pPr marL="0" indent="0" algn="r" rtl="1">
              <a:buNone/>
            </a:pPr>
            <a:r>
              <a:rPr lang="en-US" sz="1600" b="1" dirty="0">
                <a:solidFill>
                  <a:srgbClr val="FFFFFF"/>
                </a:solidFill>
                <a:latin typeface="Segoe UI" pitchFamily="34" charset="0"/>
                <a:ea typeface="Segoe UI" pitchFamily="34" charset="-122"/>
                <a:cs typeface="Segoe UI" pitchFamily="34" charset="-120"/>
              </a:rPr>
              <a:t>النطاق حسب المحافظة</a:t>
            </a:r>
            <a:endParaRPr lang="en-US" sz="1600" dirty="0"/>
          </a:p>
        </p:txBody>
      </p:sp>
      <p:sp>
        <p:nvSpPr>
          <p:cNvPr id="32" name="Text 29"/>
          <p:cNvSpPr txBox="1"/>
          <p:nvPr/>
        </p:nvSpPr>
        <p:spPr>
          <a:xfrm>
            <a:off x="914400" y="5779008"/>
            <a:ext cx="9503359" cy="457200"/>
          </a:xfrm>
          <a:prstGeom prst="rect">
            <a:avLst/>
          </a:prstGeom>
          <a:noFill/>
          <a:ln/>
        </p:spPr>
        <p:txBody>
          <a:bodyPr wrap="square" lIns="0" tIns="0" rIns="0" bIns="0" rtlCol="0" anchor="t"/>
          <a:lstStyle/>
          <a:p>
            <a:pPr marL="0" indent="0" algn="r" rtl="1">
              <a:lnSpc>
                <a:spcPts val="1800"/>
              </a:lnSpc>
              <a:buNone/>
            </a:pPr>
            <a:r>
              <a:rPr lang="en-US" sz="1250" dirty="0">
                <a:solidFill>
                  <a:srgbClr val="DCDDDE"/>
                </a:solidFill>
                <a:latin typeface="Segoe UI" pitchFamily="34" charset="0"/>
                <a:ea typeface="Segoe UI" pitchFamily="34" charset="-122"/>
                <a:cs typeface="Segoe UI" pitchFamily="34" charset="-120"/>
              </a:rPr>
              <a:t>دور الموارد البشرية مرتبط بمحافظته، مثل حلب وحمص ودمشق واللاذقية وطرطوس. لا يظهر لك موظف أو منصب خارج نطاقك، وإن كان لديك أكثر من دور فبدّل الدور النشط من شريط التنقّل العلوي لتتحدّث القائمة والصلاحيات فوراً.</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6"/>
        </a:solidFill>
        <a:effectLst/>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t"/>
          <a:lstStyle/>
          <a:p>
            <a:pPr marL="0" indent="0" algn="r" rtl="1">
              <a:buNone/>
            </a:pPr>
            <a:r>
              <a:rPr lang="en-US" sz="1250" b="1" kern="0" spc="100" dirty="0">
                <a:solidFill>
                  <a:srgbClr val="C2151C"/>
                </a:solidFill>
                <a:latin typeface="Segoe UI" pitchFamily="34" charset="0"/>
                <a:ea typeface="Segoe UI" pitchFamily="34" charset="-122"/>
                <a:cs typeface="Segoe UI" pitchFamily="34" charset="-120"/>
              </a:rPr>
              <a:t>الاستخدام اليومي</a:t>
            </a:r>
            <a:endParaRPr lang="en-US" sz="1250" dirty="0"/>
          </a:p>
        </p:txBody>
      </p:sp>
      <p:sp>
        <p:nvSpPr>
          <p:cNvPr id="3" name="Text 1"/>
          <p:cNvSpPr txBox="1"/>
          <p:nvPr/>
        </p:nvSpPr>
        <p:spPr>
          <a:xfrm>
            <a:off x="566928" y="713232"/>
            <a:ext cx="11057839" cy="658368"/>
          </a:xfrm>
          <a:prstGeom prst="rect">
            <a:avLst/>
          </a:prstGeom>
          <a:noFill/>
          <a:ln/>
        </p:spPr>
        <p:txBody>
          <a:bodyPr wrap="square" lIns="0" tIns="0" rIns="0" bIns="0" rtlCol="0" anchor="t"/>
          <a:lstStyle/>
          <a:p>
            <a:pPr marL="0" indent="0" algn="r" rtl="1">
              <a:buNone/>
            </a:pPr>
            <a:r>
              <a:rPr lang="en-US" sz="3300" b="1" dirty="0">
                <a:solidFill>
                  <a:srgbClr val="2B2A2C"/>
                </a:solidFill>
                <a:latin typeface="Segoe UI" pitchFamily="34" charset="0"/>
                <a:ea typeface="Segoe UI" pitchFamily="34" charset="-122"/>
                <a:cs typeface="Segoe UI" pitchFamily="34" charset="-120"/>
              </a:rPr>
              <a:t>إدارة الموظفين</a:t>
            </a:r>
            <a:endParaRPr lang="en-US" sz="3300" dirty="0"/>
          </a:p>
        </p:txBody>
      </p:sp>
      <p:sp>
        <p:nvSpPr>
          <p:cNvPr id="4" name="Shape 2"/>
          <p:cNvSpPr/>
          <p:nvPr/>
        </p:nvSpPr>
        <p:spPr>
          <a:xfrm>
            <a:off x="5093208" y="1847088"/>
            <a:ext cx="6531559" cy="4279392"/>
          </a:xfrm>
          <a:prstGeom prst="roundRect">
            <a:avLst>
              <a:gd name="adj" fmla="val 2137"/>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5" name="Shape 3"/>
          <p:cNvSpPr/>
          <p:nvPr/>
        </p:nvSpPr>
        <p:spPr>
          <a:xfrm>
            <a:off x="10710367" y="2157984"/>
            <a:ext cx="530352" cy="530352"/>
          </a:xfrm>
          <a:prstGeom prst="ellipse">
            <a:avLst/>
          </a:prstGeom>
          <a:solidFill>
            <a:srgbClr val="C2151C"/>
          </a:solidFill>
          <a:ln w="12700">
            <a:solidFill>
              <a:srgbClr val="C2151C"/>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842955" y="2290572"/>
            <a:ext cx="265176" cy="265176"/>
          </a:xfrm>
          <a:prstGeom prst="rect">
            <a:avLst/>
          </a:prstGeom>
        </p:spPr>
      </p:pic>
      <p:sp>
        <p:nvSpPr>
          <p:cNvPr id="7" name="Text 4"/>
          <p:cNvSpPr txBox="1"/>
          <p:nvPr/>
        </p:nvSpPr>
        <p:spPr>
          <a:xfrm>
            <a:off x="5477256" y="2231136"/>
            <a:ext cx="5068519" cy="365760"/>
          </a:xfrm>
          <a:prstGeom prst="rect">
            <a:avLst/>
          </a:prstGeom>
          <a:noFill/>
          <a:ln/>
        </p:spPr>
        <p:txBody>
          <a:bodyPr wrap="square" lIns="0" tIns="0" rIns="0" bIns="0" rtlCol="0" anchor="t"/>
          <a:lstStyle/>
          <a:p>
            <a:pPr marL="0" indent="0" algn="r" rtl="1">
              <a:buNone/>
            </a:pPr>
            <a:r>
              <a:rPr lang="en-US" sz="2100" b="1" dirty="0">
                <a:solidFill>
                  <a:srgbClr val="2B2A2C"/>
                </a:solidFill>
                <a:latin typeface="Segoe UI" pitchFamily="34" charset="0"/>
                <a:ea typeface="Segoe UI" pitchFamily="34" charset="-122"/>
                <a:cs typeface="Segoe UI" pitchFamily="34" charset="-120"/>
              </a:rPr>
              <a:t>إضافة موظف جديد</a:t>
            </a:r>
            <a:endParaRPr lang="en-US" sz="2100" dirty="0"/>
          </a:p>
        </p:txBody>
      </p:sp>
      <p:sp>
        <p:nvSpPr>
          <p:cNvPr id="8" name="Shape 5"/>
          <p:cNvSpPr/>
          <p:nvPr/>
        </p:nvSpPr>
        <p:spPr>
          <a:xfrm>
            <a:off x="10856671" y="2962656"/>
            <a:ext cx="384048" cy="384048"/>
          </a:xfrm>
          <a:prstGeom prst="ellipse">
            <a:avLst/>
          </a:prstGeom>
          <a:solidFill>
            <a:srgbClr val="F7E8E9"/>
          </a:solidFill>
          <a:ln w="12700">
            <a:solidFill>
              <a:srgbClr val="F7E8E9"/>
            </a:solidFill>
            <a:prstDash val="solid"/>
          </a:ln>
        </p:spPr>
        <p:txBody>
          <a:bodyPr/>
          <a:lstStyle/>
          <a:p>
            <a:endParaRPr lang="en-US"/>
          </a:p>
        </p:txBody>
      </p:sp>
      <p:sp>
        <p:nvSpPr>
          <p:cNvPr id="9" name="Text 6"/>
          <p:cNvSpPr txBox="1"/>
          <p:nvPr/>
        </p:nvSpPr>
        <p:spPr>
          <a:xfrm>
            <a:off x="10856671" y="2962656"/>
            <a:ext cx="384048" cy="384048"/>
          </a:xfrm>
          <a:prstGeom prst="rect">
            <a:avLst/>
          </a:prstGeom>
          <a:noFill/>
          <a:ln/>
        </p:spPr>
        <p:txBody>
          <a:bodyPr wrap="square" lIns="0" tIns="0" rIns="0" bIns="0" rtlCol="0" anchor="ctr"/>
          <a:lstStyle/>
          <a:p>
            <a:pPr marL="0" indent="0" algn="ctr">
              <a:buNone/>
            </a:pPr>
            <a:r>
              <a:rPr lang="en-US" sz="1100" b="1" dirty="0">
                <a:solidFill>
                  <a:srgbClr val="C2151C"/>
                </a:solidFill>
                <a:latin typeface="Segoe UI" pitchFamily="34" charset="0"/>
                <a:ea typeface="Segoe UI" pitchFamily="34" charset="-122"/>
                <a:cs typeface="Segoe UI" pitchFamily="34" charset="-120"/>
              </a:rPr>
              <a:t>1</a:t>
            </a:r>
            <a:endParaRPr lang="en-US" sz="1100" dirty="0"/>
          </a:p>
        </p:txBody>
      </p:sp>
      <p:sp>
        <p:nvSpPr>
          <p:cNvPr id="10" name="Text 7"/>
          <p:cNvSpPr txBox="1"/>
          <p:nvPr/>
        </p:nvSpPr>
        <p:spPr>
          <a:xfrm>
            <a:off x="5477256" y="2944368"/>
            <a:ext cx="5233111" cy="274320"/>
          </a:xfrm>
          <a:prstGeom prst="rect">
            <a:avLst/>
          </a:prstGeom>
          <a:noFill/>
          <a:ln/>
        </p:spPr>
        <p:txBody>
          <a:bodyPr wrap="square" lIns="0" tIns="0" rIns="0" bIns="0" rtlCol="0" anchor="t"/>
          <a:lstStyle/>
          <a:p>
            <a:pPr marL="0" indent="0" algn="r" rtl="1">
              <a:buNone/>
            </a:pPr>
            <a:r>
              <a:rPr lang="en-US" sz="1350" b="1" dirty="0">
                <a:solidFill>
                  <a:srgbClr val="2B2A2C"/>
                </a:solidFill>
                <a:latin typeface="Segoe UI" pitchFamily="34" charset="0"/>
                <a:ea typeface="Segoe UI" pitchFamily="34" charset="-122"/>
                <a:cs typeface="Segoe UI" pitchFamily="34" charset="-120"/>
              </a:rPr>
              <a:t>افتح صفحة الموظفين من القائمة الجانبية</a:t>
            </a:r>
            <a:endParaRPr lang="en-US" sz="1350" dirty="0"/>
          </a:p>
        </p:txBody>
      </p:sp>
      <p:sp>
        <p:nvSpPr>
          <p:cNvPr id="11" name="Text 8"/>
          <p:cNvSpPr txBox="1"/>
          <p:nvPr/>
        </p:nvSpPr>
        <p:spPr>
          <a:xfrm>
            <a:off x="5477256" y="3209544"/>
            <a:ext cx="5233111" cy="310896"/>
          </a:xfrm>
          <a:prstGeom prst="rect">
            <a:avLst/>
          </a:prstGeom>
          <a:noFill/>
          <a:ln/>
        </p:spPr>
        <p:txBody>
          <a:bodyPr wrap="square" lIns="0" tIns="0" rIns="0" bIns="0" rtlCol="0" anchor="t"/>
          <a:lstStyle/>
          <a:p>
            <a:pPr marL="0" indent="0" algn="r" rtl="1">
              <a:buNone/>
            </a:pPr>
            <a:r>
              <a:rPr lang="en-US" sz="1150" dirty="0">
                <a:solidFill>
                  <a:srgbClr val="6D6E71"/>
                </a:solidFill>
                <a:latin typeface="Segoe UI" pitchFamily="34" charset="0"/>
                <a:ea typeface="Segoe UI" pitchFamily="34" charset="-122"/>
                <a:cs typeface="Segoe UI" pitchFamily="34" charset="-120"/>
              </a:rPr>
              <a:t>ثم اضغط زر إضافة موظف.</a:t>
            </a:r>
            <a:endParaRPr lang="en-US" sz="1150" dirty="0"/>
          </a:p>
        </p:txBody>
      </p:sp>
      <p:sp>
        <p:nvSpPr>
          <p:cNvPr id="12" name="Shape 9"/>
          <p:cNvSpPr/>
          <p:nvPr/>
        </p:nvSpPr>
        <p:spPr>
          <a:xfrm>
            <a:off x="10856671" y="3584448"/>
            <a:ext cx="384048" cy="384048"/>
          </a:xfrm>
          <a:prstGeom prst="ellipse">
            <a:avLst/>
          </a:prstGeom>
          <a:solidFill>
            <a:srgbClr val="F7E8E9"/>
          </a:solidFill>
          <a:ln w="12700">
            <a:solidFill>
              <a:srgbClr val="F7E8E9"/>
            </a:solidFill>
            <a:prstDash val="solid"/>
          </a:ln>
        </p:spPr>
        <p:txBody>
          <a:bodyPr/>
          <a:lstStyle/>
          <a:p>
            <a:endParaRPr lang="en-US"/>
          </a:p>
        </p:txBody>
      </p:sp>
      <p:sp>
        <p:nvSpPr>
          <p:cNvPr id="13" name="Text 10"/>
          <p:cNvSpPr txBox="1"/>
          <p:nvPr/>
        </p:nvSpPr>
        <p:spPr>
          <a:xfrm>
            <a:off x="10856671" y="3584448"/>
            <a:ext cx="384048" cy="384048"/>
          </a:xfrm>
          <a:prstGeom prst="rect">
            <a:avLst/>
          </a:prstGeom>
          <a:noFill/>
          <a:ln/>
        </p:spPr>
        <p:txBody>
          <a:bodyPr wrap="square" lIns="0" tIns="0" rIns="0" bIns="0" rtlCol="0" anchor="ctr"/>
          <a:lstStyle/>
          <a:p>
            <a:pPr marL="0" indent="0" algn="ctr">
              <a:buNone/>
            </a:pPr>
            <a:r>
              <a:rPr lang="en-US" sz="1100" b="1" dirty="0">
                <a:solidFill>
                  <a:srgbClr val="C2151C"/>
                </a:solidFill>
                <a:latin typeface="Segoe UI" pitchFamily="34" charset="0"/>
                <a:ea typeface="Segoe UI" pitchFamily="34" charset="-122"/>
                <a:cs typeface="Segoe UI" pitchFamily="34" charset="-120"/>
              </a:rPr>
              <a:t>2</a:t>
            </a:r>
            <a:endParaRPr lang="en-US" sz="1100" dirty="0"/>
          </a:p>
        </p:txBody>
      </p:sp>
      <p:sp>
        <p:nvSpPr>
          <p:cNvPr id="14" name="Text 11"/>
          <p:cNvSpPr txBox="1"/>
          <p:nvPr/>
        </p:nvSpPr>
        <p:spPr>
          <a:xfrm>
            <a:off x="5477256" y="3566160"/>
            <a:ext cx="5233111" cy="274320"/>
          </a:xfrm>
          <a:prstGeom prst="rect">
            <a:avLst/>
          </a:prstGeom>
          <a:noFill/>
          <a:ln/>
        </p:spPr>
        <p:txBody>
          <a:bodyPr wrap="square" lIns="0" tIns="0" rIns="0" bIns="0" rtlCol="0" anchor="t"/>
          <a:lstStyle/>
          <a:p>
            <a:pPr marL="0" indent="0" algn="r" rtl="1">
              <a:buNone/>
            </a:pPr>
            <a:r>
              <a:rPr lang="en-US" sz="1350" b="1" dirty="0">
                <a:solidFill>
                  <a:srgbClr val="2B2A2C"/>
                </a:solidFill>
                <a:latin typeface="Segoe UI" pitchFamily="34" charset="0"/>
                <a:ea typeface="Segoe UI" pitchFamily="34" charset="-122"/>
                <a:cs typeface="Segoe UI" pitchFamily="34" charset="-120"/>
              </a:rPr>
              <a:t>أدخل المعلومات الشخصية</a:t>
            </a:r>
            <a:endParaRPr lang="en-US" sz="1350" dirty="0"/>
          </a:p>
        </p:txBody>
      </p:sp>
      <p:sp>
        <p:nvSpPr>
          <p:cNvPr id="15" name="Text 12"/>
          <p:cNvSpPr txBox="1"/>
          <p:nvPr/>
        </p:nvSpPr>
        <p:spPr>
          <a:xfrm>
            <a:off x="5477256" y="3831336"/>
            <a:ext cx="5233111" cy="310896"/>
          </a:xfrm>
          <a:prstGeom prst="rect">
            <a:avLst/>
          </a:prstGeom>
          <a:noFill/>
          <a:ln/>
        </p:spPr>
        <p:txBody>
          <a:bodyPr wrap="square" lIns="0" tIns="0" rIns="0" bIns="0" rtlCol="0" anchor="t"/>
          <a:lstStyle/>
          <a:p>
            <a:pPr marL="0" indent="0" algn="r" rtl="1">
              <a:buNone/>
            </a:pPr>
            <a:r>
              <a:rPr lang="en-US" sz="1150" dirty="0">
                <a:solidFill>
                  <a:srgbClr val="6D6E71"/>
                </a:solidFill>
                <a:latin typeface="Segoe UI" pitchFamily="34" charset="0"/>
                <a:ea typeface="Segoe UI" pitchFamily="34" charset="-122"/>
                <a:cs typeface="Segoe UI" pitchFamily="34" charset="-120"/>
              </a:rPr>
              <a:t>الاسم بالعربية والإنجليزية، تاريخ الميلاد، الجنسية، المدينة، الهاتف، البريد.</a:t>
            </a:r>
            <a:endParaRPr lang="en-US" sz="1150" dirty="0"/>
          </a:p>
        </p:txBody>
      </p:sp>
      <p:sp>
        <p:nvSpPr>
          <p:cNvPr id="16" name="Shape 13"/>
          <p:cNvSpPr/>
          <p:nvPr/>
        </p:nvSpPr>
        <p:spPr>
          <a:xfrm>
            <a:off x="10856671" y="4206240"/>
            <a:ext cx="384048" cy="384048"/>
          </a:xfrm>
          <a:prstGeom prst="ellipse">
            <a:avLst/>
          </a:prstGeom>
          <a:solidFill>
            <a:srgbClr val="F7E8E9"/>
          </a:solidFill>
          <a:ln w="12700">
            <a:solidFill>
              <a:srgbClr val="F7E8E9"/>
            </a:solidFill>
            <a:prstDash val="solid"/>
          </a:ln>
        </p:spPr>
        <p:txBody>
          <a:bodyPr/>
          <a:lstStyle/>
          <a:p>
            <a:endParaRPr lang="en-US"/>
          </a:p>
        </p:txBody>
      </p:sp>
      <p:sp>
        <p:nvSpPr>
          <p:cNvPr id="17" name="Text 14"/>
          <p:cNvSpPr txBox="1"/>
          <p:nvPr/>
        </p:nvSpPr>
        <p:spPr>
          <a:xfrm>
            <a:off x="10856671" y="4206240"/>
            <a:ext cx="384048" cy="384048"/>
          </a:xfrm>
          <a:prstGeom prst="rect">
            <a:avLst/>
          </a:prstGeom>
          <a:noFill/>
          <a:ln/>
        </p:spPr>
        <p:txBody>
          <a:bodyPr wrap="square" lIns="0" tIns="0" rIns="0" bIns="0" rtlCol="0" anchor="ctr"/>
          <a:lstStyle/>
          <a:p>
            <a:pPr marL="0" indent="0" algn="ctr">
              <a:buNone/>
            </a:pPr>
            <a:r>
              <a:rPr lang="en-US" sz="1100" b="1" dirty="0">
                <a:solidFill>
                  <a:srgbClr val="C2151C"/>
                </a:solidFill>
                <a:latin typeface="Segoe UI" pitchFamily="34" charset="0"/>
                <a:ea typeface="Segoe UI" pitchFamily="34" charset="-122"/>
                <a:cs typeface="Segoe UI" pitchFamily="34" charset="-120"/>
              </a:rPr>
              <a:t>3</a:t>
            </a:r>
            <a:endParaRPr lang="en-US" sz="1100" dirty="0"/>
          </a:p>
        </p:txBody>
      </p:sp>
      <p:sp>
        <p:nvSpPr>
          <p:cNvPr id="18" name="Text 15"/>
          <p:cNvSpPr txBox="1"/>
          <p:nvPr/>
        </p:nvSpPr>
        <p:spPr>
          <a:xfrm>
            <a:off x="5477256" y="4187952"/>
            <a:ext cx="5233111" cy="274320"/>
          </a:xfrm>
          <a:prstGeom prst="rect">
            <a:avLst/>
          </a:prstGeom>
          <a:noFill/>
          <a:ln/>
        </p:spPr>
        <p:txBody>
          <a:bodyPr wrap="square" lIns="0" tIns="0" rIns="0" bIns="0" rtlCol="0" anchor="t"/>
          <a:lstStyle/>
          <a:p>
            <a:pPr marL="0" indent="0" algn="r" rtl="1">
              <a:buNone/>
            </a:pPr>
            <a:r>
              <a:rPr lang="en-US" sz="1350" b="1" dirty="0">
                <a:solidFill>
                  <a:srgbClr val="2B2A2C"/>
                </a:solidFill>
                <a:latin typeface="Segoe UI" pitchFamily="34" charset="0"/>
                <a:ea typeface="Segoe UI" pitchFamily="34" charset="-122"/>
                <a:cs typeface="Segoe UI" pitchFamily="34" charset="-120"/>
              </a:rPr>
              <a:t>انتقل إلى تبويب معلومات العمل</a:t>
            </a:r>
            <a:endParaRPr lang="en-US" sz="1350" dirty="0"/>
          </a:p>
        </p:txBody>
      </p:sp>
      <p:sp>
        <p:nvSpPr>
          <p:cNvPr id="19" name="Text 16"/>
          <p:cNvSpPr txBox="1"/>
          <p:nvPr/>
        </p:nvSpPr>
        <p:spPr>
          <a:xfrm>
            <a:off x="5477256" y="4453128"/>
            <a:ext cx="5233111" cy="310896"/>
          </a:xfrm>
          <a:prstGeom prst="rect">
            <a:avLst/>
          </a:prstGeom>
          <a:noFill/>
          <a:ln/>
        </p:spPr>
        <p:txBody>
          <a:bodyPr wrap="square" lIns="0" tIns="0" rIns="0" bIns="0" rtlCol="0" anchor="t"/>
          <a:lstStyle/>
          <a:p>
            <a:pPr marL="0" indent="0" algn="r" rtl="1">
              <a:buNone/>
            </a:pPr>
            <a:r>
              <a:rPr lang="en-US" sz="1150" dirty="0">
                <a:solidFill>
                  <a:srgbClr val="6D6E71"/>
                </a:solidFill>
                <a:latin typeface="Segoe UI" pitchFamily="34" charset="0"/>
                <a:ea typeface="Segoe UI" pitchFamily="34" charset="-122"/>
                <a:cs typeface="Segoe UI" pitchFamily="34" charset="-120"/>
              </a:rPr>
              <a:t>القسم، المسمّى الوظيفي، المستوى الوظيفي، تاريخ الالتحاق.</a:t>
            </a:r>
            <a:endParaRPr lang="en-US" sz="1150" dirty="0"/>
          </a:p>
        </p:txBody>
      </p:sp>
      <p:sp>
        <p:nvSpPr>
          <p:cNvPr id="20" name="Shape 17"/>
          <p:cNvSpPr/>
          <p:nvPr/>
        </p:nvSpPr>
        <p:spPr>
          <a:xfrm>
            <a:off x="10856671" y="4828032"/>
            <a:ext cx="384048" cy="384048"/>
          </a:xfrm>
          <a:prstGeom prst="ellipse">
            <a:avLst/>
          </a:prstGeom>
          <a:solidFill>
            <a:srgbClr val="F7E8E9"/>
          </a:solidFill>
          <a:ln w="12700">
            <a:solidFill>
              <a:srgbClr val="F7E8E9"/>
            </a:solidFill>
            <a:prstDash val="solid"/>
          </a:ln>
        </p:spPr>
        <p:txBody>
          <a:bodyPr/>
          <a:lstStyle/>
          <a:p>
            <a:endParaRPr lang="en-US"/>
          </a:p>
        </p:txBody>
      </p:sp>
      <p:sp>
        <p:nvSpPr>
          <p:cNvPr id="21" name="Text 18"/>
          <p:cNvSpPr txBox="1"/>
          <p:nvPr/>
        </p:nvSpPr>
        <p:spPr>
          <a:xfrm>
            <a:off x="10856671" y="4828032"/>
            <a:ext cx="384048" cy="384048"/>
          </a:xfrm>
          <a:prstGeom prst="rect">
            <a:avLst/>
          </a:prstGeom>
          <a:noFill/>
          <a:ln/>
        </p:spPr>
        <p:txBody>
          <a:bodyPr wrap="square" lIns="0" tIns="0" rIns="0" bIns="0" rtlCol="0" anchor="ctr"/>
          <a:lstStyle/>
          <a:p>
            <a:pPr marL="0" indent="0" algn="ctr">
              <a:buNone/>
            </a:pPr>
            <a:r>
              <a:rPr lang="en-US" sz="1100" b="1" dirty="0">
                <a:solidFill>
                  <a:srgbClr val="C2151C"/>
                </a:solidFill>
                <a:latin typeface="Segoe UI" pitchFamily="34" charset="0"/>
                <a:ea typeface="Segoe UI" pitchFamily="34" charset="-122"/>
                <a:cs typeface="Segoe UI" pitchFamily="34" charset="-120"/>
              </a:rPr>
              <a:t>4</a:t>
            </a:r>
            <a:endParaRPr lang="en-US" sz="1100" dirty="0"/>
          </a:p>
        </p:txBody>
      </p:sp>
      <p:sp>
        <p:nvSpPr>
          <p:cNvPr id="22" name="Text 19"/>
          <p:cNvSpPr txBox="1"/>
          <p:nvPr/>
        </p:nvSpPr>
        <p:spPr>
          <a:xfrm>
            <a:off x="5477256" y="4809744"/>
            <a:ext cx="5233111" cy="274320"/>
          </a:xfrm>
          <a:prstGeom prst="rect">
            <a:avLst/>
          </a:prstGeom>
          <a:noFill/>
          <a:ln/>
        </p:spPr>
        <p:txBody>
          <a:bodyPr wrap="square" lIns="0" tIns="0" rIns="0" bIns="0" rtlCol="0" anchor="t"/>
          <a:lstStyle/>
          <a:p>
            <a:pPr marL="0" indent="0" algn="r" rtl="1">
              <a:buNone/>
            </a:pPr>
            <a:r>
              <a:rPr lang="en-US" sz="1350" b="1" dirty="0">
                <a:solidFill>
                  <a:srgbClr val="2B2A2C"/>
                </a:solidFill>
                <a:latin typeface="Segoe UI" pitchFamily="34" charset="0"/>
                <a:ea typeface="Segoe UI" pitchFamily="34" charset="-122"/>
                <a:cs typeface="Segoe UI" pitchFamily="34" charset="-120"/>
              </a:rPr>
              <a:t>أضف السجلّات التفصيلية</a:t>
            </a:r>
            <a:endParaRPr lang="en-US" sz="1350" dirty="0"/>
          </a:p>
        </p:txBody>
      </p:sp>
      <p:sp>
        <p:nvSpPr>
          <p:cNvPr id="23" name="Text 20"/>
          <p:cNvSpPr txBox="1"/>
          <p:nvPr/>
        </p:nvSpPr>
        <p:spPr>
          <a:xfrm>
            <a:off x="5477256" y="5074920"/>
            <a:ext cx="5233111" cy="310896"/>
          </a:xfrm>
          <a:prstGeom prst="rect">
            <a:avLst/>
          </a:prstGeom>
          <a:noFill/>
          <a:ln/>
        </p:spPr>
        <p:txBody>
          <a:bodyPr wrap="square" lIns="0" tIns="0" rIns="0" bIns="0" rtlCol="0" anchor="t"/>
          <a:lstStyle/>
          <a:p>
            <a:pPr marL="0" indent="0" algn="r" rtl="1">
              <a:buNone/>
            </a:pPr>
            <a:r>
              <a:rPr lang="en-US" sz="1150" dirty="0">
                <a:solidFill>
                  <a:srgbClr val="6D6E71"/>
                </a:solidFill>
                <a:latin typeface="Segoe UI" pitchFamily="34" charset="0"/>
                <a:ea typeface="Segoe UI" pitchFamily="34" charset="-122"/>
                <a:cs typeface="Segoe UI" pitchFamily="34" charset="-120"/>
              </a:rPr>
              <a:t>التعليم، الخبرات السابقة، أفراد الأسرة، المرفقات، الصورة الشخصية.</a:t>
            </a:r>
            <a:endParaRPr lang="en-US" sz="1150" dirty="0"/>
          </a:p>
        </p:txBody>
      </p:sp>
      <p:sp>
        <p:nvSpPr>
          <p:cNvPr id="24" name="Shape 21"/>
          <p:cNvSpPr/>
          <p:nvPr/>
        </p:nvSpPr>
        <p:spPr>
          <a:xfrm>
            <a:off x="10856671" y="5449824"/>
            <a:ext cx="384048" cy="384048"/>
          </a:xfrm>
          <a:prstGeom prst="ellipse">
            <a:avLst/>
          </a:prstGeom>
          <a:solidFill>
            <a:srgbClr val="F7E8E9"/>
          </a:solidFill>
          <a:ln w="12700">
            <a:solidFill>
              <a:srgbClr val="F7E8E9"/>
            </a:solidFill>
            <a:prstDash val="solid"/>
          </a:ln>
        </p:spPr>
        <p:txBody>
          <a:bodyPr/>
          <a:lstStyle/>
          <a:p>
            <a:endParaRPr lang="en-US"/>
          </a:p>
        </p:txBody>
      </p:sp>
      <p:sp>
        <p:nvSpPr>
          <p:cNvPr id="25" name="Text 22"/>
          <p:cNvSpPr txBox="1"/>
          <p:nvPr/>
        </p:nvSpPr>
        <p:spPr>
          <a:xfrm>
            <a:off x="10856671" y="5449824"/>
            <a:ext cx="384048" cy="384048"/>
          </a:xfrm>
          <a:prstGeom prst="rect">
            <a:avLst/>
          </a:prstGeom>
          <a:noFill/>
          <a:ln/>
        </p:spPr>
        <p:txBody>
          <a:bodyPr wrap="square" lIns="0" tIns="0" rIns="0" bIns="0" rtlCol="0" anchor="ctr"/>
          <a:lstStyle/>
          <a:p>
            <a:pPr marL="0" indent="0" algn="ctr">
              <a:buNone/>
            </a:pPr>
            <a:r>
              <a:rPr lang="en-US" sz="1100" b="1" dirty="0">
                <a:solidFill>
                  <a:srgbClr val="C2151C"/>
                </a:solidFill>
                <a:latin typeface="Segoe UI" pitchFamily="34" charset="0"/>
                <a:ea typeface="Segoe UI" pitchFamily="34" charset="-122"/>
                <a:cs typeface="Segoe UI" pitchFamily="34" charset="-120"/>
              </a:rPr>
              <a:t>5</a:t>
            </a:r>
            <a:endParaRPr lang="en-US" sz="1100" dirty="0"/>
          </a:p>
        </p:txBody>
      </p:sp>
      <p:sp>
        <p:nvSpPr>
          <p:cNvPr id="26" name="Text 23"/>
          <p:cNvSpPr txBox="1"/>
          <p:nvPr/>
        </p:nvSpPr>
        <p:spPr>
          <a:xfrm>
            <a:off x="5477256" y="5431536"/>
            <a:ext cx="5233111" cy="274320"/>
          </a:xfrm>
          <a:prstGeom prst="rect">
            <a:avLst/>
          </a:prstGeom>
          <a:noFill/>
          <a:ln/>
        </p:spPr>
        <p:txBody>
          <a:bodyPr wrap="square" lIns="0" tIns="0" rIns="0" bIns="0" rtlCol="0" anchor="t"/>
          <a:lstStyle/>
          <a:p>
            <a:pPr marL="0" indent="0" algn="r" rtl="1">
              <a:buNone/>
            </a:pPr>
            <a:r>
              <a:rPr lang="en-US" sz="1350" b="1" dirty="0">
                <a:solidFill>
                  <a:srgbClr val="2B2A2C"/>
                </a:solidFill>
                <a:latin typeface="Segoe UI" pitchFamily="34" charset="0"/>
                <a:ea typeface="Segoe UI" pitchFamily="34" charset="-122"/>
                <a:cs typeface="Segoe UI" pitchFamily="34" charset="-120"/>
              </a:rPr>
              <a:t>احفظ الملف</a:t>
            </a:r>
            <a:endParaRPr lang="en-US" sz="1350" dirty="0"/>
          </a:p>
        </p:txBody>
      </p:sp>
      <p:sp>
        <p:nvSpPr>
          <p:cNvPr id="27" name="Text 24"/>
          <p:cNvSpPr txBox="1"/>
          <p:nvPr/>
        </p:nvSpPr>
        <p:spPr>
          <a:xfrm>
            <a:off x="5477256" y="5696712"/>
            <a:ext cx="5233111" cy="310896"/>
          </a:xfrm>
          <a:prstGeom prst="rect">
            <a:avLst/>
          </a:prstGeom>
          <a:noFill/>
          <a:ln/>
        </p:spPr>
        <p:txBody>
          <a:bodyPr wrap="square" lIns="0" tIns="0" rIns="0" bIns="0" rtlCol="0" anchor="t"/>
          <a:lstStyle/>
          <a:p>
            <a:pPr marL="0" indent="0" algn="r" rtl="1">
              <a:buNone/>
            </a:pPr>
            <a:r>
              <a:rPr lang="en-US" sz="1150" dirty="0">
                <a:solidFill>
                  <a:srgbClr val="6D6E71"/>
                </a:solidFill>
                <a:latin typeface="Segoe UI" pitchFamily="34" charset="0"/>
                <a:ea typeface="Segoe UI" pitchFamily="34" charset="-122"/>
                <a:cs typeface="Segoe UI" pitchFamily="34" charset="-120"/>
              </a:rPr>
              <a:t>يمكنك بعدها تعديله أو إنهاء الخدمة بسبب مُعرَّف وتاريخ محدَّد.</a:t>
            </a:r>
            <a:endParaRPr lang="en-US" sz="1150" dirty="0"/>
          </a:p>
        </p:txBody>
      </p:sp>
      <p:sp>
        <p:nvSpPr>
          <p:cNvPr id="28" name="Shape 25"/>
          <p:cNvSpPr/>
          <p:nvPr/>
        </p:nvSpPr>
        <p:spPr>
          <a:xfrm>
            <a:off x="566928" y="1847088"/>
            <a:ext cx="4160520" cy="4279392"/>
          </a:xfrm>
          <a:prstGeom prst="roundRect">
            <a:avLst>
              <a:gd name="adj" fmla="val 2198"/>
            </a:avLst>
          </a:prstGeom>
          <a:solidFill>
            <a:srgbClr val="2B2A2C"/>
          </a:solidFill>
          <a:ln w="12700">
            <a:solidFill>
              <a:srgbClr val="2B2A2C"/>
            </a:solidFill>
            <a:prstDash val="solid"/>
          </a:ln>
          <a:effectLst>
            <a:outerShdw blurRad="177800" dist="38100" dir="5400000" algn="bl" rotWithShape="0">
              <a:srgbClr val="000000">
                <a:alpha val="14000"/>
              </a:srgbClr>
            </a:outerShdw>
          </a:effectLst>
        </p:spPr>
        <p:txBody>
          <a:bodyPr/>
          <a:lstStyle/>
          <a:p>
            <a:endParaRPr lang="en-US"/>
          </a:p>
        </p:txBody>
      </p:sp>
      <p:sp>
        <p:nvSpPr>
          <p:cNvPr id="29" name="Text 26"/>
          <p:cNvSpPr txBox="1"/>
          <p:nvPr/>
        </p:nvSpPr>
        <p:spPr>
          <a:xfrm>
            <a:off x="914400" y="2231136"/>
            <a:ext cx="3465576" cy="365760"/>
          </a:xfrm>
          <a:prstGeom prst="rect">
            <a:avLst/>
          </a:prstGeom>
          <a:noFill/>
          <a:ln/>
        </p:spPr>
        <p:txBody>
          <a:bodyPr wrap="square" lIns="0" tIns="0" rIns="0" bIns="0" rtlCol="0" anchor="t"/>
          <a:lstStyle/>
          <a:p>
            <a:pPr marL="0" indent="0" algn="r" rtl="1">
              <a:buNone/>
            </a:pPr>
            <a:r>
              <a:rPr lang="en-US" sz="1800" b="1" dirty="0">
                <a:solidFill>
                  <a:srgbClr val="FFFFFF"/>
                </a:solidFill>
                <a:latin typeface="Segoe UI" pitchFamily="34" charset="0"/>
                <a:ea typeface="Segoe UI" pitchFamily="34" charset="-122"/>
                <a:cs typeface="Segoe UI" pitchFamily="34" charset="-120"/>
              </a:rPr>
              <a:t>نقاط تستحقّ الانتباه</a:t>
            </a:r>
            <a:endParaRPr lang="en-US" sz="1800" dirty="0"/>
          </a:p>
        </p:txBody>
      </p:sp>
      <p:sp>
        <p:nvSpPr>
          <p:cNvPr id="30" name="Shape 27"/>
          <p:cNvSpPr/>
          <p:nvPr/>
        </p:nvSpPr>
        <p:spPr>
          <a:xfrm>
            <a:off x="3977640" y="2889504"/>
            <a:ext cx="402336" cy="402336"/>
          </a:xfrm>
          <a:prstGeom prst="ellipse">
            <a:avLst/>
          </a:prstGeom>
          <a:solidFill>
            <a:srgbClr val="C2151C"/>
          </a:solidFill>
          <a:ln w="12700">
            <a:solidFill>
              <a:srgbClr val="C2151C"/>
            </a:solidFill>
            <a:prstDash val="solid"/>
          </a:ln>
        </p:spPr>
        <p:txBody>
          <a:bodyPr/>
          <a:lstStyle/>
          <a:p>
            <a:endParaRPr lang="en-US"/>
          </a:p>
        </p:txBody>
      </p:sp>
      <p:pic>
        <p:nvPicPr>
          <p:cNvPr id="31" name="Image 1" descr="preencoded.png"/>
          <p:cNvPicPr>
            <a:picLocks noChangeAspect="1"/>
          </p:cNvPicPr>
          <p:nvPr/>
        </p:nvPicPr>
        <p:blipFill>
          <a:blip r:embed="rId4"/>
          <a:stretch>
            <a:fillRect/>
          </a:stretch>
        </p:blipFill>
        <p:spPr>
          <a:xfrm>
            <a:off x="4078224" y="2990088"/>
            <a:ext cx="201168" cy="201168"/>
          </a:xfrm>
          <a:prstGeom prst="rect">
            <a:avLst/>
          </a:prstGeom>
        </p:spPr>
      </p:pic>
      <p:sp>
        <p:nvSpPr>
          <p:cNvPr id="32" name="Text 28"/>
          <p:cNvSpPr txBox="1"/>
          <p:nvPr/>
        </p:nvSpPr>
        <p:spPr>
          <a:xfrm>
            <a:off x="914400" y="2871216"/>
            <a:ext cx="2971800" cy="749808"/>
          </a:xfrm>
          <a:prstGeom prst="rect">
            <a:avLst/>
          </a:prstGeom>
          <a:noFill/>
          <a:ln/>
        </p:spPr>
        <p:txBody>
          <a:bodyPr wrap="square" lIns="0" tIns="0" rIns="0" bIns="0" rtlCol="0" anchor="t"/>
          <a:lstStyle/>
          <a:p>
            <a:pPr marL="0" indent="0" algn="r" rtl="1">
              <a:lnSpc>
                <a:spcPts val="1700"/>
              </a:lnSpc>
              <a:buNone/>
            </a:pPr>
            <a:r>
              <a:rPr lang="en-US" sz="1200" dirty="0">
                <a:solidFill>
                  <a:srgbClr val="DCDDDE"/>
                </a:solidFill>
                <a:latin typeface="Segoe UI" pitchFamily="34" charset="0"/>
                <a:ea typeface="Segoe UI" pitchFamily="34" charset="-122"/>
                <a:cs typeface="Segoe UI" pitchFamily="34" charset="-120"/>
              </a:rPr>
              <a:t>ابحث بالاسم أو الرقم الوظيفي، وفلتر النتائج حسب القسم أو المسمّى.</a:t>
            </a:r>
            <a:endParaRPr lang="en-US" sz="1200" dirty="0"/>
          </a:p>
        </p:txBody>
      </p:sp>
      <p:sp>
        <p:nvSpPr>
          <p:cNvPr id="33" name="Shape 29"/>
          <p:cNvSpPr/>
          <p:nvPr/>
        </p:nvSpPr>
        <p:spPr>
          <a:xfrm>
            <a:off x="3977640" y="3712464"/>
            <a:ext cx="402336" cy="402336"/>
          </a:xfrm>
          <a:prstGeom prst="ellipse">
            <a:avLst/>
          </a:prstGeom>
          <a:solidFill>
            <a:srgbClr val="C2151C"/>
          </a:solidFill>
          <a:ln w="12700">
            <a:solidFill>
              <a:srgbClr val="C2151C"/>
            </a:solidFill>
            <a:prstDash val="solid"/>
          </a:ln>
        </p:spPr>
        <p:txBody>
          <a:bodyPr/>
          <a:lstStyle/>
          <a:p>
            <a:endParaRPr lang="en-US"/>
          </a:p>
        </p:txBody>
      </p:sp>
      <p:pic>
        <p:nvPicPr>
          <p:cNvPr id="34" name="Image 2" descr="preencoded.png"/>
          <p:cNvPicPr>
            <a:picLocks noChangeAspect="1"/>
          </p:cNvPicPr>
          <p:nvPr/>
        </p:nvPicPr>
        <p:blipFill>
          <a:blip r:embed="rId5"/>
          <a:stretch>
            <a:fillRect/>
          </a:stretch>
        </p:blipFill>
        <p:spPr>
          <a:xfrm>
            <a:off x="4078224" y="3813048"/>
            <a:ext cx="201168" cy="201168"/>
          </a:xfrm>
          <a:prstGeom prst="rect">
            <a:avLst/>
          </a:prstGeom>
        </p:spPr>
      </p:pic>
      <p:sp>
        <p:nvSpPr>
          <p:cNvPr id="35" name="Text 30"/>
          <p:cNvSpPr txBox="1"/>
          <p:nvPr/>
        </p:nvSpPr>
        <p:spPr>
          <a:xfrm>
            <a:off x="914400" y="3694176"/>
            <a:ext cx="2971800" cy="749808"/>
          </a:xfrm>
          <a:prstGeom prst="rect">
            <a:avLst/>
          </a:prstGeom>
          <a:noFill/>
          <a:ln/>
        </p:spPr>
        <p:txBody>
          <a:bodyPr wrap="square" lIns="0" tIns="0" rIns="0" bIns="0" rtlCol="0" anchor="t"/>
          <a:lstStyle/>
          <a:p>
            <a:pPr marL="0" indent="0" algn="r" rtl="1">
              <a:lnSpc>
                <a:spcPts val="1700"/>
              </a:lnSpc>
              <a:buNone/>
            </a:pPr>
            <a:r>
              <a:rPr lang="en-US" sz="1200" dirty="0">
                <a:solidFill>
                  <a:srgbClr val="DCDDDE"/>
                </a:solidFill>
                <a:latin typeface="Segoe UI" pitchFamily="34" charset="0"/>
                <a:ea typeface="Segoe UI" pitchFamily="34" charset="-122"/>
                <a:cs typeface="Segoe UI" pitchFamily="34" charset="-120"/>
              </a:rPr>
              <a:t>الصور الشخصية محفوظة على قرص خاص ولا تُعرض إلا لمن يملك صلاحية رؤية الموظف.</a:t>
            </a:r>
            <a:endParaRPr lang="en-US" sz="1200" dirty="0"/>
          </a:p>
        </p:txBody>
      </p:sp>
      <p:sp>
        <p:nvSpPr>
          <p:cNvPr id="36" name="Shape 31"/>
          <p:cNvSpPr/>
          <p:nvPr/>
        </p:nvSpPr>
        <p:spPr>
          <a:xfrm>
            <a:off x="3977640" y="4535424"/>
            <a:ext cx="402336" cy="402336"/>
          </a:xfrm>
          <a:prstGeom prst="ellipse">
            <a:avLst/>
          </a:prstGeom>
          <a:solidFill>
            <a:srgbClr val="C2151C"/>
          </a:solidFill>
          <a:ln w="12700">
            <a:solidFill>
              <a:srgbClr val="C2151C"/>
            </a:solidFill>
            <a:prstDash val="solid"/>
          </a:ln>
        </p:spPr>
        <p:txBody>
          <a:bodyPr/>
          <a:lstStyle/>
          <a:p>
            <a:endParaRPr lang="en-US"/>
          </a:p>
        </p:txBody>
      </p:sp>
      <p:pic>
        <p:nvPicPr>
          <p:cNvPr id="37" name="Image 3" descr="preencoded.png"/>
          <p:cNvPicPr>
            <a:picLocks noChangeAspect="1"/>
          </p:cNvPicPr>
          <p:nvPr/>
        </p:nvPicPr>
        <p:blipFill>
          <a:blip r:embed="rId6"/>
          <a:stretch>
            <a:fillRect/>
          </a:stretch>
        </p:blipFill>
        <p:spPr>
          <a:xfrm>
            <a:off x="4078224" y="4636008"/>
            <a:ext cx="201168" cy="201168"/>
          </a:xfrm>
          <a:prstGeom prst="rect">
            <a:avLst/>
          </a:prstGeom>
        </p:spPr>
      </p:pic>
      <p:sp>
        <p:nvSpPr>
          <p:cNvPr id="38" name="Text 32"/>
          <p:cNvSpPr txBox="1"/>
          <p:nvPr/>
        </p:nvSpPr>
        <p:spPr>
          <a:xfrm>
            <a:off x="914400" y="4517136"/>
            <a:ext cx="2971800" cy="749808"/>
          </a:xfrm>
          <a:prstGeom prst="rect">
            <a:avLst/>
          </a:prstGeom>
          <a:noFill/>
          <a:ln/>
        </p:spPr>
        <p:txBody>
          <a:bodyPr wrap="square" lIns="0" tIns="0" rIns="0" bIns="0" rtlCol="0" anchor="t"/>
          <a:lstStyle/>
          <a:p>
            <a:pPr marL="0" indent="0" algn="r" rtl="1">
              <a:lnSpc>
                <a:spcPts val="1700"/>
              </a:lnSpc>
              <a:buNone/>
            </a:pPr>
            <a:r>
              <a:rPr lang="en-US" sz="1200" dirty="0">
                <a:solidFill>
                  <a:srgbClr val="DCDDDE"/>
                </a:solidFill>
                <a:latin typeface="Segoe UI" pitchFamily="34" charset="0"/>
                <a:ea typeface="Segoe UI" pitchFamily="34" charset="-122"/>
                <a:cs typeface="Segoe UI" pitchFamily="34" charset="-120"/>
              </a:rPr>
              <a:t>لكل موظف بطاقة هوية رقمية برابط آمن يمكن تعطيله إن فُقدت البطاقة.</a:t>
            </a:r>
            <a:endParaRPr lang="en-US" sz="1200" dirty="0"/>
          </a:p>
        </p:txBody>
      </p:sp>
      <p:sp>
        <p:nvSpPr>
          <p:cNvPr id="39" name="Shape 33"/>
          <p:cNvSpPr/>
          <p:nvPr/>
        </p:nvSpPr>
        <p:spPr>
          <a:xfrm>
            <a:off x="3977640" y="5358384"/>
            <a:ext cx="402336" cy="402336"/>
          </a:xfrm>
          <a:prstGeom prst="ellipse">
            <a:avLst/>
          </a:prstGeom>
          <a:solidFill>
            <a:srgbClr val="C2151C"/>
          </a:solidFill>
          <a:ln w="12700">
            <a:solidFill>
              <a:srgbClr val="C2151C"/>
            </a:solidFill>
            <a:prstDash val="solid"/>
          </a:ln>
        </p:spPr>
        <p:txBody>
          <a:bodyPr/>
          <a:lstStyle/>
          <a:p>
            <a:endParaRPr lang="en-US"/>
          </a:p>
        </p:txBody>
      </p:sp>
      <p:pic>
        <p:nvPicPr>
          <p:cNvPr id="40" name="Image 4" descr="preencoded.png"/>
          <p:cNvPicPr>
            <a:picLocks noChangeAspect="1"/>
          </p:cNvPicPr>
          <p:nvPr/>
        </p:nvPicPr>
        <p:blipFill>
          <a:blip r:embed="rId7"/>
          <a:stretch>
            <a:fillRect/>
          </a:stretch>
        </p:blipFill>
        <p:spPr>
          <a:xfrm>
            <a:off x="4078224" y="5458968"/>
            <a:ext cx="201168" cy="201168"/>
          </a:xfrm>
          <a:prstGeom prst="rect">
            <a:avLst/>
          </a:prstGeom>
        </p:spPr>
      </p:pic>
      <p:sp>
        <p:nvSpPr>
          <p:cNvPr id="41" name="Text 34"/>
          <p:cNvSpPr txBox="1"/>
          <p:nvPr/>
        </p:nvSpPr>
        <p:spPr>
          <a:xfrm>
            <a:off x="914400" y="5340096"/>
            <a:ext cx="2971800" cy="749808"/>
          </a:xfrm>
          <a:prstGeom prst="rect">
            <a:avLst/>
          </a:prstGeom>
          <a:noFill/>
          <a:ln/>
        </p:spPr>
        <p:txBody>
          <a:bodyPr wrap="square" lIns="0" tIns="0" rIns="0" bIns="0" rtlCol="0" anchor="t"/>
          <a:lstStyle/>
          <a:p>
            <a:pPr marL="0" indent="0" algn="r" rtl="1">
              <a:lnSpc>
                <a:spcPts val="1700"/>
              </a:lnSpc>
              <a:buNone/>
            </a:pPr>
            <a:r>
              <a:rPr lang="en-US" sz="1200" dirty="0">
                <a:solidFill>
                  <a:srgbClr val="DCDDDE"/>
                </a:solidFill>
                <a:latin typeface="Segoe UI" pitchFamily="34" charset="0"/>
                <a:ea typeface="Segoe UI" pitchFamily="34" charset="-122"/>
                <a:cs typeface="Segoe UI" pitchFamily="34" charset="-120"/>
              </a:rPr>
              <a:t>إنهاء الخدمة لا يحذف الموظف، فسجلّه وعقوده السابقة تبقى محفوظة بالكامل.</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6"/>
        </a:solidFill>
        <a:effectLst/>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t"/>
          <a:lstStyle/>
          <a:p>
            <a:pPr marL="0" indent="0" algn="r" rtl="1">
              <a:buNone/>
            </a:pPr>
            <a:r>
              <a:rPr lang="en-US" sz="1250" b="1" kern="0" spc="100" dirty="0">
                <a:solidFill>
                  <a:srgbClr val="C2151C"/>
                </a:solidFill>
                <a:latin typeface="Segoe UI" pitchFamily="34" charset="0"/>
                <a:ea typeface="Segoe UI" pitchFamily="34" charset="-122"/>
                <a:cs typeface="Segoe UI" pitchFamily="34" charset="-120"/>
              </a:rPr>
              <a:t>الاستخدام اليومي</a:t>
            </a:r>
            <a:endParaRPr lang="en-US" sz="1250" dirty="0"/>
          </a:p>
        </p:txBody>
      </p:sp>
      <p:sp>
        <p:nvSpPr>
          <p:cNvPr id="3" name="Text 1"/>
          <p:cNvSpPr txBox="1"/>
          <p:nvPr/>
        </p:nvSpPr>
        <p:spPr>
          <a:xfrm>
            <a:off x="566928" y="713232"/>
            <a:ext cx="11057839" cy="658368"/>
          </a:xfrm>
          <a:prstGeom prst="rect">
            <a:avLst/>
          </a:prstGeom>
          <a:noFill/>
          <a:ln/>
        </p:spPr>
        <p:txBody>
          <a:bodyPr wrap="square" lIns="0" tIns="0" rIns="0" bIns="0" rtlCol="0" anchor="t"/>
          <a:lstStyle/>
          <a:p>
            <a:pPr marL="0" indent="0" algn="r" rtl="1">
              <a:buNone/>
            </a:pPr>
            <a:r>
              <a:rPr lang="en-US" sz="3300" b="1" dirty="0">
                <a:solidFill>
                  <a:srgbClr val="2B2A2C"/>
                </a:solidFill>
                <a:latin typeface="Segoe UI" pitchFamily="34" charset="0"/>
                <a:ea typeface="Segoe UI" pitchFamily="34" charset="-122"/>
                <a:cs typeface="Segoe UI" pitchFamily="34" charset="-120"/>
              </a:rPr>
              <a:t>إدارة العقود</a:t>
            </a:r>
            <a:endParaRPr lang="en-US" sz="3300" dirty="0"/>
          </a:p>
        </p:txBody>
      </p:sp>
      <p:sp>
        <p:nvSpPr>
          <p:cNvPr id="4" name="Shape 2"/>
          <p:cNvSpPr/>
          <p:nvPr/>
        </p:nvSpPr>
        <p:spPr>
          <a:xfrm>
            <a:off x="566928" y="1810512"/>
            <a:ext cx="11057839" cy="2084832"/>
          </a:xfrm>
          <a:prstGeom prst="roundRect">
            <a:avLst>
              <a:gd name="adj" fmla="val 4386"/>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5" name="Text 3"/>
          <p:cNvSpPr txBox="1"/>
          <p:nvPr/>
        </p:nvSpPr>
        <p:spPr>
          <a:xfrm>
            <a:off x="932688" y="2084832"/>
            <a:ext cx="10326319" cy="347472"/>
          </a:xfrm>
          <a:prstGeom prst="rect">
            <a:avLst/>
          </a:prstGeom>
          <a:noFill/>
          <a:ln/>
        </p:spPr>
        <p:txBody>
          <a:bodyPr wrap="square" lIns="0" tIns="0" rIns="0" bIns="0" rtlCol="0" anchor="t"/>
          <a:lstStyle/>
          <a:p>
            <a:pPr marL="0" indent="0" algn="r" rtl="1">
              <a:buNone/>
            </a:pPr>
            <a:r>
              <a:rPr lang="en-US" sz="1900" b="1" dirty="0">
                <a:solidFill>
                  <a:srgbClr val="2B2A2C"/>
                </a:solidFill>
                <a:latin typeface="Segoe UI" pitchFamily="34" charset="0"/>
                <a:ea typeface="Segoe UI" pitchFamily="34" charset="-122"/>
                <a:cs typeface="Segoe UI" pitchFamily="34" charset="-120"/>
              </a:rPr>
              <a:t>إنشاء عقد جديد</a:t>
            </a:r>
            <a:endParaRPr lang="en-US" sz="1900" dirty="0"/>
          </a:p>
        </p:txBody>
      </p:sp>
      <p:sp>
        <p:nvSpPr>
          <p:cNvPr id="6" name="Shape 4"/>
          <p:cNvSpPr/>
          <p:nvPr/>
        </p:nvSpPr>
        <p:spPr>
          <a:xfrm>
            <a:off x="10856671" y="2596896"/>
            <a:ext cx="402336" cy="402336"/>
          </a:xfrm>
          <a:prstGeom prst="ellipse">
            <a:avLst/>
          </a:prstGeom>
          <a:solidFill>
            <a:srgbClr val="C2151C"/>
          </a:solidFill>
          <a:ln w="12700">
            <a:solidFill>
              <a:srgbClr val="C2151C"/>
            </a:solidFill>
            <a:prstDash val="solid"/>
          </a:ln>
        </p:spPr>
        <p:txBody>
          <a:bodyPr/>
          <a:lstStyle/>
          <a:p>
            <a:endParaRPr lang="en-US"/>
          </a:p>
        </p:txBody>
      </p:sp>
      <p:sp>
        <p:nvSpPr>
          <p:cNvPr id="7" name="Text 5"/>
          <p:cNvSpPr txBox="1"/>
          <p:nvPr/>
        </p:nvSpPr>
        <p:spPr>
          <a:xfrm>
            <a:off x="10856671" y="2596896"/>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8" name="Text 6"/>
          <p:cNvSpPr txBox="1"/>
          <p:nvPr/>
        </p:nvSpPr>
        <p:spPr>
          <a:xfrm>
            <a:off x="9354678" y="3090672"/>
            <a:ext cx="1904329" cy="274320"/>
          </a:xfrm>
          <a:prstGeom prst="rect">
            <a:avLst/>
          </a:prstGeom>
          <a:noFill/>
          <a:ln/>
        </p:spPr>
        <p:txBody>
          <a:bodyPr wrap="square" lIns="0" tIns="0" rIns="0" bIns="0" rtlCol="0" anchor="t"/>
          <a:lstStyle/>
          <a:p>
            <a:pPr marL="0" indent="0" algn="r" rtl="1">
              <a:buNone/>
            </a:pPr>
            <a:r>
              <a:rPr lang="en-US" sz="1300" b="1" dirty="0">
                <a:solidFill>
                  <a:srgbClr val="2B2A2C"/>
                </a:solidFill>
                <a:latin typeface="Segoe UI" pitchFamily="34" charset="0"/>
                <a:ea typeface="Segoe UI" pitchFamily="34" charset="-122"/>
                <a:cs typeface="Segoe UI" pitchFamily="34" charset="-120"/>
              </a:rPr>
              <a:t>اختر الموظف</a:t>
            </a:r>
            <a:endParaRPr lang="en-US" sz="1300" dirty="0"/>
          </a:p>
        </p:txBody>
      </p:sp>
      <p:sp>
        <p:nvSpPr>
          <p:cNvPr id="9" name="Text 7"/>
          <p:cNvSpPr txBox="1"/>
          <p:nvPr/>
        </p:nvSpPr>
        <p:spPr>
          <a:xfrm>
            <a:off x="9354678" y="3346704"/>
            <a:ext cx="1904329" cy="402336"/>
          </a:xfrm>
          <a:prstGeom prst="rect">
            <a:avLst/>
          </a:prstGeom>
          <a:noFill/>
          <a:ln/>
        </p:spPr>
        <p:txBody>
          <a:bodyPr wrap="square" lIns="0" tIns="0" rIns="0" bIns="0" rtlCol="0" anchor="t"/>
          <a:lstStyle/>
          <a:p>
            <a:pPr marL="0" indent="0" algn="r" rtl="1">
              <a:lnSpc>
                <a:spcPts val="1500"/>
              </a:lnSpc>
              <a:buNone/>
            </a:pPr>
            <a:r>
              <a:rPr lang="en-US" sz="1100" dirty="0">
                <a:solidFill>
                  <a:srgbClr val="6D6E71"/>
                </a:solidFill>
                <a:latin typeface="Segoe UI" pitchFamily="34" charset="0"/>
                <a:ea typeface="Segoe UI" pitchFamily="34" charset="-122"/>
                <a:cs typeface="Segoe UI" pitchFamily="34" charset="-120"/>
              </a:rPr>
              <a:t>من صفحة العقود ثم إضافة عقد</a:t>
            </a:r>
            <a:endParaRPr lang="en-US" sz="1100" dirty="0"/>
          </a:p>
        </p:txBody>
      </p:sp>
      <p:sp>
        <p:nvSpPr>
          <p:cNvPr id="10" name="Shape 8"/>
          <p:cNvSpPr/>
          <p:nvPr/>
        </p:nvSpPr>
        <p:spPr>
          <a:xfrm>
            <a:off x="8751174" y="2596896"/>
            <a:ext cx="402336" cy="402336"/>
          </a:xfrm>
          <a:prstGeom prst="ellipse">
            <a:avLst/>
          </a:prstGeom>
          <a:solidFill>
            <a:srgbClr val="C2151C"/>
          </a:solidFill>
          <a:ln w="12700">
            <a:solidFill>
              <a:srgbClr val="C2151C"/>
            </a:solidFill>
            <a:prstDash val="solid"/>
          </a:ln>
        </p:spPr>
        <p:txBody>
          <a:bodyPr/>
          <a:lstStyle/>
          <a:p>
            <a:endParaRPr lang="en-US"/>
          </a:p>
        </p:txBody>
      </p:sp>
      <p:sp>
        <p:nvSpPr>
          <p:cNvPr id="11" name="Text 9"/>
          <p:cNvSpPr txBox="1"/>
          <p:nvPr/>
        </p:nvSpPr>
        <p:spPr>
          <a:xfrm>
            <a:off x="8751174" y="2596896"/>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2" name="Text 10"/>
          <p:cNvSpPr txBox="1"/>
          <p:nvPr/>
        </p:nvSpPr>
        <p:spPr>
          <a:xfrm>
            <a:off x="7249180" y="3090672"/>
            <a:ext cx="1904329" cy="274320"/>
          </a:xfrm>
          <a:prstGeom prst="rect">
            <a:avLst/>
          </a:prstGeom>
          <a:noFill/>
          <a:ln/>
        </p:spPr>
        <p:txBody>
          <a:bodyPr wrap="square" lIns="0" tIns="0" rIns="0" bIns="0" rtlCol="0" anchor="t"/>
          <a:lstStyle/>
          <a:p>
            <a:pPr marL="0" indent="0" algn="r" rtl="1">
              <a:buNone/>
            </a:pPr>
            <a:r>
              <a:rPr lang="en-US" sz="1300" b="1" dirty="0">
                <a:solidFill>
                  <a:srgbClr val="2B2A2C"/>
                </a:solidFill>
                <a:latin typeface="Segoe UI" pitchFamily="34" charset="0"/>
                <a:ea typeface="Segoe UI" pitchFamily="34" charset="-122"/>
                <a:cs typeface="Segoe UI" pitchFamily="34" charset="-120"/>
              </a:rPr>
              <a:t>حدّد نوع العقد</a:t>
            </a:r>
            <a:endParaRPr lang="en-US" sz="1300" dirty="0"/>
          </a:p>
        </p:txBody>
      </p:sp>
      <p:sp>
        <p:nvSpPr>
          <p:cNvPr id="13" name="Text 11"/>
          <p:cNvSpPr txBox="1"/>
          <p:nvPr/>
        </p:nvSpPr>
        <p:spPr>
          <a:xfrm>
            <a:off x="7249180" y="3346704"/>
            <a:ext cx="1904329" cy="402336"/>
          </a:xfrm>
          <a:prstGeom prst="rect">
            <a:avLst/>
          </a:prstGeom>
          <a:noFill/>
          <a:ln/>
        </p:spPr>
        <p:txBody>
          <a:bodyPr wrap="square" lIns="0" tIns="0" rIns="0" bIns="0" rtlCol="0" anchor="t"/>
          <a:lstStyle/>
          <a:p>
            <a:pPr marL="0" indent="0" algn="r" rtl="1">
              <a:lnSpc>
                <a:spcPts val="1500"/>
              </a:lnSpc>
              <a:buNone/>
            </a:pPr>
            <a:r>
              <a:rPr lang="en-US" sz="1100" dirty="0">
                <a:solidFill>
                  <a:srgbClr val="6D6E71"/>
                </a:solidFill>
                <a:latin typeface="Segoe UI" pitchFamily="34" charset="0"/>
                <a:ea typeface="Segoe UI" pitchFamily="34" charset="-122"/>
                <a:cs typeface="Segoe UI" pitchFamily="34" charset="-120"/>
              </a:rPr>
              <a:t>محدد المدة أو غير محدد أو مؤقت</a:t>
            </a:r>
            <a:endParaRPr lang="en-US" sz="1100" dirty="0"/>
          </a:p>
        </p:txBody>
      </p:sp>
      <p:sp>
        <p:nvSpPr>
          <p:cNvPr id="14" name="Shape 12"/>
          <p:cNvSpPr/>
          <p:nvPr/>
        </p:nvSpPr>
        <p:spPr>
          <a:xfrm>
            <a:off x="6645676" y="2596896"/>
            <a:ext cx="402336" cy="402336"/>
          </a:xfrm>
          <a:prstGeom prst="ellipse">
            <a:avLst/>
          </a:prstGeom>
          <a:solidFill>
            <a:srgbClr val="C2151C"/>
          </a:solidFill>
          <a:ln w="12700">
            <a:solidFill>
              <a:srgbClr val="C2151C"/>
            </a:solidFill>
            <a:prstDash val="solid"/>
          </a:ln>
        </p:spPr>
        <p:txBody>
          <a:bodyPr/>
          <a:lstStyle/>
          <a:p>
            <a:endParaRPr lang="en-US"/>
          </a:p>
        </p:txBody>
      </p:sp>
      <p:sp>
        <p:nvSpPr>
          <p:cNvPr id="15" name="Text 13"/>
          <p:cNvSpPr txBox="1"/>
          <p:nvPr/>
        </p:nvSpPr>
        <p:spPr>
          <a:xfrm>
            <a:off x="6645676" y="2596896"/>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16" name="Text 14"/>
          <p:cNvSpPr txBox="1"/>
          <p:nvPr/>
        </p:nvSpPr>
        <p:spPr>
          <a:xfrm>
            <a:off x="5143683" y="3090672"/>
            <a:ext cx="1904329" cy="274320"/>
          </a:xfrm>
          <a:prstGeom prst="rect">
            <a:avLst/>
          </a:prstGeom>
          <a:noFill/>
          <a:ln/>
        </p:spPr>
        <p:txBody>
          <a:bodyPr wrap="square" lIns="0" tIns="0" rIns="0" bIns="0" rtlCol="0" anchor="t"/>
          <a:lstStyle/>
          <a:p>
            <a:pPr marL="0" indent="0" algn="r" rtl="1">
              <a:buNone/>
            </a:pPr>
            <a:r>
              <a:rPr lang="en-US" sz="1300" b="1" dirty="0">
                <a:solidFill>
                  <a:srgbClr val="2B2A2C"/>
                </a:solidFill>
                <a:latin typeface="Segoe UI" pitchFamily="34" charset="0"/>
                <a:ea typeface="Segoe UI" pitchFamily="34" charset="-122"/>
                <a:cs typeface="Segoe UI" pitchFamily="34" charset="-120"/>
              </a:rPr>
              <a:t>أدخل التواريخ والراتب</a:t>
            </a:r>
            <a:endParaRPr lang="en-US" sz="1300" dirty="0"/>
          </a:p>
        </p:txBody>
      </p:sp>
      <p:sp>
        <p:nvSpPr>
          <p:cNvPr id="17" name="Text 15"/>
          <p:cNvSpPr txBox="1"/>
          <p:nvPr/>
        </p:nvSpPr>
        <p:spPr>
          <a:xfrm>
            <a:off x="5143683" y="3346704"/>
            <a:ext cx="1904329" cy="402336"/>
          </a:xfrm>
          <a:prstGeom prst="rect">
            <a:avLst/>
          </a:prstGeom>
          <a:noFill/>
          <a:ln/>
        </p:spPr>
        <p:txBody>
          <a:bodyPr wrap="square" lIns="0" tIns="0" rIns="0" bIns="0" rtlCol="0" anchor="t"/>
          <a:lstStyle/>
          <a:p>
            <a:pPr marL="0" indent="0" algn="r" rtl="1">
              <a:lnSpc>
                <a:spcPts val="1500"/>
              </a:lnSpc>
              <a:buNone/>
            </a:pPr>
            <a:r>
              <a:rPr lang="en-US" sz="1100" dirty="0">
                <a:solidFill>
                  <a:srgbClr val="6D6E71"/>
                </a:solidFill>
                <a:latin typeface="Segoe UI" pitchFamily="34" charset="0"/>
                <a:ea typeface="Segoe UI" pitchFamily="34" charset="-122"/>
                <a:cs typeface="Segoe UI" pitchFamily="34" charset="-120"/>
              </a:rPr>
              <a:t>البداية والنهاية والبدلات</a:t>
            </a:r>
            <a:endParaRPr lang="en-US" sz="1100" dirty="0"/>
          </a:p>
        </p:txBody>
      </p:sp>
      <p:sp>
        <p:nvSpPr>
          <p:cNvPr id="18" name="Shape 16"/>
          <p:cNvSpPr/>
          <p:nvPr/>
        </p:nvSpPr>
        <p:spPr>
          <a:xfrm>
            <a:off x="4540179" y="2596896"/>
            <a:ext cx="402336" cy="402336"/>
          </a:xfrm>
          <a:prstGeom prst="ellipse">
            <a:avLst/>
          </a:prstGeom>
          <a:solidFill>
            <a:srgbClr val="C2151C"/>
          </a:solidFill>
          <a:ln w="12700">
            <a:solidFill>
              <a:srgbClr val="C2151C"/>
            </a:solidFill>
            <a:prstDash val="solid"/>
          </a:ln>
        </p:spPr>
        <p:txBody>
          <a:bodyPr/>
          <a:lstStyle/>
          <a:p>
            <a:endParaRPr lang="en-US"/>
          </a:p>
        </p:txBody>
      </p:sp>
      <p:sp>
        <p:nvSpPr>
          <p:cNvPr id="19" name="Text 17"/>
          <p:cNvSpPr txBox="1"/>
          <p:nvPr/>
        </p:nvSpPr>
        <p:spPr>
          <a:xfrm>
            <a:off x="4540179" y="2596896"/>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20" name="Text 18"/>
          <p:cNvSpPr txBox="1"/>
          <p:nvPr/>
        </p:nvSpPr>
        <p:spPr>
          <a:xfrm>
            <a:off x="3038185" y="3090672"/>
            <a:ext cx="1904329" cy="274320"/>
          </a:xfrm>
          <a:prstGeom prst="rect">
            <a:avLst/>
          </a:prstGeom>
          <a:noFill/>
          <a:ln/>
        </p:spPr>
        <p:txBody>
          <a:bodyPr wrap="square" lIns="0" tIns="0" rIns="0" bIns="0" rtlCol="0" anchor="t"/>
          <a:lstStyle/>
          <a:p>
            <a:pPr marL="0" indent="0" algn="r" rtl="1">
              <a:buNone/>
            </a:pPr>
            <a:r>
              <a:rPr lang="en-US" sz="1300" b="1" dirty="0">
                <a:solidFill>
                  <a:srgbClr val="2B2A2C"/>
                </a:solidFill>
                <a:latin typeface="Segoe UI" pitchFamily="34" charset="0"/>
                <a:ea typeface="Segoe UI" pitchFamily="34" charset="-122"/>
                <a:cs typeface="Segoe UI" pitchFamily="34" charset="-120"/>
              </a:rPr>
              <a:t>اربطه بالمنصب</a:t>
            </a:r>
            <a:endParaRPr lang="en-US" sz="1300" dirty="0"/>
          </a:p>
        </p:txBody>
      </p:sp>
      <p:sp>
        <p:nvSpPr>
          <p:cNvPr id="21" name="Text 19"/>
          <p:cNvSpPr txBox="1"/>
          <p:nvPr/>
        </p:nvSpPr>
        <p:spPr>
          <a:xfrm>
            <a:off x="3038185" y="3346704"/>
            <a:ext cx="1904329" cy="402336"/>
          </a:xfrm>
          <a:prstGeom prst="rect">
            <a:avLst/>
          </a:prstGeom>
          <a:noFill/>
          <a:ln/>
        </p:spPr>
        <p:txBody>
          <a:bodyPr wrap="square" lIns="0" tIns="0" rIns="0" bIns="0" rtlCol="0" anchor="t"/>
          <a:lstStyle/>
          <a:p>
            <a:pPr marL="0" indent="0" algn="r" rtl="1">
              <a:lnSpc>
                <a:spcPts val="1500"/>
              </a:lnSpc>
              <a:buNone/>
            </a:pPr>
            <a:r>
              <a:rPr lang="en-US" sz="1100" dirty="0">
                <a:solidFill>
                  <a:srgbClr val="6D6E71"/>
                </a:solidFill>
                <a:latin typeface="Segoe UI" pitchFamily="34" charset="0"/>
                <a:ea typeface="Segoe UI" pitchFamily="34" charset="-122"/>
                <a:cs typeface="Segoe UI" pitchFamily="34" charset="-120"/>
              </a:rPr>
              <a:t>القسم والبرنامج والمركز</a:t>
            </a:r>
            <a:endParaRPr lang="en-US" sz="1100" dirty="0"/>
          </a:p>
        </p:txBody>
      </p:sp>
      <p:sp>
        <p:nvSpPr>
          <p:cNvPr id="22" name="Shape 20"/>
          <p:cNvSpPr/>
          <p:nvPr/>
        </p:nvSpPr>
        <p:spPr>
          <a:xfrm>
            <a:off x="2434681" y="2596896"/>
            <a:ext cx="402336" cy="402336"/>
          </a:xfrm>
          <a:prstGeom prst="ellipse">
            <a:avLst/>
          </a:prstGeom>
          <a:solidFill>
            <a:srgbClr val="C2151C"/>
          </a:solidFill>
          <a:ln w="12700">
            <a:solidFill>
              <a:srgbClr val="C2151C"/>
            </a:solidFill>
            <a:prstDash val="solid"/>
          </a:ln>
        </p:spPr>
        <p:txBody>
          <a:bodyPr/>
          <a:lstStyle/>
          <a:p>
            <a:endParaRPr lang="en-US"/>
          </a:p>
        </p:txBody>
      </p:sp>
      <p:sp>
        <p:nvSpPr>
          <p:cNvPr id="23" name="Text 21"/>
          <p:cNvSpPr txBox="1"/>
          <p:nvPr/>
        </p:nvSpPr>
        <p:spPr>
          <a:xfrm>
            <a:off x="2434681" y="2596896"/>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24" name="Text 22"/>
          <p:cNvSpPr txBox="1"/>
          <p:nvPr/>
        </p:nvSpPr>
        <p:spPr>
          <a:xfrm>
            <a:off x="932688" y="3090672"/>
            <a:ext cx="1904329" cy="274320"/>
          </a:xfrm>
          <a:prstGeom prst="rect">
            <a:avLst/>
          </a:prstGeom>
          <a:noFill/>
          <a:ln/>
        </p:spPr>
        <p:txBody>
          <a:bodyPr wrap="square" lIns="0" tIns="0" rIns="0" bIns="0" rtlCol="0" anchor="t"/>
          <a:lstStyle/>
          <a:p>
            <a:pPr marL="0" indent="0" algn="r" rtl="1">
              <a:buNone/>
            </a:pPr>
            <a:r>
              <a:rPr lang="en-US" sz="1300" b="1" dirty="0">
                <a:solidFill>
                  <a:srgbClr val="2B2A2C"/>
                </a:solidFill>
                <a:latin typeface="Segoe UI" pitchFamily="34" charset="0"/>
                <a:ea typeface="Segoe UI" pitchFamily="34" charset="-122"/>
                <a:cs typeface="Segoe UI" pitchFamily="34" charset="-120"/>
              </a:rPr>
              <a:t>احفظ العقد</a:t>
            </a:r>
            <a:endParaRPr lang="en-US" sz="1300" dirty="0"/>
          </a:p>
        </p:txBody>
      </p:sp>
      <p:sp>
        <p:nvSpPr>
          <p:cNvPr id="25" name="Text 23"/>
          <p:cNvSpPr txBox="1"/>
          <p:nvPr/>
        </p:nvSpPr>
        <p:spPr>
          <a:xfrm>
            <a:off x="932688" y="3346704"/>
            <a:ext cx="1904329" cy="402336"/>
          </a:xfrm>
          <a:prstGeom prst="rect">
            <a:avLst/>
          </a:prstGeom>
          <a:noFill/>
          <a:ln/>
        </p:spPr>
        <p:txBody>
          <a:bodyPr wrap="square" lIns="0" tIns="0" rIns="0" bIns="0" rtlCol="0" anchor="t"/>
          <a:lstStyle/>
          <a:p>
            <a:pPr marL="0" indent="0" algn="r" rtl="1">
              <a:lnSpc>
                <a:spcPts val="1500"/>
              </a:lnSpc>
              <a:buNone/>
            </a:pPr>
            <a:r>
              <a:rPr lang="en-US" sz="1100" dirty="0">
                <a:solidFill>
                  <a:srgbClr val="6D6E71"/>
                </a:solidFill>
                <a:latin typeface="Segoe UI" pitchFamily="34" charset="0"/>
                <a:ea typeface="Segoe UI" pitchFamily="34" charset="-122"/>
                <a:cs typeface="Segoe UI" pitchFamily="34" charset="-120"/>
              </a:rPr>
              <a:t>ويظهر فوراً في قائمة العقود</a:t>
            </a:r>
            <a:endParaRPr lang="en-US" sz="1100" dirty="0"/>
          </a:p>
        </p:txBody>
      </p:sp>
      <p:sp>
        <p:nvSpPr>
          <p:cNvPr id="26" name="Shape 24"/>
          <p:cNvSpPr/>
          <p:nvPr/>
        </p:nvSpPr>
        <p:spPr>
          <a:xfrm>
            <a:off x="8121701" y="4169664"/>
            <a:ext cx="3503066" cy="2139696"/>
          </a:xfrm>
          <a:prstGeom prst="roundRect">
            <a:avLst>
              <a:gd name="adj" fmla="val 4274"/>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27" name="Shape 25"/>
          <p:cNvSpPr/>
          <p:nvPr/>
        </p:nvSpPr>
        <p:spPr>
          <a:xfrm>
            <a:off x="10746943" y="4443984"/>
            <a:ext cx="566928" cy="566928"/>
          </a:xfrm>
          <a:prstGeom prst="ellipse">
            <a:avLst/>
          </a:prstGeom>
          <a:solidFill>
            <a:srgbClr val="F7E8E9"/>
          </a:solidFill>
          <a:ln w="12700">
            <a:solidFill>
              <a:srgbClr val="F7E8E9"/>
            </a:solidFill>
            <a:prstDash val="solid"/>
          </a:ln>
        </p:spPr>
        <p:txBody>
          <a:bodyPr/>
          <a:lstStyle/>
          <a:p>
            <a:endParaRPr lang="en-US"/>
          </a:p>
        </p:txBody>
      </p:sp>
      <p:pic>
        <p:nvPicPr>
          <p:cNvPr id="28" name="Image 0" descr="preencoded.png"/>
          <p:cNvPicPr>
            <a:picLocks noChangeAspect="1"/>
          </p:cNvPicPr>
          <p:nvPr/>
        </p:nvPicPr>
        <p:blipFill>
          <a:blip r:embed="rId3"/>
          <a:stretch>
            <a:fillRect/>
          </a:stretch>
        </p:blipFill>
        <p:spPr>
          <a:xfrm>
            <a:off x="10888675" y="4585716"/>
            <a:ext cx="283464" cy="283464"/>
          </a:xfrm>
          <a:prstGeom prst="rect">
            <a:avLst/>
          </a:prstGeom>
        </p:spPr>
      </p:pic>
      <p:sp>
        <p:nvSpPr>
          <p:cNvPr id="29" name="Text 26"/>
          <p:cNvSpPr txBox="1"/>
          <p:nvPr/>
        </p:nvSpPr>
        <p:spPr>
          <a:xfrm>
            <a:off x="8432597" y="5138928"/>
            <a:ext cx="2881274" cy="310896"/>
          </a:xfrm>
          <a:prstGeom prst="rect">
            <a:avLst/>
          </a:prstGeom>
          <a:noFill/>
          <a:ln/>
        </p:spPr>
        <p:txBody>
          <a:bodyPr wrap="square" lIns="0" tIns="0" rIns="0" bIns="0" rtlCol="0" anchor="t"/>
          <a:lstStyle/>
          <a:p>
            <a:pPr marL="0" indent="0" algn="r" rtl="1">
              <a:buNone/>
            </a:pPr>
            <a:r>
              <a:rPr lang="en-US" sz="1600" b="1" dirty="0">
                <a:solidFill>
                  <a:srgbClr val="2B2A2C"/>
                </a:solidFill>
                <a:latin typeface="Segoe UI" pitchFamily="34" charset="0"/>
                <a:ea typeface="Segoe UI" pitchFamily="34" charset="-122"/>
                <a:cs typeface="Segoe UI" pitchFamily="34" charset="-120"/>
              </a:rPr>
              <a:t>التجديد التلقائي</a:t>
            </a:r>
            <a:endParaRPr lang="en-US" sz="1600" dirty="0"/>
          </a:p>
        </p:txBody>
      </p:sp>
      <p:sp>
        <p:nvSpPr>
          <p:cNvPr id="30" name="Text 27"/>
          <p:cNvSpPr txBox="1"/>
          <p:nvPr/>
        </p:nvSpPr>
        <p:spPr>
          <a:xfrm>
            <a:off x="8432597" y="5486400"/>
            <a:ext cx="2881274" cy="731520"/>
          </a:xfrm>
          <a:prstGeom prst="rect">
            <a:avLst/>
          </a:prstGeom>
          <a:noFill/>
          <a:ln/>
        </p:spPr>
        <p:txBody>
          <a:bodyPr wrap="square" lIns="0" tIns="0" rIns="0" bIns="0" rtlCol="0" anchor="t"/>
          <a:lstStyle/>
          <a:p>
            <a:pPr marL="0" indent="0" algn="r" rtl="1">
              <a:lnSpc>
                <a:spcPts val="1700"/>
              </a:lnSpc>
              <a:buNone/>
            </a:pPr>
            <a:r>
              <a:rPr lang="en-US" sz="1200" dirty="0">
                <a:solidFill>
                  <a:srgbClr val="6D6E71"/>
                </a:solidFill>
                <a:latin typeface="Segoe UI" pitchFamily="34" charset="0"/>
                <a:ea typeface="Segoe UI" pitchFamily="34" charset="-122"/>
                <a:cs typeface="Segoe UI" pitchFamily="34" charset="-120"/>
              </a:rPr>
              <a:t>فعّل التجديد على العقد فيُنشئ النظام الفترة التالية دون إعادة إدخال البيانات. التعديل عليه متاح لمسؤول الموارد البشرية ضمن المحافظة.</a:t>
            </a:r>
            <a:endParaRPr lang="en-US" sz="1200" dirty="0"/>
          </a:p>
        </p:txBody>
      </p:sp>
      <p:sp>
        <p:nvSpPr>
          <p:cNvPr id="31" name="Shape 28"/>
          <p:cNvSpPr/>
          <p:nvPr/>
        </p:nvSpPr>
        <p:spPr>
          <a:xfrm>
            <a:off x="4344314" y="4169664"/>
            <a:ext cx="3503066" cy="2139696"/>
          </a:xfrm>
          <a:prstGeom prst="roundRect">
            <a:avLst>
              <a:gd name="adj" fmla="val 4274"/>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32" name="Shape 29"/>
          <p:cNvSpPr/>
          <p:nvPr/>
        </p:nvSpPr>
        <p:spPr>
          <a:xfrm>
            <a:off x="6969557" y="4443984"/>
            <a:ext cx="566928" cy="566928"/>
          </a:xfrm>
          <a:prstGeom prst="ellipse">
            <a:avLst/>
          </a:prstGeom>
          <a:solidFill>
            <a:srgbClr val="F7E8E9"/>
          </a:solidFill>
          <a:ln w="12700">
            <a:solidFill>
              <a:srgbClr val="F7E8E9"/>
            </a:solidFill>
            <a:prstDash val="solid"/>
          </a:ln>
        </p:spPr>
        <p:txBody>
          <a:bodyPr/>
          <a:lstStyle/>
          <a:p>
            <a:endParaRPr lang="en-US"/>
          </a:p>
        </p:txBody>
      </p:sp>
      <p:pic>
        <p:nvPicPr>
          <p:cNvPr id="33" name="Image 1" descr="preencoded.png"/>
          <p:cNvPicPr>
            <a:picLocks noChangeAspect="1"/>
          </p:cNvPicPr>
          <p:nvPr/>
        </p:nvPicPr>
        <p:blipFill>
          <a:blip r:embed="rId4"/>
          <a:stretch>
            <a:fillRect/>
          </a:stretch>
        </p:blipFill>
        <p:spPr>
          <a:xfrm>
            <a:off x="7111289" y="4585716"/>
            <a:ext cx="283464" cy="283464"/>
          </a:xfrm>
          <a:prstGeom prst="rect">
            <a:avLst/>
          </a:prstGeom>
        </p:spPr>
      </p:pic>
      <p:sp>
        <p:nvSpPr>
          <p:cNvPr id="34" name="Text 30"/>
          <p:cNvSpPr txBox="1"/>
          <p:nvPr/>
        </p:nvSpPr>
        <p:spPr>
          <a:xfrm>
            <a:off x="4655210" y="5138928"/>
            <a:ext cx="2881274" cy="310896"/>
          </a:xfrm>
          <a:prstGeom prst="rect">
            <a:avLst/>
          </a:prstGeom>
          <a:noFill/>
          <a:ln/>
        </p:spPr>
        <p:txBody>
          <a:bodyPr wrap="square" lIns="0" tIns="0" rIns="0" bIns="0" rtlCol="0" anchor="t"/>
          <a:lstStyle/>
          <a:p>
            <a:pPr marL="0" indent="0" algn="r" rtl="1">
              <a:buNone/>
            </a:pPr>
            <a:r>
              <a:rPr lang="en-US" sz="1600" b="1" dirty="0">
                <a:solidFill>
                  <a:srgbClr val="2B2A2C"/>
                </a:solidFill>
                <a:latin typeface="Segoe UI" pitchFamily="34" charset="0"/>
                <a:ea typeface="Segoe UI" pitchFamily="34" charset="-122"/>
                <a:cs typeface="Segoe UI" pitchFamily="34" charset="-120"/>
              </a:rPr>
              <a:t>تصدير نسخة العقد</a:t>
            </a:r>
            <a:endParaRPr lang="en-US" sz="1600" dirty="0"/>
          </a:p>
        </p:txBody>
      </p:sp>
      <p:sp>
        <p:nvSpPr>
          <p:cNvPr id="35" name="Text 31"/>
          <p:cNvSpPr txBox="1"/>
          <p:nvPr/>
        </p:nvSpPr>
        <p:spPr>
          <a:xfrm>
            <a:off x="4655210" y="5486400"/>
            <a:ext cx="2881274" cy="731520"/>
          </a:xfrm>
          <a:prstGeom prst="rect">
            <a:avLst/>
          </a:prstGeom>
          <a:noFill/>
          <a:ln/>
        </p:spPr>
        <p:txBody>
          <a:bodyPr wrap="square" lIns="0" tIns="0" rIns="0" bIns="0" rtlCol="0" anchor="t"/>
          <a:lstStyle/>
          <a:p>
            <a:pPr marL="0" indent="0" algn="r" rtl="1">
              <a:lnSpc>
                <a:spcPts val="1700"/>
              </a:lnSpc>
              <a:buNone/>
            </a:pPr>
            <a:r>
              <a:rPr lang="en-US" sz="1200" dirty="0">
                <a:solidFill>
                  <a:srgbClr val="6D6E71"/>
                </a:solidFill>
                <a:latin typeface="Segoe UI" pitchFamily="34" charset="0"/>
                <a:ea typeface="Segoe UI" pitchFamily="34" charset="-122"/>
                <a:cs typeface="Segoe UI" pitchFamily="34" charset="-120"/>
              </a:rPr>
              <a:t>اطبع نسخة رسمية جاهزة للتوقيع بصيغة PDF من زر التصدير في صفحة العقد.</a:t>
            </a:r>
            <a:endParaRPr lang="en-US" sz="1200" dirty="0"/>
          </a:p>
        </p:txBody>
      </p:sp>
      <p:sp>
        <p:nvSpPr>
          <p:cNvPr id="36" name="Shape 32"/>
          <p:cNvSpPr/>
          <p:nvPr/>
        </p:nvSpPr>
        <p:spPr>
          <a:xfrm>
            <a:off x="566928" y="4169664"/>
            <a:ext cx="3503066" cy="2139696"/>
          </a:xfrm>
          <a:prstGeom prst="roundRect">
            <a:avLst>
              <a:gd name="adj" fmla="val 4274"/>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37" name="Shape 33"/>
          <p:cNvSpPr/>
          <p:nvPr/>
        </p:nvSpPr>
        <p:spPr>
          <a:xfrm>
            <a:off x="3192170" y="4443984"/>
            <a:ext cx="566928" cy="566928"/>
          </a:xfrm>
          <a:prstGeom prst="ellipse">
            <a:avLst/>
          </a:prstGeom>
          <a:solidFill>
            <a:srgbClr val="F7E8E9"/>
          </a:solidFill>
          <a:ln w="12700">
            <a:solidFill>
              <a:srgbClr val="F7E8E9"/>
            </a:solidFill>
            <a:prstDash val="solid"/>
          </a:ln>
        </p:spPr>
        <p:txBody>
          <a:bodyPr/>
          <a:lstStyle/>
          <a:p>
            <a:endParaRPr lang="en-US"/>
          </a:p>
        </p:txBody>
      </p:sp>
      <p:pic>
        <p:nvPicPr>
          <p:cNvPr id="38" name="Image 2" descr="preencoded.png"/>
          <p:cNvPicPr>
            <a:picLocks noChangeAspect="1"/>
          </p:cNvPicPr>
          <p:nvPr/>
        </p:nvPicPr>
        <p:blipFill>
          <a:blip r:embed="rId5"/>
          <a:stretch>
            <a:fillRect/>
          </a:stretch>
        </p:blipFill>
        <p:spPr>
          <a:xfrm>
            <a:off x="3333902" y="4585716"/>
            <a:ext cx="283464" cy="283464"/>
          </a:xfrm>
          <a:prstGeom prst="rect">
            <a:avLst/>
          </a:prstGeom>
        </p:spPr>
      </p:pic>
      <p:sp>
        <p:nvSpPr>
          <p:cNvPr id="39" name="Text 34"/>
          <p:cNvSpPr txBox="1"/>
          <p:nvPr/>
        </p:nvSpPr>
        <p:spPr>
          <a:xfrm>
            <a:off x="877824" y="5138928"/>
            <a:ext cx="2881274" cy="310896"/>
          </a:xfrm>
          <a:prstGeom prst="rect">
            <a:avLst/>
          </a:prstGeom>
          <a:noFill/>
          <a:ln/>
        </p:spPr>
        <p:txBody>
          <a:bodyPr wrap="square" lIns="0" tIns="0" rIns="0" bIns="0" rtlCol="0" anchor="t"/>
          <a:lstStyle/>
          <a:p>
            <a:pPr marL="0" indent="0" algn="r" rtl="1">
              <a:buNone/>
            </a:pPr>
            <a:r>
              <a:rPr lang="en-US" sz="1600" b="1" dirty="0">
                <a:solidFill>
                  <a:srgbClr val="2B2A2C"/>
                </a:solidFill>
                <a:latin typeface="Segoe UI" pitchFamily="34" charset="0"/>
                <a:ea typeface="Segoe UI" pitchFamily="34" charset="-122"/>
                <a:cs typeface="Segoe UI" pitchFamily="34" charset="-120"/>
              </a:rPr>
              <a:t>سعة المنصب محفوظة</a:t>
            </a:r>
            <a:endParaRPr lang="en-US" sz="1600" dirty="0"/>
          </a:p>
        </p:txBody>
      </p:sp>
      <p:sp>
        <p:nvSpPr>
          <p:cNvPr id="40" name="Text 35"/>
          <p:cNvSpPr txBox="1"/>
          <p:nvPr/>
        </p:nvSpPr>
        <p:spPr>
          <a:xfrm>
            <a:off x="877824" y="5486400"/>
            <a:ext cx="2881274" cy="731520"/>
          </a:xfrm>
          <a:prstGeom prst="rect">
            <a:avLst/>
          </a:prstGeom>
          <a:noFill/>
          <a:ln/>
        </p:spPr>
        <p:txBody>
          <a:bodyPr wrap="square" lIns="0" tIns="0" rIns="0" bIns="0" rtlCol="0" anchor="t"/>
          <a:lstStyle/>
          <a:p>
            <a:pPr marL="0" indent="0" algn="r" rtl="1">
              <a:lnSpc>
                <a:spcPts val="1700"/>
              </a:lnSpc>
              <a:buNone/>
            </a:pPr>
            <a:r>
              <a:rPr lang="en-US" sz="1200" dirty="0">
                <a:solidFill>
                  <a:srgbClr val="6D6E71"/>
                </a:solidFill>
                <a:latin typeface="Segoe UI" pitchFamily="34" charset="0"/>
                <a:ea typeface="Segoe UI" pitchFamily="34" charset="-122"/>
                <a:cs typeface="Segoe UI" pitchFamily="34" charset="-120"/>
              </a:rPr>
              <a:t>يمنع النظام إسناد عدد موظفين يتجاوز الشواغر المعرّفة للمنصب، ويحدّث العدّاد تلقائياً مع كل عقد.</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6"/>
        </a:solidFill>
        <a:effectLst/>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t"/>
          <a:lstStyle/>
          <a:p>
            <a:pPr marL="0" indent="0" algn="r" rtl="1">
              <a:buNone/>
            </a:pPr>
            <a:r>
              <a:rPr lang="en-US" sz="1250" b="1" kern="0" spc="100" dirty="0">
                <a:solidFill>
                  <a:srgbClr val="C2151C"/>
                </a:solidFill>
                <a:latin typeface="Segoe UI" pitchFamily="34" charset="0"/>
                <a:ea typeface="Segoe UI" pitchFamily="34" charset="-122"/>
                <a:cs typeface="Segoe UI" pitchFamily="34" charset="-120"/>
              </a:rPr>
              <a:t>الاستخدام اليومي</a:t>
            </a:r>
            <a:endParaRPr lang="en-US" sz="1250" dirty="0"/>
          </a:p>
        </p:txBody>
      </p:sp>
      <p:sp>
        <p:nvSpPr>
          <p:cNvPr id="3" name="Text 1"/>
          <p:cNvSpPr txBox="1"/>
          <p:nvPr/>
        </p:nvSpPr>
        <p:spPr>
          <a:xfrm>
            <a:off x="566928" y="713232"/>
            <a:ext cx="11057839" cy="658368"/>
          </a:xfrm>
          <a:prstGeom prst="rect">
            <a:avLst/>
          </a:prstGeom>
          <a:noFill/>
          <a:ln/>
        </p:spPr>
        <p:txBody>
          <a:bodyPr wrap="square" lIns="0" tIns="0" rIns="0" bIns="0" rtlCol="0" anchor="t"/>
          <a:lstStyle/>
          <a:p>
            <a:pPr marL="0" indent="0" algn="r" rtl="1">
              <a:buNone/>
            </a:pPr>
            <a:r>
              <a:rPr lang="en-US" sz="3300" b="1" dirty="0">
                <a:solidFill>
                  <a:srgbClr val="2B2A2C"/>
                </a:solidFill>
                <a:latin typeface="Segoe UI" pitchFamily="34" charset="0"/>
                <a:ea typeface="Segoe UI" pitchFamily="34" charset="-122"/>
                <a:cs typeface="Segoe UI" pitchFamily="34" charset="-120"/>
              </a:rPr>
              <a:t>دورة الإجازة من الطلب إلى الرصيد</a:t>
            </a:r>
            <a:endParaRPr lang="en-US" sz="3300" dirty="0"/>
          </a:p>
        </p:txBody>
      </p:sp>
      <p:sp>
        <p:nvSpPr>
          <p:cNvPr id="4" name="Shape 2"/>
          <p:cNvSpPr/>
          <p:nvPr/>
        </p:nvSpPr>
        <p:spPr>
          <a:xfrm>
            <a:off x="1389888" y="2404872"/>
            <a:ext cx="9411919" cy="27432"/>
          </a:xfrm>
          <a:prstGeom prst="rect">
            <a:avLst/>
          </a:prstGeom>
          <a:solidFill>
            <a:srgbClr val="DCDDDE"/>
          </a:solidFill>
          <a:ln w="12700">
            <a:solidFill>
              <a:srgbClr val="DCDDDE"/>
            </a:solidFill>
            <a:prstDash val="solid"/>
          </a:ln>
        </p:spPr>
        <p:txBody>
          <a:bodyPr/>
          <a:lstStyle/>
          <a:p>
            <a:endParaRPr lang="en-US"/>
          </a:p>
        </p:txBody>
      </p:sp>
      <p:sp>
        <p:nvSpPr>
          <p:cNvPr id="5" name="Shape 3"/>
          <p:cNvSpPr/>
          <p:nvPr/>
        </p:nvSpPr>
        <p:spPr>
          <a:xfrm>
            <a:off x="10332446" y="2139696"/>
            <a:ext cx="548640" cy="548640"/>
          </a:xfrm>
          <a:prstGeom prst="ellipse">
            <a:avLst/>
          </a:prstGeom>
          <a:solidFill>
            <a:srgbClr val="C2151C"/>
          </a:solidFill>
          <a:ln w="12700">
            <a:solidFill>
              <a:srgbClr val="C2151C"/>
            </a:solidFill>
            <a:prstDash val="solid"/>
          </a:ln>
        </p:spPr>
        <p:txBody>
          <a:bodyPr/>
          <a:lstStyle/>
          <a:p>
            <a:endParaRPr lang="en-US"/>
          </a:p>
        </p:txBody>
      </p:sp>
      <p:sp>
        <p:nvSpPr>
          <p:cNvPr id="6" name="Text 4"/>
          <p:cNvSpPr txBox="1"/>
          <p:nvPr/>
        </p:nvSpPr>
        <p:spPr>
          <a:xfrm>
            <a:off x="10332446" y="2139696"/>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7" name="Text 5"/>
          <p:cNvSpPr txBox="1"/>
          <p:nvPr/>
        </p:nvSpPr>
        <p:spPr>
          <a:xfrm>
            <a:off x="9588764" y="2852928"/>
            <a:ext cx="2036003" cy="292608"/>
          </a:xfrm>
          <a:prstGeom prst="rect">
            <a:avLst/>
          </a:prstGeom>
          <a:noFill/>
          <a:ln/>
        </p:spPr>
        <p:txBody>
          <a:bodyPr wrap="square" lIns="0" tIns="0" rIns="0" bIns="0" rtlCol="0" anchor="t"/>
          <a:lstStyle/>
          <a:p>
            <a:pPr marL="0" indent="0" algn="ctr" rtl="1">
              <a:buNone/>
            </a:pPr>
            <a:r>
              <a:rPr lang="en-US" sz="1500" b="1" dirty="0">
                <a:solidFill>
                  <a:srgbClr val="2B2A2C"/>
                </a:solidFill>
                <a:latin typeface="Segoe UI" pitchFamily="34" charset="0"/>
                <a:ea typeface="Segoe UI" pitchFamily="34" charset="-122"/>
                <a:cs typeface="Segoe UI" pitchFamily="34" charset="-120"/>
              </a:rPr>
              <a:t>الموظف</a:t>
            </a:r>
            <a:endParaRPr lang="en-US" sz="1500" dirty="0"/>
          </a:p>
        </p:txBody>
      </p:sp>
      <p:sp>
        <p:nvSpPr>
          <p:cNvPr id="8" name="Text 6"/>
          <p:cNvSpPr txBox="1"/>
          <p:nvPr/>
        </p:nvSpPr>
        <p:spPr>
          <a:xfrm>
            <a:off x="9680204" y="3163824"/>
            <a:ext cx="1853123" cy="822960"/>
          </a:xfrm>
          <a:prstGeom prst="rect">
            <a:avLst/>
          </a:prstGeom>
          <a:noFill/>
          <a:ln/>
        </p:spPr>
        <p:txBody>
          <a:bodyPr wrap="square" lIns="0" tIns="0" rIns="0" bIns="0" rtlCol="0" anchor="t"/>
          <a:lstStyle/>
          <a:p>
            <a:pPr marL="0" indent="0" algn="ctr" rtl="1">
              <a:lnSpc>
                <a:spcPts val="1600"/>
              </a:lnSpc>
              <a:buNone/>
            </a:pPr>
            <a:r>
              <a:rPr lang="en-US" sz="1150" dirty="0">
                <a:solidFill>
                  <a:srgbClr val="6D6E71"/>
                </a:solidFill>
                <a:latin typeface="Segoe UI" pitchFamily="34" charset="0"/>
                <a:ea typeface="Segoe UI" pitchFamily="34" charset="-122"/>
                <a:cs typeface="Segoe UI" pitchFamily="34" charset="-120"/>
              </a:rPr>
              <a:t>يفتح صفحة إجازاتي ويضغط طلب إجازة جديدة.</a:t>
            </a:r>
            <a:endParaRPr lang="en-US" sz="1150" dirty="0"/>
          </a:p>
        </p:txBody>
      </p:sp>
      <p:sp>
        <p:nvSpPr>
          <p:cNvPr id="9" name="Shape 7"/>
          <p:cNvSpPr/>
          <p:nvPr/>
        </p:nvSpPr>
        <p:spPr>
          <a:xfrm>
            <a:off x="8076987" y="2139696"/>
            <a:ext cx="548640" cy="548640"/>
          </a:xfrm>
          <a:prstGeom prst="ellipse">
            <a:avLst/>
          </a:prstGeom>
          <a:solidFill>
            <a:srgbClr val="C2151C"/>
          </a:solidFill>
          <a:ln w="12700">
            <a:solidFill>
              <a:srgbClr val="C2151C"/>
            </a:solidFill>
            <a:prstDash val="solid"/>
          </a:ln>
        </p:spPr>
        <p:txBody>
          <a:bodyPr/>
          <a:lstStyle/>
          <a:p>
            <a:endParaRPr lang="en-US"/>
          </a:p>
        </p:txBody>
      </p:sp>
      <p:sp>
        <p:nvSpPr>
          <p:cNvPr id="10" name="Text 8"/>
          <p:cNvSpPr txBox="1"/>
          <p:nvPr/>
        </p:nvSpPr>
        <p:spPr>
          <a:xfrm>
            <a:off x="8076987" y="2139696"/>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11" name="Text 9"/>
          <p:cNvSpPr txBox="1"/>
          <p:nvPr/>
        </p:nvSpPr>
        <p:spPr>
          <a:xfrm>
            <a:off x="7333305" y="2852928"/>
            <a:ext cx="2036003" cy="292608"/>
          </a:xfrm>
          <a:prstGeom prst="rect">
            <a:avLst/>
          </a:prstGeom>
          <a:noFill/>
          <a:ln/>
        </p:spPr>
        <p:txBody>
          <a:bodyPr wrap="square" lIns="0" tIns="0" rIns="0" bIns="0" rtlCol="0" anchor="t"/>
          <a:lstStyle/>
          <a:p>
            <a:pPr marL="0" indent="0" algn="ctr" rtl="1">
              <a:buNone/>
            </a:pPr>
            <a:r>
              <a:rPr lang="en-US" sz="1500" b="1" dirty="0">
                <a:solidFill>
                  <a:srgbClr val="2B2A2C"/>
                </a:solidFill>
                <a:latin typeface="Segoe UI" pitchFamily="34" charset="0"/>
                <a:ea typeface="Segoe UI" pitchFamily="34" charset="-122"/>
                <a:cs typeface="Segoe UI" pitchFamily="34" charset="-120"/>
              </a:rPr>
              <a:t>الطلب</a:t>
            </a:r>
            <a:endParaRPr lang="en-US" sz="1500" dirty="0"/>
          </a:p>
        </p:txBody>
      </p:sp>
      <p:sp>
        <p:nvSpPr>
          <p:cNvPr id="12" name="Text 10"/>
          <p:cNvSpPr txBox="1"/>
          <p:nvPr/>
        </p:nvSpPr>
        <p:spPr>
          <a:xfrm>
            <a:off x="7424745" y="3163824"/>
            <a:ext cx="1853123" cy="822960"/>
          </a:xfrm>
          <a:prstGeom prst="rect">
            <a:avLst/>
          </a:prstGeom>
          <a:noFill/>
          <a:ln/>
        </p:spPr>
        <p:txBody>
          <a:bodyPr wrap="square" lIns="0" tIns="0" rIns="0" bIns="0" rtlCol="0" anchor="t"/>
          <a:lstStyle/>
          <a:p>
            <a:pPr marL="0" indent="0" algn="ctr" rtl="1">
              <a:lnSpc>
                <a:spcPts val="1600"/>
              </a:lnSpc>
              <a:buNone/>
            </a:pPr>
            <a:r>
              <a:rPr lang="en-US" sz="1150" dirty="0">
                <a:solidFill>
                  <a:srgbClr val="6D6E71"/>
                </a:solidFill>
                <a:latin typeface="Segoe UI" pitchFamily="34" charset="0"/>
                <a:ea typeface="Segoe UI" pitchFamily="34" charset="-122"/>
                <a:cs typeface="Segoe UI" pitchFamily="34" charset="-120"/>
              </a:rPr>
              <a:t>يختار نوع الإجازة والتواريخ ويضيف ملاحظة.</a:t>
            </a:r>
            <a:endParaRPr lang="en-US" sz="1150" dirty="0"/>
          </a:p>
        </p:txBody>
      </p:sp>
      <p:sp>
        <p:nvSpPr>
          <p:cNvPr id="13" name="Shape 11"/>
          <p:cNvSpPr/>
          <p:nvPr/>
        </p:nvSpPr>
        <p:spPr>
          <a:xfrm>
            <a:off x="5821528" y="2139696"/>
            <a:ext cx="548640" cy="548640"/>
          </a:xfrm>
          <a:prstGeom prst="ellipse">
            <a:avLst/>
          </a:prstGeom>
          <a:solidFill>
            <a:srgbClr val="C2151C"/>
          </a:solidFill>
          <a:ln w="12700">
            <a:solidFill>
              <a:srgbClr val="C2151C"/>
            </a:solidFill>
            <a:prstDash val="solid"/>
          </a:ln>
        </p:spPr>
        <p:txBody>
          <a:bodyPr/>
          <a:lstStyle/>
          <a:p>
            <a:endParaRPr lang="en-US"/>
          </a:p>
        </p:txBody>
      </p:sp>
      <p:sp>
        <p:nvSpPr>
          <p:cNvPr id="14" name="Text 12"/>
          <p:cNvSpPr txBox="1"/>
          <p:nvPr/>
        </p:nvSpPr>
        <p:spPr>
          <a:xfrm>
            <a:off x="5821528" y="2139696"/>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15" name="Text 13"/>
          <p:cNvSpPr txBox="1"/>
          <p:nvPr/>
        </p:nvSpPr>
        <p:spPr>
          <a:xfrm>
            <a:off x="5077846" y="2852928"/>
            <a:ext cx="2036003" cy="292608"/>
          </a:xfrm>
          <a:prstGeom prst="rect">
            <a:avLst/>
          </a:prstGeom>
          <a:noFill/>
          <a:ln/>
        </p:spPr>
        <p:txBody>
          <a:bodyPr wrap="square" lIns="0" tIns="0" rIns="0" bIns="0" rtlCol="0" anchor="t"/>
          <a:lstStyle/>
          <a:p>
            <a:pPr marL="0" indent="0" algn="ctr" rtl="1">
              <a:buNone/>
            </a:pPr>
            <a:r>
              <a:rPr lang="en-US" sz="1500" b="1" dirty="0">
                <a:solidFill>
                  <a:srgbClr val="2B2A2C"/>
                </a:solidFill>
                <a:latin typeface="Segoe UI" pitchFamily="34" charset="0"/>
                <a:ea typeface="Segoe UI" pitchFamily="34" charset="-122"/>
                <a:cs typeface="Segoe UI" pitchFamily="34" charset="-120"/>
              </a:rPr>
              <a:t>المراجعة</a:t>
            </a:r>
            <a:endParaRPr lang="en-US" sz="1500" dirty="0"/>
          </a:p>
        </p:txBody>
      </p:sp>
      <p:sp>
        <p:nvSpPr>
          <p:cNvPr id="16" name="Text 14"/>
          <p:cNvSpPr txBox="1"/>
          <p:nvPr/>
        </p:nvSpPr>
        <p:spPr>
          <a:xfrm>
            <a:off x="5169286" y="3163824"/>
            <a:ext cx="1853123" cy="822960"/>
          </a:xfrm>
          <a:prstGeom prst="rect">
            <a:avLst/>
          </a:prstGeom>
          <a:noFill/>
          <a:ln/>
        </p:spPr>
        <p:txBody>
          <a:bodyPr wrap="square" lIns="0" tIns="0" rIns="0" bIns="0" rtlCol="0" anchor="t"/>
          <a:lstStyle/>
          <a:p>
            <a:pPr marL="0" indent="0" algn="ctr" rtl="1">
              <a:lnSpc>
                <a:spcPts val="1600"/>
              </a:lnSpc>
              <a:buNone/>
            </a:pPr>
            <a:r>
              <a:rPr lang="en-US" sz="1150" dirty="0">
                <a:solidFill>
                  <a:srgbClr val="6D6E71"/>
                </a:solidFill>
                <a:latin typeface="Segoe UI" pitchFamily="34" charset="0"/>
                <a:ea typeface="Segoe UI" pitchFamily="34" charset="-122"/>
                <a:cs typeface="Segoe UI" pitchFamily="34" charset="-120"/>
              </a:rPr>
              <a:t>المدير أو الموارد البشرية يرى الطلب في جميع الإجازات.</a:t>
            </a:r>
            <a:endParaRPr lang="en-US" sz="1150" dirty="0"/>
          </a:p>
        </p:txBody>
      </p:sp>
      <p:sp>
        <p:nvSpPr>
          <p:cNvPr id="17" name="Shape 15"/>
          <p:cNvSpPr/>
          <p:nvPr/>
        </p:nvSpPr>
        <p:spPr>
          <a:xfrm>
            <a:off x="3566069" y="2139696"/>
            <a:ext cx="548640" cy="548640"/>
          </a:xfrm>
          <a:prstGeom prst="ellipse">
            <a:avLst/>
          </a:prstGeom>
          <a:solidFill>
            <a:srgbClr val="C2151C"/>
          </a:solidFill>
          <a:ln w="12700">
            <a:solidFill>
              <a:srgbClr val="C2151C"/>
            </a:solidFill>
            <a:prstDash val="solid"/>
          </a:ln>
        </p:spPr>
        <p:txBody>
          <a:bodyPr/>
          <a:lstStyle/>
          <a:p>
            <a:endParaRPr lang="en-US"/>
          </a:p>
        </p:txBody>
      </p:sp>
      <p:sp>
        <p:nvSpPr>
          <p:cNvPr id="18" name="Text 16"/>
          <p:cNvSpPr txBox="1"/>
          <p:nvPr/>
        </p:nvSpPr>
        <p:spPr>
          <a:xfrm>
            <a:off x="3566069" y="2139696"/>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19" name="Text 17"/>
          <p:cNvSpPr txBox="1"/>
          <p:nvPr/>
        </p:nvSpPr>
        <p:spPr>
          <a:xfrm>
            <a:off x="2822387" y="2852928"/>
            <a:ext cx="2036003" cy="292608"/>
          </a:xfrm>
          <a:prstGeom prst="rect">
            <a:avLst/>
          </a:prstGeom>
          <a:noFill/>
          <a:ln/>
        </p:spPr>
        <p:txBody>
          <a:bodyPr wrap="square" lIns="0" tIns="0" rIns="0" bIns="0" rtlCol="0" anchor="t"/>
          <a:lstStyle/>
          <a:p>
            <a:pPr marL="0" indent="0" algn="ctr" rtl="1">
              <a:buNone/>
            </a:pPr>
            <a:r>
              <a:rPr lang="en-US" sz="1500" b="1" dirty="0">
                <a:solidFill>
                  <a:srgbClr val="2B2A2C"/>
                </a:solidFill>
                <a:latin typeface="Segoe UI" pitchFamily="34" charset="0"/>
                <a:ea typeface="Segoe UI" pitchFamily="34" charset="-122"/>
                <a:cs typeface="Segoe UI" pitchFamily="34" charset="-120"/>
              </a:rPr>
              <a:t>القرار</a:t>
            </a:r>
            <a:endParaRPr lang="en-US" sz="1500" dirty="0"/>
          </a:p>
        </p:txBody>
      </p:sp>
      <p:sp>
        <p:nvSpPr>
          <p:cNvPr id="20" name="Text 18"/>
          <p:cNvSpPr txBox="1"/>
          <p:nvPr/>
        </p:nvSpPr>
        <p:spPr>
          <a:xfrm>
            <a:off x="2913827" y="3163824"/>
            <a:ext cx="1853123" cy="822960"/>
          </a:xfrm>
          <a:prstGeom prst="rect">
            <a:avLst/>
          </a:prstGeom>
          <a:noFill/>
          <a:ln/>
        </p:spPr>
        <p:txBody>
          <a:bodyPr wrap="square" lIns="0" tIns="0" rIns="0" bIns="0" rtlCol="0" anchor="t"/>
          <a:lstStyle/>
          <a:p>
            <a:pPr marL="0" indent="0" algn="ctr" rtl="1">
              <a:lnSpc>
                <a:spcPts val="1600"/>
              </a:lnSpc>
              <a:buNone/>
            </a:pPr>
            <a:r>
              <a:rPr lang="en-US" sz="1150" dirty="0">
                <a:solidFill>
                  <a:srgbClr val="6D6E71"/>
                </a:solidFill>
                <a:latin typeface="Segoe UI" pitchFamily="34" charset="0"/>
                <a:ea typeface="Segoe UI" pitchFamily="34" charset="-122"/>
                <a:cs typeface="Segoe UI" pitchFamily="34" charset="-120"/>
              </a:rPr>
              <a:t>موافقة أو رفض مع ملاحظة، ويصل الإشعار للموظف.</a:t>
            </a:r>
            <a:endParaRPr lang="en-US" sz="1150" dirty="0"/>
          </a:p>
        </p:txBody>
      </p:sp>
      <p:sp>
        <p:nvSpPr>
          <p:cNvPr id="21" name="Shape 19"/>
          <p:cNvSpPr/>
          <p:nvPr/>
        </p:nvSpPr>
        <p:spPr>
          <a:xfrm>
            <a:off x="1310610" y="2139696"/>
            <a:ext cx="548640" cy="548640"/>
          </a:xfrm>
          <a:prstGeom prst="ellipse">
            <a:avLst/>
          </a:prstGeom>
          <a:solidFill>
            <a:srgbClr val="C2151C"/>
          </a:solidFill>
          <a:ln w="12700">
            <a:solidFill>
              <a:srgbClr val="C2151C"/>
            </a:solidFill>
            <a:prstDash val="solid"/>
          </a:ln>
        </p:spPr>
        <p:txBody>
          <a:bodyPr/>
          <a:lstStyle/>
          <a:p>
            <a:endParaRPr lang="en-US"/>
          </a:p>
        </p:txBody>
      </p:sp>
      <p:sp>
        <p:nvSpPr>
          <p:cNvPr id="22" name="Text 20"/>
          <p:cNvSpPr txBox="1"/>
          <p:nvPr/>
        </p:nvSpPr>
        <p:spPr>
          <a:xfrm>
            <a:off x="1310610" y="2139696"/>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23" name="Text 21"/>
          <p:cNvSpPr txBox="1"/>
          <p:nvPr/>
        </p:nvSpPr>
        <p:spPr>
          <a:xfrm>
            <a:off x="566928" y="2852928"/>
            <a:ext cx="2036003" cy="292608"/>
          </a:xfrm>
          <a:prstGeom prst="rect">
            <a:avLst/>
          </a:prstGeom>
          <a:noFill/>
          <a:ln/>
        </p:spPr>
        <p:txBody>
          <a:bodyPr wrap="square" lIns="0" tIns="0" rIns="0" bIns="0" rtlCol="0" anchor="t"/>
          <a:lstStyle/>
          <a:p>
            <a:pPr marL="0" indent="0" algn="ctr" rtl="1">
              <a:buNone/>
            </a:pPr>
            <a:r>
              <a:rPr lang="en-US" sz="1500" b="1" dirty="0">
                <a:solidFill>
                  <a:srgbClr val="2B2A2C"/>
                </a:solidFill>
                <a:latin typeface="Segoe UI" pitchFamily="34" charset="0"/>
                <a:ea typeface="Segoe UI" pitchFamily="34" charset="-122"/>
                <a:cs typeface="Segoe UI" pitchFamily="34" charset="-120"/>
              </a:rPr>
              <a:t>الرصيد</a:t>
            </a:r>
            <a:endParaRPr lang="en-US" sz="1500" dirty="0"/>
          </a:p>
        </p:txBody>
      </p:sp>
      <p:sp>
        <p:nvSpPr>
          <p:cNvPr id="24" name="Text 22"/>
          <p:cNvSpPr txBox="1"/>
          <p:nvPr/>
        </p:nvSpPr>
        <p:spPr>
          <a:xfrm>
            <a:off x="658368" y="3163824"/>
            <a:ext cx="1853123" cy="822960"/>
          </a:xfrm>
          <a:prstGeom prst="rect">
            <a:avLst/>
          </a:prstGeom>
          <a:noFill/>
          <a:ln/>
        </p:spPr>
        <p:txBody>
          <a:bodyPr wrap="square" lIns="0" tIns="0" rIns="0" bIns="0" rtlCol="0" anchor="t"/>
          <a:lstStyle/>
          <a:p>
            <a:pPr marL="0" indent="0" algn="ctr" rtl="1">
              <a:lnSpc>
                <a:spcPts val="1600"/>
              </a:lnSpc>
              <a:buNone/>
            </a:pPr>
            <a:r>
              <a:rPr lang="en-US" sz="1150" dirty="0">
                <a:solidFill>
                  <a:srgbClr val="6D6E71"/>
                </a:solidFill>
                <a:latin typeface="Segoe UI" pitchFamily="34" charset="0"/>
                <a:ea typeface="Segoe UI" pitchFamily="34" charset="-122"/>
                <a:cs typeface="Segoe UI" pitchFamily="34" charset="-120"/>
              </a:rPr>
              <a:t>يُخصم المعتمد تلقائياً من رصيد الموظف ويظهر في لوحته.</a:t>
            </a:r>
            <a:endParaRPr lang="en-US" sz="1150" dirty="0"/>
          </a:p>
        </p:txBody>
      </p:sp>
      <p:sp>
        <p:nvSpPr>
          <p:cNvPr id="25" name="Shape 23"/>
          <p:cNvSpPr/>
          <p:nvPr/>
        </p:nvSpPr>
        <p:spPr>
          <a:xfrm>
            <a:off x="6278728" y="4261104"/>
            <a:ext cx="5346040" cy="1920240"/>
          </a:xfrm>
          <a:prstGeom prst="roundRect">
            <a:avLst>
              <a:gd name="adj" fmla="val 4762"/>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26" name="Shape 24"/>
          <p:cNvSpPr/>
          <p:nvPr/>
        </p:nvSpPr>
        <p:spPr>
          <a:xfrm>
            <a:off x="10765231" y="4535424"/>
            <a:ext cx="512064" cy="512064"/>
          </a:xfrm>
          <a:prstGeom prst="ellipse">
            <a:avLst/>
          </a:prstGeom>
          <a:solidFill>
            <a:srgbClr val="C2151C"/>
          </a:solidFill>
          <a:ln w="12700">
            <a:solidFill>
              <a:srgbClr val="C2151C"/>
            </a:solidFill>
            <a:prstDash val="solid"/>
          </a:ln>
        </p:spPr>
        <p:txBody>
          <a:bodyPr/>
          <a:lstStyle/>
          <a:p>
            <a:endParaRPr lang="en-US"/>
          </a:p>
        </p:txBody>
      </p:sp>
      <p:pic>
        <p:nvPicPr>
          <p:cNvPr id="27" name="Image 0" descr="preencoded.png"/>
          <p:cNvPicPr>
            <a:picLocks noChangeAspect="1"/>
          </p:cNvPicPr>
          <p:nvPr/>
        </p:nvPicPr>
        <p:blipFill>
          <a:blip r:embed="rId3"/>
          <a:stretch>
            <a:fillRect/>
          </a:stretch>
        </p:blipFill>
        <p:spPr>
          <a:xfrm>
            <a:off x="10893247" y="4663440"/>
            <a:ext cx="256032" cy="256032"/>
          </a:xfrm>
          <a:prstGeom prst="rect">
            <a:avLst/>
          </a:prstGeom>
        </p:spPr>
      </p:pic>
      <p:sp>
        <p:nvSpPr>
          <p:cNvPr id="28" name="Text 25"/>
          <p:cNvSpPr txBox="1"/>
          <p:nvPr/>
        </p:nvSpPr>
        <p:spPr>
          <a:xfrm>
            <a:off x="6626200" y="4572000"/>
            <a:ext cx="3928720" cy="347472"/>
          </a:xfrm>
          <a:prstGeom prst="rect">
            <a:avLst/>
          </a:prstGeom>
          <a:noFill/>
          <a:ln/>
        </p:spPr>
        <p:txBody>
          <a:bodyPr wrap="square" lIns="0" tIns="0" rIns="0" bIns="0" rtlCol="0" anchor="t"/>
          <a:lstStyle/>
          <a:p>
            <a:pPr marL="0" indent="0" algn="r" rtl="1">
              <a:buNone/>
            </a:pPr>
            <a:r>
              <a:rPr lang="en-US" sz="1700" b="1" dirty="0">
                <a:solidFill>
                  <a:srgbClr val="2B2A2C"/>
                </a:solidFill>
                <a:latin typeface="Segoe UI" pitchFamily="34" charset="0"/>
                <a:ea typeface="Segoe UI" pitchFamily="34" charset="-122"/>
                <a:cs typeface="Segoe UI" pitchFamily="34" charset="-120"/>
              </a:rPr>
              <a:t>رصيد الإجازات</a:t>
            </a:r>
            <a:endParaRPr lang="en-US" sz="1700" dirty="0"/>
          </a:p>
        </p:txBody>
      </p:sp>
      <p:sp>
        <p:nvSpPr>
          <p:cNvPr id="29" name="Text 26"/>
          <p:cNvSpPr txBox="1"/>
          <p:nvPr/>
        </p:nvSpPr>
        <p:spPr>
          <a:xfrm>
            <a:off x="6626200" y="5102352"/>
            <a:ext cx="4651096" cy="914400"/>
          </a:xfrm>
          <a:prstGeom prst="rect">
            <a:avLst/>
          </a:prstGeom>
          <a:noFill/>
          <a:ln/>
        </p:spPr>
        <p:txBody>
          <a:bodyPr wrap="square" lIns="0" tIns="0" rIns="0" bIns="0" rtlCol="0" anchor="t"/>
          <a:lstStyle/>
          <a:p>
            <a:pPr marL="0" indent="0" algn="r" rtl="1">
              <a:lnSpc>
                <a:spcPts val="1800"/>
              </a:lnSpc>
              <a:buNone/>
            </a:pPr>
            <a:r>
              <a:rPr lang="en-US" sz="1250" dirty="0">
                <a:solidFill>
                  <a:srgbClr val="6D6E71"/>
                </a:solidFill>
                <a:latin typeface="Segoe UI" pitchFamily="34" charset="0"/>
                <a:ea typeface="Segoe UI" pitchFamily="34" charset="-122"/>
                <a:cs typeface="Segoe UI" pitchFamily="34" charset="-120"/>
              </a:rPr>
              <a:t>من صفحة رصيد الإجازات تعرض وتعدّل رصيد كل موظف بحسب عقده. الرصيد السنوي المستحقّ يُحتسب من قواعد الإجازة السنوية في الإعدادات الأساسية.</a:t>
            </a:r>
            <a:endParaRPr lang="en-US" sz="1250" dirty="0"/>
          </a:p>
        </p:txBody>
      </p:sp>
      <p:sp>
        <p:nvSpPr>
          <p:cNvPr id="30" name="Shape 27"/>
          <p:cNvSpPr/>
          <p:nvPr/>
        </p:nvSpPr>
        <p:spPr>
          <a:xfrm>
            <a:off x="566928" y="4261104"/>
            <a:ext cx="5346040" cy="1920240"/>
          </a:xfrm>
          <a:prstGeom prst="roundRect">
            <a:avLst>
              <a:gd name="adj" fmla="val 4762"/>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31" name="Shape 28"/>
          <p:cNvSpPr/>
          <p:nvPr/>
        </p:nvSpPr>
        <p:spPr>
          <a:xfrm>
            <a:off x="5053432" y="4535424"/>
            <a:ext cx="512064" cy="512064"/>
          </a:xfrm>
          <a:prstGeom prst="ellipse">
            <a:avLst/>
          </a:prstGeom>
          <a:solidFill>
            <a:srgbClr val="C2151C"/>
          </a:solidFill>
          <a:ln w="12700">
            <a:solidFill>
              <a:srgbClr val="C2151C"/>
            </a:solidFill>
            <a:prstDash val="solid"/>
          </a:ln>
        </p:spPr>
        <p:txBody>
          <a:bodyPr/>
          <a:lstStyle/>
          <a:p>
            <a:endParaRPr lang="en-US"/>
          </a:p>
        </p:txBody>
      </p:sp>
      <p:pic>
        <p:nvPicPr>
          <p:cNvPr id="32" name="Image 1" descr="preencoded.png"/>
          <p:cNvPicPr>
            <a:picLocks noChangeAspect="1"/>
          </p:cNvPicPr>
          <p:nvPr/>
        </p:nvPicPr>
        <p:blipFill>
          <a:blip r:embed="rId4"/>
          <a:stretch>
            <a:fillRect/>
          </a:stretch>
        </p:blipFill>
        <p:spPr>
          <a:xfrm>
            <a:off x="5181448" y="4663440"/>
            <a:ext cx="256032" cy="256032"/>
          </a:xfrm>
          <a:prstGeom prst="rect">
            <a:avLst/>
          </a:prstGeom>
        </p:spPr>
      </p:pic>
      <p:sp>
        <p:nvSpPr>
          <p:cNvPr id="33" name="Text 29"/>
          <p:cNvSpPr txBox="1"/>
          <p:nvPr/>
        </p:nvSpPr>
        <p:spPr>
          <a:xfrm>
            <a:off x="914400" y="4572000"/>
            <a:ext cx="3928720" cy="347472"/>
          </a:xfrm>
          <a:prstGeom prst="rect">
            <a:avLst/>
          </a:prstGeom>
          <a:noFill/>
          <a:ln/>
        </p:spPr>
        <p:txBody>
          <a:bodyPr wrap="square" lIns="0" tIns="0" rIns="0" bIns="0" rtlCol="0" anchor="t"/>
          <a:lstStyle/>
          <a:p>
            <a:pPr marL="0" indent="0" algn="r" rtl="1">
              <a:buNone/>
            </a:pPr>
            <a:r>
              <a:rPr lang="en-US" sz="1700" b="1" dirty="0">
                <a:solidFill>
                  <a:srgbClr val="2B2A2C"/>
                </a:solidFill>
                <a:latin typeface="Segoe UI" pitchFamily="34" charset="0"/>
                <a:ea typeface="Segoe UI" pitchFamily="34" charset="-122"/>
                <a:cs typeface="Segoe UI" pitchFamily="34" charset="-120"/>
              </a:rPr>
              <a:t>متابعة الطلبات</a:t>
            </a:r>
            <a:endParaRPr lang="en-US" sz="1700" dirty="0"/>
          </a:p>
        </p:txBody>
      </p:sp>
      <p:sp>
        <p:nvSpPr>
          <p:cNvPr id="34" name="Text 30"/>
          <p:cNvSpPr txBox="1"/>
          <p:nvPr/>
        </p:nvSpPr>
        <p:spPr>
          <a:xfrm>
            <a:off x="914400" y="5102352"/>
            <a:ext cx="4651096" cy="914400"/>
          </a:xfrm>
          <a:prstGeom prst="rect">
            <a:avLst/>
          </a:prstGeom>
          <a:noFill/>
          <a:ln/>
        </p:spPr>
        <p:txBody>
          <a:bodyPr wrap="square" lIns="0" tIns="0" rIns="0" bIns="0" rtlCol="0" anchor="t"/>
          <a:lstStyle/>
          <a:p>
            <a:pPr marL="0" indent="0" algn="r" rtl="1">
              <a:lnSpc>
                <a:spcPts val="1800"/>
              </a:lnSpc>
              <a:buNone/>
            </a:pPr>
            <a:r>
              <a:rPr lang="en-US" sz="1250" dirty="0">
                <a:solidFill>
                  <a:srgbClr val="6D6E71"/>
                </a:solidFill>
                <a:latin typeface="Segoe UI" pitchFamily="34" charset="0"/>
                <a:ea typeface="Segoe UI" pitchFamily="34" charset="-122"/>
                <a:cs typeface="Segoe UI" pitchFamily="34" charset="-120"/>
              </a:rPr>
              <a:t>في صفحة جميع الإجازات تفلتر الطلبات حسب الحالة والنوع والقسم والفترة الزمنية، ثم تعتمدها دفعة واحدة.</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6"/>
        </a:solidFill>
        <a:effectLst/>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t"/>
          <a:lstStyle/>
          <a:p>
            <a:pPr marL="0" indent="0" algn="r" rtl="1">
              <a:buNone/>
            </a:pPr>
            <a:r>
              <a:rPr lang="en-US" sz="1250" b="1" kern="0" spc="100" dirty="0">
                <a:solidFill>
                  <a:srgbClr val="C2151C"/>
                </a:solidFill>
                <a:latin typeface="Segoe UI" pitchFamily="34" charset="0"/>
                <a:ea typeface="Segoe UI" pitchFamily="34" charset="-122"/>
                <a:cs typeface="Segoe UI" pitchFamily="34" charset="-120"/>
              </a:rPr>
              <a:t>العهدة</a:t>
            </a:r>
            <a:endParaRPr lang="en-US" sz="1250" dirty="0"/>
          </a:p>
        </p:txBody>
      </p:sp>
      <p:sp>
        <p:nvSpPr>
          <p:cNvPr id="3" name="Text 1"/>
          <p:cNvSpPr txBox="1"/>
          <p:nvPr/>
        </p:nvSpPr>
        <p:spPr>
          <a:xfrm>
            <a:off x="566928" y="713232"/>
            <a:ext cx="11057839" cy="658368"/>
          </a:xfrm>
          <a:prstGeom prst="rect">
            <a:avLst/>
          </a:prstGeom>
          <a:noFill/>
          <a:ln/>
        </p:spPr>
        <p:txBody>
          <a:bodyPr wrap="square" lIns="0" tIns="0" rIns="0" bIns="0" rtlCol="0" anchor="t"/>
          <a:lstStyle/>
          <a:p>
            <a:pPr marL="0" indent="0" algn="r" rtl="1">
              <a:buNone/>
            </a:pPr>
            <a:r>
              <a:rPr lang="en-US" sz="3300" b="1" dirty="0">
                <a:solidFill>
                  <a:srgbClr val="2B2A2C"/>
                </a:solidFill>
                <a:latin typeface="Segoe UI" pitchFamily="34" charset="0"/>
                <a:ea typeface="Segoe UI" pitchFamily="34" charset="-122"/>
                <a:cs typeface="Segoe UI" pitchFamily="34" charset="-120"/>
              </a:rPr>
              <a:t>قائمة التسليم والاستلام</a:t>
            </a:r>
            <a:endParaRPr lang="en-US" sz="3300" dirty="0"/>
          </a:p>
        </p:txBody>
      </p:sp>
      <p:sp>
        <p:nvSpPr>
          <p:cNvPr id="4" name="Text 2"/>
          <p:cNvSpPr txBox="1"/>
          <p:nvPr/>
        </p:nvSpPr>
        <p:spPr>
          <a:xfrm>
            <a:off x="566928" y="1389888"/>
            <a:ext cx="11057839" cy="310896"/>
          </a:xfrm>
          <a:prstGeom prst="rect">
            <a:avLst/>
          </a:prstGeom>
          <a:noFill/>
          <a:ln/>
        </p:spPr>
        <p:txBody>
          <a:bodyPr wrap="square" lIns="0" tIns="0" rIns="0" bIns="0" rtlCol="0" anchor="t"/>
          <a:lstStyle/>
          <a:p>
            <a:pPr marL="0" indent="0" algn="r" rtl="1">
              <a:buNone/>
            </a:pPr>
            <a:r>
              <a:rPr lang="en-US" sz="1400" dirty="0">
                <a:solidFill>
                  <a:srgbClr val="6D6E71"/>
                </a:solidFill>
                <a:latin typeface="Segoe UI" pitchFamily="34" charset="0"/>
                <a:ea typeface="Segoe UI" pitchFamily="34" charset="-122"/>
                <a:cs typeface="Segoe UI" pitchFamily="34" charset="-120"/>
              </a:rPr>
              <a:t>تتبّع الأجهزة والمستلزمات الممنوحة للموظف من يوم التحاقه حتى انتهاء خدمته.</a:t>
            </a:r>
            <a:endParaRPr lang="en-US" sz="1400" dirty="0"/>
          </a:p>
        </p:txBody>
      </p:sp>
      <p:sp>
        <p:nvSpPr>
          <p:cNvPr id="5" name="Shape 3"/>
          <p:cNvSpPr/>
          <p:nvPr/>
        </p:nvSpPr>
        <p:spPr>
          <a:xfrm>
            <a:off x="8121701" y="1920240"/>
            <a:ext cx="3503066" cy="2926080"/>
          </a:xfrm>
          <a:prstGeom prst="roundRect">
            <a:avLst>
              <a:gd name="adj" fmla="val 3125"/>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6" name="Shape 4"/>
          <p:cNvSpPr/>
          <p:nvPr/>
        </p:nvSpPr>
        <p:spPr>
          <a:xfrm>
            <a:off x="10692079" y="2231136"/>
            <a:ext cx="603504" cy="603504"/>
          </a:xfrm>
          <a:prstGeom prst="ellipse">
            <a:avLst/>
          </a:prstGeom>
          <a:solidFill>
            <a:srgbClr val="C2151C"/>
          </a:solidFill>
          <a:ln w="12700">
            <a:solidFill>
              <a:srgbClr val="C2151C"/>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0842955" y="2382012"/>
            <a:ext cx="301752" cy="301752"/>
          </a:xfrm>
          <a:prstGeom prst="rect">
            <a:avLst/>
          </a:prstGeom>
        </p:spPr>
      </p:pic>
      <p:sp>
        <p:nvSpPr>
          <p:cNvPr id="8" name="Text 5"/>
          <p:cNvSpPr txBox="1"/>
          <p:nvPr/>
        </p:nvSpPr>
        <p:spPr>
          <a:xfrm>
            <a:off x="8450885" y="2999232"/>
            <a:ext cx="2844698" cy="347472"/>
          </a:xfrm>
          <a:prstGeom prst="rect">
            <a:avLst/>
          </a:prstGeom>
          <a:noFill/>
          <a:ln/>
        </p:spPr>
        <p:txBody>
          <a:bodyPr wrap="square" lIns="0" tIns="0" rIns="0" bIns="0" rtlCol="0" anchor="t"/>
          <a:lstStyle/>
          <a:p>
            <a:pPr marL="0" indent="0" algn="r" rtl="1">
              <a:buNone/>
            </a:pPr>
            <a:r>
              <a:rPr lang="en-US" sz="1700" b="1" dirty="0">
                <a:solidFill>
                  <a:srgbClr val="2B2A2C"/>
                </a:solidFill>
                <a:latin typeface="Segoe UI" pitchFamily="34" charset="0"/>
                <a:ea typeface="Segoe UI" pitchFamily="34" charset="-122"/>
                <a:cs typeface="Segoe UI" pitchFamily="34" charset="-120"/>
              </a:rPr>
              <a:t>التسليمات المعلّقة</a:t>
            </a:r>
            <a:endParaRPr lang="en-US" sz="1700" dirty="0"/>
          </a:p>
        </p:txBody>
      </p:sp>
      <p:sp>
        <p:nvSpPr>
          <p:cNvPr id="9" name="Text 6"/>
          <p:cNvSpPr txBox="1"/>
          <p:nvPr/>
        </p:nvSpPr>
        <p:spPr>
          <a:xfrm>
            <a:off x="8450885" y="3383280"/>
            <a:ext cx="2844698" cy="768096"/>
          </a:xfrm>
          <a:prstGeom prst="rect">
            <a:avLst/>
          </a:prstGeom>
          <a:noFill/>
          <a:ln/>
        </p:spPr>
        <p:txBody>
          <a:bodyPr wrap="square" lIns="0" tIns="0" rIns="0" bIns="0" rtlCol="0" anchor="t"/>
          <a:lstStyle/>
          <a:p>
            <a:pPr marL="0" indent="0" algn="r" rtl="1">
              <a:lnSpc>
                <a:spcPts val="1800"/>
              </a:lnSpc>
              <a:buNone/>
            </a:pPr>
            <a:r>
              <a:rPr lang="en-US" sz="1250" dirty="0">
                <a:solidFill>
                  <a:srgbClr val="6D6E71"/>
                </a:solidFill>
                <a:latin typeface="Segoe UI" pitchFamily="34" charset="0"/>
                <a:ea typeface="Segoe UI" pitchFamily="34" charset="-122"/>
                <a:cs typeface="Segoe UI" pitchFamily="34" charset="-120"/>
              </a:rPr>
              <a:t>الأجهزة والمعدّات التي لم تُسلَّم بعد للموظفين الجدد. افتح العنصر وسجّل التسليم.</a:t>
            </a:r>
            <a:endParaRPr lang="en-US" sz="1250" dirty="0"/>
          </a:p>
        </p:txBody>
      </p:sp>
      <p:sp>
        <p:nvSpPr>
          <p:cNvPr id="10" name="Shape 7"/>
          <p:cNvSpPr/>
          <p:nvPr/>
        </p:nvSpPr>
        <p:spPr>
          <a:xfrm>
            <a:off x="9558223" y="4133088"/>
            <a:ext cx="1737360" cy="384048"/>
          </a:xfrm>
          <a:prstGeom prst="roundRect">
            <a:avLst>
              <a:gd name="adj" fmla="val 14286"/>
            </a:avLst>
          </a:prstGeom>
          <a:solidFill>
            <a:srgbClr val="EEEFF0"/>
          </a:solidFill>
          <a:ln w="7620">
            <a:solidFill>
              <a:srgbClr val="DCDDDE"/>
            </a:solidFill>
            <a:prstDash val="solid"/>
          </a:ln>
        </p:spPr>
        <p:txBody>
          <a:bodyPr/>
          <a:lstStyle/>
          <a:p>
            <a:endParaRPr lang="en-US"/>
          </a:p>
        </p:txBody>
      </p:sp>
      <p:sp>
        <p:nvSpPr>
          <p:cNvPr id="11" name="Text 8"/>
          <p:cNvSpPr txBox="1"/>
          <p:nvPr/>
        </p:nvSpPr>
        <p:spPr>
          <a:xfrm>
            <a:off x="9558223" y="4133088"/>
            <a:ext cx="1737360" cy="384048"/>
          </a:xfrm>
          <a:prstGeom prst="rect">
            <a:avLst/>
          </a:prstGeom>
          <a:noFill/>
          <a:ln/>
        </p:spPr>
        <p:txBody>
          <a:bodyPr wrap="square" lIns="0" tIns="0" rIns="0" bIns="0" rtlCol="0" anchor="ctr"/>
          <a:lstStyle/>
          <a:p>
            <a:pPr marL="0" indent="0" algn="ctr" rtl="1">
              <a:buNone/>
            </a:pPr>
            <a:r>
              <a:rPr lang="en-US" sz="1050" b="1" dirty="0">
                <a:solidFill>
                  <a:srgbClr val="6D6E71"/>
                </a:solidFill>
                <a:latin typeface="Segoe UI" pitchFamily="34" charset="0"/>
                <a:ea typeface="Segoe UI" pitchFamily="34" charset="-122"/>
                <a:cs typeface="Segoe UI" pitchFamily="34" charset="-120"/>
              </a:rPr>
              <a:t>IT · CT · HR</a:t>
            </a:r>
            <a:endParaRPr lang="en-US" sz="1050" dirty="0"/>
          </a:p>
        </p:txBody>
      </p:sp>
      <p:sp>
        <p:nvSpPr>
          <p:cNvPr id="12" name="Shape 9"/>
          <p:cNvSpPr/>
          <p:nvPr/>
        </p:nvSpPr>
        <p:spPr>
          <a:xfrm>
            <a:off x="4344314" y="1920240"/>
            <a:ext cx="3503066" cy="2926080"/>
          </a:xfrm>
          <a:prstGeom prst="roundRect">
            <a:avLst>
              <a:gd name="adj" fmla="val 3125"/>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13" name="Shape 10"/>
          <p:cNvSpPr/>
          <p:nvPr/>
        </p:nvSpPr>
        <p:spPr>
          <a:xfrm>
            <a:off x="6914693" y="2231136"/>
            <a:ext cx="603504" cy="603504"/>
          </a:xfrm>
          <a:prstGeom prst="ellipse">
            <a:avLst/>
          </a:prstGeom>
          <a:solidFill>
            <a:srgbClr val="C2151C"/>
          </a:solidFill>
          <a:ln w="12700">
            <a:solidFill>
              <a:srgbClr val="C2151C"/>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7065569" y="2382012"/>
            <a:ext cx="301752" cy="301752"/>
          </a:xfrm>
          <a:prstGeom prst="rect">
            <a:avLst/>
          </a:prstGeom>
        </p:spPr>
      </p:pic>
      <p:sp>
        <p:nvSpPr>
          <p:cNvPr id="15" name="Text 11"/>
          <p:cNvSpPr txBox="1"/>
          <p:nvPr/>
        </p:nvSpPr>
        <p:spPr>
          <a:xfrm>
            <a:off x="4673498" y="2999232"/>
            <a:ext cx="2844698" cy="347472"/>
          </a:xfrm>
          <a:prstGeom prst="rect">
            <a:avLst/>
          </a:prstGeom>
          <a:noFill/>
          <a:ln/>
        </p:spPr>
        <p:txBody>
          <a:bodyPr wrap="square" lIns="0" tIns="0" rIns="0" bIns="0" rtlCol="0" anchor="t"/>
          <a:lstStyle/>
          <a:p>
            <a:pPr marL="0" indent="0" algn="r" rtl="1">
              <a:buNone/>
            </a:pPr>
            <a:r>
              <a:rPr lang="en-US" sz="1700" b="1" dirty="0">
                <a:solidFill>
                  <a:srgbClr val="2B2A2C"/>
                </a:solidFill>
                <a:latin typeface="Segoe UI" pitchFamily="34" charset="0"/>
                <a:ea typeface="Segoe UI" pitchFamily="34" charset="-122"/>
                <a:cs typeface="Segoe UI" pitchFamily="34" charset="-120"/>
              </a:rPr>
              <a:t>الإرجاعات المعلّقة</a:t>
            </a:r>
            <a:endParaRPr lang="en-US" sz="1700" dirty="0"/>
          </a:p>
        </p:txBody>
      </p:sp>
      <p:sp>
        <p:nvSpPr>
          <p:cNvPr id="16" name="Text 12"/>
          <p:cNvSpPr txBox="1"/>
          <p:nvPr/>
        </p:nvSpPr>
        <p:spPr>
          <a:xfrm>
            <a:off x="4673498" y="3383280"/>
            <a:ext cx="2844698" cy="768096"/>
          </a:xfrm>
          <a:prstGeom prst="rect">
            <a:avLst/>
          </a:prstGeom>
          <a:noFill/>
          <a:ln/>
        </p:spPr>
        <p:txBody>
          <a:bodyPr wrap="square" lIns="0" tIns="0" rIns="0" bIns="0" rtlCol="0" anchor="t"/>
          <a:lstStyle/>
          <a:p>
            <a:pPr marL="0" indent="0" algn="r" rtl="1">
              <a:lnSpc>
                <a:spcPts val="1800"/>
              </a:lnSpc>
              <a:buNone/>
            </a:pPr>
            <a:r>
              <a:rPr lang="en-US" sz="1250" dirty="0">
                <a:solidFill>
                  <a:srgbClr val="6D6E71"/>
                </a:solidFill>
                <a:latin typeface="Segoe UI" pitchFamily="34" charset="0"/>
                <a:ea typeface="Segoe UI" pitchFamily="34" charset="-122"/>
                <a:cs typeface="Segoe UI" pitchFamily="34" charset="-120"/>
              </a:rPr>
              <a:t>العناصر الواجب استعادتها من الموظفين المنتهية خدمتهم، وتأكيد استلامها.</a:t>
            </a:r>
            <a:endParaRPr lang="en-US" sz="1250" dirty="0"/>
          </a:p>
        </p:txBody>
      </p:sp>
      <p:sp>
        <p:nvSpPr>
          <p:cNvPr id="17" name="Shape 13"/>
          <p:cNvSpPr/>
          <p:nvPr/>
        </p:nvSpPr>
        <p:spPr>
          <a:xfrm>
            <a:off x="5780837" y="4133088"/>
            <a:ext cx="1737360" cy="384048"/>
          </a:xfrm>
          <a:prstGeom prst="roundRect">
            <a:avLst>
              <a:gd name="adj" fmla="val 14286"/>
            </a:avLst>
          </a:prstGeom>
          <a:solidFill>
            <a:srgbClr val="EEEFF0"/>
          </a:solidFill>
          <a:ln w="7620">
            <a:solidFill>
              <a:srgbClr val="DCDDDE"/>
            </a:solidFill>
            <a:prstDash val="solid"/>
          </a:ln>
        </p:spPr>
        <p:txBody>
          <a:bodyPr/>
          <a:lstStyle/>
          <a:p>
            <a:endParaRPr lang="en-US"/>
          </a:p>
        </p:txBody>
      </p:sp>
      <p:sp>
        <p:nvSpPr>
          <p:cNvPr id="18" name="Text 14"/>
          <p:cNvSpPr txBox="1"/>
          <p:nvPr/>
        </p:nvSpPr>
        <p:spPr>
          <a:xfrm>
            <a:off x="5780837" y="4133088"/>
            <a:ext cx="1737360" cy="384048"/>
          </a:xfrm>
          <a:prstGeom prst="rect">
            <a:avLst/>
          </a:prstGeom>
          <a:noFill/>
          <a:ln/>
        </p:spPr>
        <p:txBody>
          <a:bodyPr wrap="square" lIns="0" tIns="0" rIns="0" bIns="0" rtlCol="0" anchor="ctr"/>
          <a:lstStyle/>
          <a:p>
            <a:pPr marL="0" indent="0" algn="ctr" rtl="1">
              <a:buNone/>
            </a:pPr>
            <a:r>
              <a:rPr lang="en-US" sz="1050" b="1" dirty="0">
                <a:solidFill>
                  <a:srgbClr val="6D6E71"/>
                </a:solidFill>
                <a:latin typeface="Segoe UI" pitchFamily="34" charset="0"/>
                <a:ea typeface="Segoe UI" pitchFamily="34" charset="-122"/>
                <a:cs typeface="Segoe UI" pitchFamily="34" charset="-120"/>
              </a:rPr>
              <a:t>IT · CT · HR</a:t>
            </a:r>
            <a:endParaRPr lang="en-US" sz="1050" dirty="0"/>
          </a:p>
        </p:txBody>
      </p:sp>
      <p:sp>
        <p:nvSpPr>
          <p:cNvPr id="19" name="Shape 15"/>
          <p:cNvSpPr/>
          <p:nvPr/>
        </p:nvSpPr>
        <p:spPr>
          <a:xfrm>
            <a:off x="566928" y="1920240"/>
            <a:ext cx="3503066" cy="2926080"/>
          </a:xfrm>
          <a:prstGeom prst="roundRect">
            <a:avLst>
              <a:gd name="adj" fmla="val 3125"/>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20" name="Shape 16"/>
          <p:cNvSpPr/>
          <p:nvPr/>
        </p:nvSpPr>
        <p:spPr>
          <a:xfrm>
            <a:off x="3137306" y="2231136"/>
            <a:ext cx="603504" cy="603504"/>
          </a:xfrm>
          <a:prstGeom prst="ellipse">
            <a:avLst/>
          </a:prstGeom>
          <a:solidFill>
            <a:srgbClr val="C2151C"/>
          </a:solidFill>
          <a:ln w="12700">
            <a:solidFill>
              <a:srgbClr val="C2151C"/>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3288182" y="2382012"/>
            <a:ext cx="301752" cy="301752"/>
          </a:xfrm>
          <a:prstGeom prst="rect">
            <a:avLst/>
          </a:prstGeom>
        </p:spPr>
      </p:pic>
      <p:sp>
        <p:nvSpPr>
          <p:cNvPr id="22" name="Text 17"/>
          <p:cNvSpPr txBox="1"/>
          <p:nvPr/>
        </p:nvSpPr>
        <p:spPr>
          <a:xfrm>
            <a:off x="896112" y="2999232"/>
            <a:ext cx="2844698" cy="347472"/>
          </a:xfrm>
          <a:prstGeom prst="rect">
            <a:avLst/>
          </a:prstGeom>
          <a:noFill/>
          <a:ln/>
        </p:spPr>
        <p:txBody>
          <a:bodyPr wrap="square" lIns="0" tIns="0" rIns="0" bIns="0" rtlCol="0" anchor="t"/>
          <a:lstStyle/>
          <a:p>
            <a:pPr marL="0" indent="0" algn="r" rtl="1">
              <a:buNone/>
            </a:pPr>
            <a:r>
              <a:rPr lang="en-US" sz="1700" b="1" dirty="0">
                <a:solidFill>
                  <a:srgbClr val="2B2A2C"/>
                </a:solidFill>
                <a:latin typeface="Segoe UI" pitchFamily="34" charset="0"/>
                <a:ea typeface="Segoe UI" pitchFamily="34" charset="-122"/>
                <a:cs typeface="Segoe UI" pitchFamily="34" charset="-120"/>
              </a:rPr>
              <a:t>مستلزماتي</a:t>
            </a:r>
            <a:endParaRPr lang="en-US" sz="1700" dirty="0"/>
          </a:p>
        </p:txBody>
      </p:sp>
      <p:sp>
        <p:nvSpPr>
          <p:cNvPr id="23" name="Text 18"/>
          <p:cNvSpPr txBox="1"/>
          <p:nvPr/>
        </p:nvSpPr>
        <p:spPr>
          <a:xfrm>
            <a:off x="896112" y="3383280"/>
            <a:ext cx="2844698" cy="768096"/>
          </a:xfrm>
          <a:prstGeom prst="rect">
            <a:avLst/>
          </a:prstGeom>
          <a:noFill/>
          <a:ln/>
        </p:spPr>
        <p:txBody>
          <a:bodyPr wrap="square" lIns="0" tIns="0" rIns="0" bIns="0" rtlCol="0" anchor="t"/>
          <a:lstStyle/>
          <a:p>
            <a:pPr marL="0" indent="0" algn="r" rtl="1">
              <a:lnSpc>
                <a:spcPts val="1800"/>
              </a:lnSpc>
              <a:buNone/>
            </a:pPr>
            <a:r>
              <a:rPr lang="en-US" sz="1250" dirty="0">
                <a:solidFill>
                  <a:srgbClr val="6D6E71"/>
                </a:solidFill>
                <a:latin typeface="Segoe UI" pitchFamily="34" charset="0"/>
                <a:ea typeface="Segoe UI" pitchFamily="34" charset="-122"/>
                <a:cs typeface="Segoe UI" pitchFamily="34" charset="-120"/>
              </a:rPr>
              <a:t>يرى كل موظف قائمة الأجهزة المسجّلة باسمه وحالتها الحالية.</a:t>
            </a:r>
            <a:endParaRPr lang="en-US" sz="1250" dirty="0"/>
          </a:p>
        </p:txBody>
      </p:sp>
      <p:sp>
        <p:nvSpPr>
          <p:cNvPr id="24" name="Shape 19"/>
          <p:cNvSpPr/>
          <p:nvPr/>
        </p:nvSpPr>
        <p:spPr>
          <a:xfrm>
            <a:off x="2003450" y="4133088"/>
            <a:ext cx="1737360" cy="384048"/>
          </a:xfrm>
          <a:prstGeom prst="roundRect">
            <a:avLst>
              <a:gd name="adj" fmla="val 14286"/>
            </a:avLst>
          </a:prstGeom>
          <a:solidFill>
            <a:srgbClr val="EEEFF0"/>
          </a:solidFill>
          <a:ln w="7620">
            <a:solidFill>
              <a:srgbClr val="DCDDDE"/>
            </a:solidFill>
            <a:prstDash val="solid"/>
          </a:ln>
        </p:spPr>
        <p:txBody>
          <a:bodyPr/>
          <a:lstStyle/>
          <a:p>
            <a:endParaRPr lang="en-US"/>
          </a:p>
        </p:txBody>
      </p:sp>
      <p:sp>
        <p:nvSpPr>
          <p:cNvPr id="25" name="Text 20"/>
          <p:cNvSpPr txBox="1"/>
          <p:nvPr/>
        </p:nvSpPr>
        <p:spPr>
          <a:xfrm>
            <a:off x="2003450" y="4133088"/>
            <a:ext cx="1737360" cy="384048"/>
          </a:xfrm>
          <a:prstGeom prst="rect">
            <a:avLst/>
          </a:prstGeom>
          <a:noFill/>
          <a:ln/>
        </p:spPr>
        <p:txBody>
          <a:bodyPr wrap="square" lIns="0" tIns="0" rIns="0" bIns="0" rtlCol="0" anchor="ctr"/>
          <a:lstStyle/>
          <a:p>
            <a:pPr marL="0" indent="0" algn="ctr" rtl="1">
              <a:buNone/>
            </a:pPr>
            <a:r>
              <a:rPr lang="en-US" sz="1050" b="1" dirty="0">
                <a:solidFill>
                  <a:srgbClr val="6D6E71"/>
                </a:solidFill>
                <a:latin typeface="Segoe UI" pitchFamily="34" charset="0"/>
                <a:ea typeface="Segoe UI" pitchFamily="34" charset="-122"/>
                <a:cs typeface="Segoe UI" pitchFamily="34" charset="-120"/>
              </a:rPr>
              <a:t>جميع الموظفين</a:t>
            </a:r>
            <a:endParaRPr lang="en-US" sz="1050" dirty="0"/>
          </a:p>
        </p:txBody>
      </p:sp>
      <p:sp>
        <p:nvSpPr>
          <p:cNvPr id="26" name="Shape 21"/>
          <p:cNvSpPr/>
          <p:nvPr/>
        </p:nvSpPr>
        <p:spPr>
          <a:xfrm>
            <a:off x="566928" y="5120640"/>
            <a:ext cx="11057839" cy="841248"/>
          </a:xfrm>
          <a:prstGeom prst="roundRect">
            <a:avLst>
              <a:gd name="adj" fmla="val 8696"/>
            </a:avLst>
          </a:prstGeom>
          <a:solidFill>
            <a:srgbClr val="F7E8E9"/>
          </a:solidFill>
          <a:ln w="12700">
            <a:solidFill>
              <a:srgbClr val="F7E8E9"/>
            </a:solidFill>
            <a:prstDash val="solid"/>
          </a:ln>
        </p:spPr>
        <p:txBody>
          <a:bodyPr/>
          <a:lstStyle/>
          <a:p>
            <a:endParaRPr lang="en-US"/>
          </a:p>
        </p:txBody>
      </p:sp>
      <p:sp>
        <p:nvSpPr>
          <p:cNvPr id="27" name="Text 22"/>
          <p:cNvSpPr txBox="1"/>
          <p:nvPr/>
        </p:nvSpPr>
        <p:spPr>
          <a:xfrm>
            <a:off x="932688" y="5120640"/>
            <a:ext cx="10326319" cy="841248"/>
          </a:xfrm>
          <a:prstGeom prst="rect">
            <a:avLst/>
          </a:prstGeom>
          <a:noFill/>
          <a:ln/>
        </p:spPr>
        <p:txBody>
          <a:bodyPr wrap="square" lIns="0" tIns="0" rIns="0" bIns="0" rtlCol="0" anchor="ctr"/>
          <a:lstStyle/>
          <a:p>
            <a:pPr marL="0" indent="0" algn="r" rtl="1">
              <a:lnSpc>
                <a:spcPts val="1900"/>
              </a:lnSpc>
              <a:buNone/>
            </a:pPr>
            <a:r>
              <a:rPr lang="en-US" sz="1300" b="1" dirty="0">
                <a:solidFill>
                  <a:srgbClr val="A51218"/>
                </a:solidFill>
                <a:latin typeface="Segoe UI" pitchFamily="34" charset="0"/>
                <a:ea typeface="Segoe UI" pitchFamily="34" charset="-122"/>
                <a:cs typeface="Segoe UI" pitchFamily="34" charset="-120"/>
              </a:rPr>
              <a:t>العناصر القياسية مثل الحاسوب والهاتف وبطاقة الدخول تُعرَّف مرة واحدة ضمن أساسيات المشروع، ثم تُسند للموظفين دون إعادة إدخال.</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6"/>
        </a:solidFill>
        <a:effectLst/>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t"/>
          <a:lstStyle/>
          <a:p>
            <a:pPr marL="0" indent="0" algn="r" rtl="1">
              <a:buNone/>
            </a:pPr>
            <a:r>
              <a:rPr lang="en-US" sz="1250" b="1" kern="0" spc="100" dirty="0">
                <a:solidFill>
                  <a:srgbClr val="C2151C"/>
                </a:solidFill>
                <a:latin typeface="Segoe UI" pitchFamily="34" charset="0"/>
                <a:ea typeface="Segoe UI" pitchFamily="34" charset="-122"/>
                <a:cs typeface="Segoe UI" pitchFamily="34" charset="-120"/>
              </a:rPr>
              <a:t>التواصل والمستندات</a:t>
            </a:r>
            <a:endParaRPr lang="en-US" sz="1250" dirty="0"/>
          </a:p>
        </p:txBody>
      </p:sp>
      <p:sp>
        <p:nvSpPr>
          <p:cNvPr id="3" name="Text 1"/>
          <p:cNvSpPr txBox="1"/>
          <p:nvPr/>
        </p:nvSpPr>
        <p:spPr>
          <a:xfrm>
            <a:off x="566928" y="713232"/>
            <a:ext cx="11057839" cy="658368"/>
          </a:xfrm>
          <a:prstGeom prst="rect">
            <a:avLst/>
          </a:prstGeom>
          <a:noFill/>
          <a:ln/>
        </p:spPr>
        <p:txBody>
          <a:bodyPr wrap="square" lIns="0" tIns="0" rIns="0" bIns="0" rtlCol="0" anchor="t"/>
          <a:lstStyle/>
          <a:p>
            <a:pPr marL="0" indent="0" algn="r" rtl="1">
              <a:buNone/>
            </a:pPr>
            <a:r>
              <a:rPr lang="en-US" sz="3300" b="1" dirty="0">
                <a:solidFill>
                  <a:srgbClr val="2B2A2C"/>
                </a:solidFill>
                <a:latin typeface="Segoe UI" pitchFamily="34" charset="0"/>
                <a:ea typeface="Segoe UI" pitchFamily="34" charset="-122"/>
                <a:cs typeface="Segoe UI" pitchFamily="34" charset="-120"/>
              </a:rPr>
              <a:t>الأرشيف والأخبار والشارات</a:t>
            </a:r>
            <a:endParaRPr lang="en-US" sz="3300" dirty="0"/>
          </a:p>
        </p:txBody>
      </p:sp>
      <p:sp>
        <p:nvSpPr>
          <p:cNvPr id="4" name="Shape 2"/>
          <p:cNvSpPr/>
          <p:nvPr/>
        </p:nvSpPr>
        <p:spPr>
          <a:xfrm>
            <a:off x="8121701" y="1847088"/>
            <a:ext cx="3503066" cy="3931920"/>
          </a:xfrm>
          <a:prstGeom prst="roundRect">
            <a:avLst>
              <a:gd name="adj" fmla="val 2610"/>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5" name="Shape 3"/>
          <p:cNvSpPr/>
          <p:nvPr/>
        </p:nvSpPr>
        <p:spPr>
          <a:xfrm>
            <a:off x="10710367" y="2157984"/>
            <a:ext cx="585216" cy="585216"/>
          </a:xfrm>
          <a:prstGeom prst="ellipse">
            <a:avLst/>
          </a:prstGeom>
          <a:solidFill>
            <a:srgbClr val="C2151C"/>
          </a:solidFill>
          <a:ln w="12700">
            <a:solidFill>
              <a:srgbClr val="C2151C"/>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856671" y="2304288"/>
            <a:ext cx="292608" cy="292608"/>
          </a:xfrm>
          <a:prstGeom prst="rect">
            <a:avLst/>
          </a:prstGeom>
        </p:spPr>
      </p:pic>
      <p:sp>
        <p:nvSpPr>
          <p:cNvPr id="7" name="Text 4"/>
          <p:cNvSpPr txBox="1"/>
          <p:nvPr/>
        </p:nvSpPr>
        <p:spPr>
          <a:xfrm>
            <a:off x="8450885" y="2926080"/>
            <a:ext cx="2844698" cy="365760"/>
          </a:xfrm>
          <a:prstGeom prst="rect">
            <a:avLst/>
          </a:prstGeom>
          <a:noFill/>
          <a:ln/>
        </p:spPr>
        <p:txBody>
          <a:bodyPr wrap="square" lIns="0" tIns="0" rIns="0" bIns="0" rtlCol="0" anchor="t"/>
          <a:lstStyle/>
          <a:p>
            <a:pPr marL="0" indent="0" algn="r" rtl="1">
              <a:buNone/>
            </a:pPr>
            <a:r>
              <a:rPr lang="en-US" sz="1800" b="1" dirty="0">
                <a:solidFill>
                  <a:srgbClr val="2B2A2C"/>
                </a:solidFill>
                <a:latin typeface="Segoe UI" pitchFamily="34" charset="0"/>
                <a:ea typeface="Segoe UI" pitchFamily="34" charset="-122"/>
                <a:cs typeface="Segoe UI" pitchFamily="34" charset="-120"/>
              </a:rPr>
              <a:t>الملفات المؤرشفة</a:t>
            </a:r>
            <a:endParaRPr lang="en-US" sz="1800" dirty="0"/>
          </a:p>
        </p:txBody>
      </p:sp>
      <p:sp>
        <p:nvSpPr>
          <p:cNvPr id="8" name="Text 5"/>
          <p:cNvSpPr txBox="1"/>
          <p:nvPr/>
        </p:nvSpPr>
        <p:spPr>
          <a:xfrm>
            <a:off x="8450885" y="3456432"/>
            <a:ext cx="2844698" cy="2377440"/>
          </a:xfrm>
          <a:prstGeom prst="rect">
            <a:avLst/>
          </a:prstGeom>
          <a:noFill/>
          <a:ln/>
        </p:spPr>
        <p:txBody>
          <a:bodyPr wrap="square" lIns="0" tIns="0" rIns="0" bIns="0" rtlCol="0" anchor="t"/>
          <a:lstStyle/>
          <a:p>
            <a:pPr marL="177800" indent="-177800" algn="r" rtl="1">
              <a:lnSpc>
                <a:spcPts val="1900"/>
              </a:lnSpc>
              <a:spcAft>
                <a:spcPts val="700"/>
              </a:spcAft>
              <a:buSzPct val="100000"/>
              <a:buChar char="●"/>
            </a:pPr>
            <a:r>
              <a:rPr lang="en-US" sz="1250" dirty="0">
                <a:solidFill>
                  <a:srgbClr val="414042"/>
                </a:solidFill>
                <a:latin typeface="Segoe UI" pitchFamily="34" charset="0"/>
                <a:ea typeface="Segoe UI" pitchFamily="34" charset="-122"/>
                <a:cs typeface="Segoe UI" pitchFamily="34" charset="-120"/>
              </a:rPr>
              <a:t>مجلداتي لإنشاء مجلدات خاصة بك ورفع ملفاتك إليها.</a:t>
            </a:r>
            <a:endParaRPr lang="en-US" sz="1250" dirty="0"/>
          </a:p>
          <a:p>
            <a:pPr marL="177800" indent="-177800" algn="r" rtl="1">
              <a:lnSpc>
                <a:spcPts val="1900"/>
              </a:lnSpc>
              <a:spcAft>
                <a:spcPts val="700"/>
              </a:spcAft>
              <a:buSzPct val="100000"/>
              <a:buChar char="●"/>
            </a:pPr>
            <a:r>
              <a:rPr lang="en-US" sz="1250" dirty="0">
                <a:solidFill>
                  <a:srgbClr val="414042"/>
                </a:solidFill>
                <a:latin typeface="Segoe UI" pitchFamily="34" charset="0"/>
                <a:ea typeface="Segoe UI" pitchFamily="34" charset="-122"/>
                <a:cs typeface="Segoe UI" pitchFamily="34" charset="-120"/>
              </a:rPr>
              <a:t>المجلدات المشتركة لما شاركه معك زملاؤك أو الإدارة.</a:t>
            </a:r>
            <a:endParaRPr lang="en-US" sz="1250" dirty="0"/>
          </a:p>
          <a:p>
            <a:pPr marL="177800" indent="-177800" algn="r" rtl="1">
              <a:lnSpc>
                <a:spcPts val="1900"/>
              </a:lnSpc>
              <a:spcAft>
                <a:spcPts val="700"/>
              </a:spcAft>
              <a:buSzPct val="100000"/>
              <a:buChar char="●"/>
            </a:pPr>
            <a:r>
              <a:rPr lang="en-US" sz="1250" dirty="0">
                <a:solidFill>
                  <a:srgbClr val="414042"/>
                </a:solidFill>
                <a:latin typeface="Segoe UI" pitchFamily="34" charset="0"/>
                <a:ea typeface="Segoe UI" pitchFamily="34" charset="-122"/>
                <a:cs typeface="Segoe UI" pitchFamily="34" charset="-120"/>
              </a:rPr>
              <a:t>معاينة ملفات المكتب داخل المتصفح دون تنزيل.</a:t>
            </a:r>
            <a:endParaRPr lang="en-US" sz="1250" dirty="0"/>
          </a:p>
          <a:p>
            <a:pPr marL="177800" indent="-177800" algn="r" rtl="1">
              <a:lnSpc>
                <a:spcPts val="1900"/>
              </a:lnSpc>
              <a:spcAft>
                <a:spcPts val="700"/>
              </a:spcAft>
              <a:buSzPct val="100000"/>
              <a:buChar char="●"/>
            </a:pPr>
            <a:r>
              <a:rPr lang="en-US" sz="1250" dirty="0">
                <a:solidFill>
                  <a:srgbClr val="414042"/>
                </a:solidFill>
                <a:latin typeface="Segoe UI" pitchFamily="34" charset="0"/>
                <a:ea typeface="Segoe UI" pitchFamily="34" charset="-122"/>
                <a:cs typeface="Segoe UI" pitchFamily="34" charset="-120"/>
              </a:rPr>
              <a:t>التنزيل محكوم بصلاحية مستقلّة عن صلاحية العرض.</a:t>
            </a:r>
            <a:endParaRPr lang="en-US" sz="1250" dirty="0"/>
          </a:p>
        </p:txBody>
      </p:sp>
      <p:sp>
        <p:nvSpPr>
          <p:cNvPr id="9" name="Shape 6"/>
          <p:cNvSpPr/>
          <p:nvPr/>
        </p:nvSpPr>
        <p:spPr>
          <a:xfrm>
            <a:off x="4344314" y="1847088"/>
            <a:ext cx="3503066" cy="3931920"/>
          </a:xfrm>
          <a:prstGeom prst="roundRect">
            <a:avLst>
              <a:gd name="adj" fmla="val 2610"/>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10" name="Shape 7"/>
          <p:cNvSpPr/>
          <p:nvPr/>
        </p:nvSpPr>
        <p:spPr>
          <a:xfrm>
            <a:off x="6932981" y="2157984"/>
            <a:ext cx="585216" cy="585216"/>
          </a:xfrm>
          <a:prstGeom prst="ellipse">
            <a:avLst/>
          </a:prstGeom>
          <a:solidFill>
            <a:srgbClr val="C2151C"/>
          </a:solidFill>
          <a:ln w="12700">
            <a:solidFill>
              <a:srgbClr val="C2151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7079285" y="2304288"/>
            <a:ext cx="292608" cy="292608"/>
          </a:xfrm>
          <a:prstGeom prst="rect">
            <a:avLst/>
          </a:prstGeom>
        </p:spPr>
      </p:pic>
      <p:sp>
        <p:nvSpPr>
          <p:cNvPr id="12" name="Text 8"/>
          <p:cNvSpPr txBox="1"/>
          <p:nvPr/>
        </p:nvSpPr>
        <p:spPr>
          <a:xfrm>
            <a:off x="4673498" y="2926080"/>
            <a:ext cx="2844698" cy="365760"/>
          </a:xfrm>
          <a:prstGeom prst="rect">
            <a:avLst/>
          </a:prstGeom>
          <a:noFill/>
          <a:ln/>
        </p:spPr>
        <p:txBody>
          <a:bodyPr wrap="square" lIns="0" tIns="0" rIns="0" bIns="0" rtlCol="0" anchor="t"/>
          <a:lstStyle/>
          <a:p>
            <a:pPr marL="0" indent="0" algn="r" rtl="1">
              <a:buNone/>
            </a:pPr>
            <a:r>
              <a:rPr lang="en-US" sz="1800" b="1" dirty="0">
                <a:solidFill>
                  <a:srgbClr val="2B2A2C"/>
                </a:solidFill>
                <a:latin typeface="Segoe UI" pitchFamily="34" charset="0"/>
                <a:ea typeface="Segoe UI" pitchFamily="34" charset="-122"/>
                <a:cs typeface="Segoe UI" pitchFamily="34" charset="-120"/>
              </a:rPr>
              <a:t>الأخبار والإعلانات</a:t>
            </a:r>
            <a:endParaRPr lang="en-US" sz="1800" dirty="0"/>
          </a:p>
        </p:txBody>
      </p:sp>
      <p:sp>
        <p:nvSpPr>
          <p:cNvPr id="13" name="Text 9"/>
          <p:cNvSpPr txBox="1"/>
          <p:nvPr/>
        </p:nvSpPr>
        <p:spPr>
          <a:xfrm>
            <a:off x="4673498" y="3456432"/>
            <a:ext cx="2844698" cy="2377440"/>
          </a:xfrm>
          <a:prstGeom prst="rect">
            <a:avLst/>
          </a:prstGeom>
          <a:noFill/>
          <a:ln/>
        </p:spPr>
        <p:txBody>
          <a:bodyPr wrap="square" lIns="0" tIns="0" rIns="0" bIns="0" rtlCol="0" anchor="t"/>
          <a:lstStyle/>
          <a:p>
            <a:pPr marL="177800" indent="-177800" algn="r" rtl="1">
              <a:lnSpc>
                <a:spcPts val="1900"/>
              </a:lnSpc>
              <a:spcAft>
                <a:spcPts val="700"/>
              </a:spcAft>
              <a:buSzPct val="100000"/>
              <a:buChar char="●"/>
            </a:pPr>
            <a:r>
              <a:rPr lang="en-US" sz="1250" dirty="0">
                <a:solidFill>
                  <a:srgbClr val="414042"/>
                </a:solidFill>
                <a:latin typeface="Segoe UI" pitchFamily="34" charset="0"/>
                <a:ea typeface="Segoe UI" pitchFamily="34" charset="-122"/>
                <a:cs typeface="Segoe UI" pitchFamily="34" charset="-120"/>
              </a:rPr>
              <a:t>انشر خبراً من صفحة إدارة الأخبار ثم إضافة خبر.</a:t>
            </a:r>
            <a:endParaRPr lang="en-US" sz="1250" dirty="0"/>
          </a:p>
          <a:p>
            <a:pPr marL="177800" indent="-177800" algn="r" rtl="1">
              <a:lnSpc>
                <a:spcPts val="1900"/>
              </a:lnSpc>
              <a:spcAft>
                <a:spcPts val="700"/>
              </a:spcAft>
              <a:buSzPct val="100000"/>
              <a:buChar char="●"/>
            </a:pPr>
            <a:r>
              <a:rPr lang="en-US" sz="1250" dirty="0">
                <a:solidFill>
                  <a:srgbClr val="414042"/>
                </a:solidFill>
                <a:latin typeface="Segoe UI" pitchFamily="34" charset="0"/>
                <a:ea typeface="Segoe UI" pitchFamily="34" charset="-122"/>
                <a:cs typeface="Segoe UI" pitchFamily="34" charset="-120"/>
              </a:rPr>
              <a:t>أضف العنوان والمحتوى وأرفق صورة أو ملفاً.</a:t>
            </a:r>
            <a:endParaRPr lang="en-US" sz="1250" dirty="0"/>
          </a:p>
          <a:p>
            <a:pPr marL="177800" indent="-177800" algn="r" rtl="1">
              <a:lnSpc>
                <a:spcPts val="1900"/>
              </a:lnSpc>
              <a:spcAft>
                <a:spcPts val="700"/>
              </a:spcAft>
              <a:buSzPct val="100000"/>
              <a:buChar char="●"/>
            </a:pPr>
            <a:r>
              <a:rPr lang="en-US" sz="1250" dirty="0">
                <a:solidFill>
                  <a:srgbClr val="414042"/>
                </a:solidFill>
                <a:latin typeface="Segoe UI" pitchFamily="34" charset="0"/>
                <a:ea typeface="Segoe UI" pitchFamily="34" charset="-122"/>
                <a:cs typeface="Segoe UI" pitchFamily="34" charset="-120"/>
              </a:rPr>
              <a:t>وجّه الخبر للمؤسسة كلها أو لمحافظة أو مركز أو برنامج.</a:t>
            </a:r>
            <a:endParaRPr lang="en-US" sz="1250" dirty="0"/>
          </a:p>
          <a:p>
            <a:pPr marL="177800" indent="-177800" algn="r" rtl="1">
              <a:lnSpc>
                <a:spcPts val="1900"/>
              </a:lnSpc>
              <a:spcAft>
                <a:spcPts val="700"/>
              </a:spcAft>
              <a:buSzPct val="100000"/>
              <a:buChar char="●"/>
            </a:pPr>
            <a:r>
              <a:rPr lang="en-US" sz="1250" dirty="0">
                <a:solidFill>
                  <a:srgbClr val="414042"/>
                </a:solidFill>
                <a:latin typeface="Segoe UI" pitchFamily="34" charset="0"/>
                <a:ea typeface="Segoe UI" pitchFamily="34" charset="-122"/>
                <a:cs typeface="Segoe UI" pitchFamily="34" charset="-120"/>
              </a:rPr>
              <a:t>يظهر الخبر لجمهوره المستهدف في لوحة التحكم.</a:t>
            </a:r>
            <a:endParaRPr lang="en-US" sz="1250" dirty="0"/>
          </a:p>
        </p:txBody>
      </p:sp>
      <p:sp>
        <p:nvSpPr>
          <p:cNvPr id="14" name="Shape 10"/>
          <p:cNvSpPr/>
          <p:nvPr/>
        </p:nvSpPr>
        <p:spPr>
          <a:xfrm>
            <a:off x="566928" y="1847088"/>
            <a:ext cx="3503066" cy="3931920"/>
          </a:xfrm>
          <a:prstGeom prst="roundRect">
            <a:avLst>
              <a:gd name="adj" fmla="val 2610"/>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15" name="Shape 11"/>
          <p:cNvSpPr/>
          <p:nvPr/>
        </p:nvSpPr>
        <p:spPr>
          <a:xfrm>
            <a:off x="3155594" y="2157984"/>
            <a:ext cx="585216" cy="585216"/>
          </a:xfrm>
          <a:prstGeom prst="ellipse">
            <a:avLst/>
          </a:prstGeom>
          <a:solidFill>
            <a:srgbClr val="C2151C"/>
          </a:solidFill>
          <a:ln w="12700">
            <a:solidFill>
              <a:srgbClr val="C2151C"/>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3301898" y="2304288"/>
            <a:ext cx="292608" cy="292608"/>
          </a:xfrm>
          <a:prstGeom prst="rect">
            <a:avLst/>
          </a:prstGeom>
        </p:spPr>
      </p:pic>
      <p:sp>
        <p:nvSpPr>
          <p:cNvPr id="17" name="Text 12"/>
          <p:cNvSpPr txBox="1"/>
          <p:nvPr/>
        </p:nvSpPr>
        <p:spPr>
          <a:xfrm>
            <a:off x="896112" y="2926080"/>
            <a:ext cx="2844698" cy="365760"/>
          </a:xfrm>
          <a:prstGeom prst="rect">
            <a:avLst/>
          </a:prstGeom>
          <a:noFill/>
          <a:ln/>
        </p:spPr>
        <p:txBody>
          <a:bodyPr wrap="square" lIns="0" tIns="0" rIns="0" bIns="0" rtlCol="0" anchor="t"/>
          <a:lstStyle/>
          <a:p>
            <a:pPr marL="0" indent="0" algn="r" rtl="1">
              <a:buNone/>
            </a:pPr>
            <a:r>
              <a:rPr lang="en-US" sz="1800" b="1" dirty="0">
                <a:solidFill>
                  <a:srgbClr val="2B2A2C"/>
                </a:solidFill>
                <a:latin typeface="Segoe UI" pitchFamily="34" charset="0"/>
                <a:ea typeface="Segoe UI" pitchFamily="34" charset="-122"/>
                <a:cs typeface="Segoe UI" pitchFamily="34" charset="-120"/>
              </a:rPr>
              <a:t>الشارات والتقدير</a:t>
            </a:r>
            <a:endParaRPr lang="en-US" sz="1800" dirty="0"/>
          </a:p>
        </p:txBody>
      </p:sp>
      <p:sp>
        <p:nvSpPr>
          <p:cNvPr id="18" name="Text 13"/>
          <p:cNvSpPr txBox="1"/>
          <p:nvPr/>
        </p:nvSpPr>
        <p:spPr>
          <a:xfrm>
            <a:off x="896112" y="3456432"/>
            <a:ext cx="2844698" cy="2377440"/>
          </a:xfrm>
          <a:prstGeom prst="rect">
            <a:avLst/>
          </a:prstGeom>
          <a:noFill/>
          <a:ln/>
        </p:spPr>
        <p:txBody>
          <a:bodyPr wrap="square" lIns="0" tIns="0" rIns="0" bIns="0" rtlCol="0" anchor="t"/>
          <a:lstStyle/>
          <a:p>
            <a:pPr marL="177800" indent="-177800" algn="r" rtl="1">
              <a:lnSpc>
                <a:spcPts val="1900"/>
              </a:lnSpc>
              <a:spcAft>
                <a:spcPts val="700"/>
              </a:spcAft>
              <a:buSzPct val="100000"/>
              <a:buChar char="●"/>
            </a:pPr>
            <a:r>
              <a:rPr lang="en-US" sz="1250" dirty="0">
                <a:solidFill>
                  <a:srgbClr val="414042"/>
                </a:solidFill>
                <a:latin typeface="Segoe UI" pitchFamily="34" charset="0"/>
                <a:ea typeface="Segoe UI" pitchFamily="34" charset="-122"/>
                <a:cs typeface="Segoe UI" pitchFamily="34" charset="-120"/>
              </a:rPr>
              <a:t>امنح شارة من صفحة الشارات ثم منح شارة.</a:t>
            </a:r>
            <a:endParaRPr lang="en-US" sz="1250" dirty="0"/>
          </a:p>
          <a:p>
            <a:pPr marL="177800" indent="-177800" algn="r" rtl="1">
              <a:lnSpc>
                <a:spcPts val="1900"/>
              </a:lnSpc>
              <a:spcAft>
                <a:spcPts val="700"/>
              </a:spcAft>
              <a:buSzPct val="100000"/>
              <a:buChar char="●"/>
            </a:pPr>
            <a:r>
              <a:rPr lang="en-US" sz="1250" dirty="0">
                <a:solidFill>
                  <a:srgbClr val="414042"/>
                </a:solidFill>
                <a:latin typeface="Segoe UI" pitchFamily="34" charset="0"/>
                <a:ea typeface="Segoe UI" pitchFamily="34" charset="-122"/>
                <a:cs typeface="Segoe UI" pitchFamily="34" charset="-120"/>
              </a:rPr>
              <a:t>اختر الموظف ونوع الشارة وسبب المنح.</a:t>
            </a:r>
            <a:endParaRPr lang="en-US" sz="1250" dirty="0"/>
          </a:p>
          <a:p>
            <a:pPr marL="177800" indent="-177800" algn="r" rtl="1">
              <a:lnSpc>
                <a:spcPts val="1900"/>
              </a:lnSpc>
              <a:spcAft>
                <a:spcPts val="700"/>
              </a:spcAft>
              <a:buSzPct val="100000"/>
              <a:buChar char="●"/>
            </a:pPr>
            <a:r>
              <a:rPr lang="en-US" sz="1250" dirty="0">
                <a:solidFill>
                  <a:srgbClr val="414042"/>
                </a:solidFill>
                <a:latin typeface="Segoe UI" pitchFamily="34" charset="0"/>
                <a:ea typeface="Segoe UI" pitchFamily="34" charset="-122"/>
                <a:cs typeface="Segoe UI" pitchFamily="34" charset="-120"/>
              </a:rPr>
              <a:t>تظهر الشارة في الملف الشخصي وفي لوحة التحكم.</a:t>
            </a:r>
            <a:endParaRPr lang="en-US" sz="1250" dirty="0"/>
          </a:p>
          <a:p>
            <a:pPr marL="177800" indent="-177800" algn="r" rtl="1">
              <a:lnSpc>
                <a:spcPts val="1900"/>
              </a:lnSpc>
              <a:spcAft>
                <a:spcPts val="700"/>
              </a:spcAft>
              <a:buSzPct val="100000"/>
              <a:buChar char="●"/>
            </a:pPr>
            <a:r>
              <a:rPr lang="en-US" sz="1250" dirty="0">
                <a:solidFill>
                  <a:srgbClr val="414042"/>
                </a:solidFill>
                <a:latin typeface="Segoe UI" pitchFamily="34" charset="0"/>
                <a:ea typeface="Segoe UI" pitchFamily="34" charset="-122"/>
                <a:cs typeface="Segoe UI" pitchFamily="34" charset="-120"/>
              </a:rPr>
              <a:t>وسيلة بسيطة لإبراز الجهد المتميّز أمام الفريق.</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6"/>
        </a:solidFill>
        <a:effectLst/>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t"/>
          <a:lstStyle/>
          <a:p>
            <a:pPr marL="0" indent="0" algn="r" rtl="1">
              <a:buNone/>
            </a:pPr>
            <a:r>
              <a:rPr lang="en-US" sz="1250" b="1" kern="0" spc="100" dirty="0">
                <a:solidFill>
                  <a:srgbClr val="C2151C"/>
                </a:solidFill>
                <a:latin typeface="Segoe UI" pitchFamily="34" charset="0"/>
                <a:ea typeface="Segoe UI" pitchFamily="34" charset="-122"/>
                <a:cs typeface="Segoe UI" pitchFamily="34" charset="-120"/>
              </a:rPr>
              <a:t>الهيكل</a:t>
            </a:r>
            <a:endParaRPr lang="en-US" sz="1250" dirty="0"/>
          </a:p>
        </p:txBody>
      </p:sp>
      <p:sp>
        <p:nvSpPr>
          <p:cNvPr id="3" name="Text 1"/>
          <p:cNvSpPr txBox="1"/>
          <p:nvPr/>
        </p:nvSpPr>
        <p:spPr>
          <a:xfrm>
            <a:off x="566928" y="713232"/>
            <a:ext cx="11057839" cy="658368"/>
          </a:xfrm>
          <a:prstGeom prst="rect">
            <a:avLst/>
          </a:prstGeom>
          <a:noFill/>
          <a:ln/>
        </p:spPr>
        <p:txBody>
          <a:bodyPr wrap="square" lIns="0" tIns="0" rIns="0" bIns="0" rtlCol="0" anchor="t"/>
          <a:lstStyle/>
          <a:p>
            <a:pPr marL="0" indent="0" algn="r" rtl="1">
              <a:buNone/>
            </a:pPr>
            <a:r>
              <a:rPr lang="en-US" sz="3300" b="1" dirty="0">
                <a:solidFill>
                  <a:srgbClr val="2B2A2C"/>
                </a:solidFill>
                <a:latin typeface="Segoe UI" pitchFamily="34" charset="0"/>
                <a:ea typeface="Segoe UI" pitchFamily="34" charset="-122"/>
                <a:cs typeface="Segoe UI" pitchFamily="34" charset="-120"/>
              </a:rPr>
              <a:t>المناصب والهيكل التنظيمي</a:t>
            </a:r>
            <a:endParaRPr lang="en-US" sz="3300" dirty="0"/>
          </a:p>
        </p:txBody>
      </p:sp>
      <p:sp>
        <p:nvSpPr>
          <p:cNvPr id="4" name="Shape 2"/>
          <p:cNvSpPr/>
          <p:nvPr/>
        </p:nvSpPr>
        <p:spPr>
          <a:xfrm>
            <a:off x="6510528" y="1847088"/>
            <a:ext cx="5114239" cy="4261104"/>
          </a:xfrm>
          <a:prstGeom prst="roundRect">
            <a:avLst>
              <a:gd name="adj" fmla="val 2146"/>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5" name="Shape 3"/>
          <p:cNvSpPr/>
          <p:nvPr/>
        </p:nvSpPr>
        <p:spPr>
          <a:xfrm>
            <a:off x="10728655" y="2157984"/>
            <a:ext cx="530352" cy="530352"/>
          </a:xfrm>
          <a:prstGeom prst="ellipse">
            <a:avLst/>
          </a:prstGeom>
          <a:solidFill>
            <a:srgbClr val="C2151C"/>
          </a:solidFill>
          <a:ln w="12700">
            <a:solidFill>
              <a:srgbClr val="C2151C"/>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861243" y="2290572"/>
            <a:ext cx="265176" cy="265176"/>
          </a:xfrm>
          <a:prstGeom prst="rect">
            <a:avLst/>
          </a:prstGeom>
        </p:spPr>
      </p:pic>
      <p:sp>
        <p:nvSpPr>
          <p:cNvPr id="7" name="Text 4"/>
          <p:cNvSpPr txBox="1"/>
          <p:nvPr/>
        </p:nvSpPr>
        <p:spPr>
          <a:xfrm>
            <a:off x="6876288" y="2212848"/>
            <a:ext cx="3651199" cy="365760"/>
          </a:xfrm>
          <a:prstGeom prst="rect">
            <a:avLst/>
          </a:prstGeom>
          <a:noFill/>
          <a:ln/>
        </p:spPr>
        <p:txBody>
          <a:bodyPr wrap="square" lIns="0" tIns="0" rIns="0" bIns="0" rtlCol="0" anchor="t"/>
          <a:lstStyle/>
          <a:p>
            <a:pPr marL="0" indent="0" algn="r" rtl="1">
              <a:buNone/>
            </a:pPr>
            <a:r>
              <a:rPr lang="en-US" sz="1900" b="1" dirty="0">
                <a:solidFill>
                  <a:srgbClr val="2B2A2C"/>
                </a:solidFill>
                <a:latin typeface="Segoe UI" pitchFamily="34" charset="0"/>
                <a:ea typeface="Segoe UI" pitchFamily="34" charset="-122"/>
                <a:cs typeface="Segoe UI" pitchFamily="34" charset="-120"/>
              </a:rPr>
              <a:t>ما الذي يقدّمه القسم</a:t>
            </a:r>
            <a:endParaRPr lang="en-US" sz="1900" dirty="0"/>
          </a:p>
        </p:txBody>
      </p:sp>
      <p:sp>
        <p:nvSpPr>
          <p:cNvPr id="8" name="Text 5"/>
          <p:cNvSpPr txBox="1"/>
          <p:nvPr/>
        </p:nvSpPr>
        <p:spPr>
          <a:xfrm>
            <a:off x="6876288" y="2889504"/>
            <a:ext cx="4382719" cy="3017520"/>
          </a:xfrm>
          <a:prstGeom prst="rect">
            <a:avLst/>
          </a:prstGeom>
          <a:noFill/>
          <a:ln/>
        </p:spPr>
        <p:txBody>
          <a:bodyPr wrap="square" lIns="0" tIns="0" rIns="0" bIns="0" rtlCol="0" anchor="t"/>
          <a:lstStyle/>
          <a:p>
            <a:pPr marL="177800" indent="-177800" algn="r" rtl="1">
              <a:lnSpc>
                <a:spcPts val="2000"/>
              </a:lnSpc>
              <a:spcAft>
                <a:spcPts val="900"/>
              </a:spcAft>
              <a:buSzPct val="100000"/>
              <a:buChar char="●"/>
            </a:pPr>
            <a:r>
              <a:rPr lang="en-US" sz="1300" dirty="0">
                <a:solidFill>
                  <a:srgbClr val="414042"/>
                </a:solidFill>
                <a:latin typeface="Segoe UI" pitchFamily="34" charset="0"/>
                <a:ea typeface="Segoe UI" pitchFamily="34" charset="-122"/>
                <a:cs typeface="Segoe UI" pitchFamily="34" charset="-120"/>
              </a:rPr>
              <a:t>تعريف المسمّى الوظيفي وقسمه ومستواه وعدد شواغره في صفحة المناصب.</a:t>
            </a:r>
            <a:endParaRPr lang="en-US" sz="1300" dirty="0"/>
          </a:p>
          <a:p>
            <a:pPr marL="177800" indent="-177800" algn="r" rtl="1">
              <a:lnSpc>
                <a:spcPts val="2000"/>
              </a:lnSpc>
              <a:spcAft>
                <a:spcPts val="900"/>
              </a:spcAft>
              <a:buSzPct val="100000"/>
              <a:buChar char="●"/>
            </a:pPr>
            <a:r>
              <a:rPr lang="en-US" sz="1300" dirty="0">
                <a:solidFill>
                  <a:srgbClr val="414042"/>
                </a:solidFill>
                <a:latin typeface="Segoe UI" pitchFamily="34" charset="0"/>
                <a:ea typeface="Segoe UI" pitchFamily="34" charset="-122"/>
                <a:cs typeface="Segoe UI" pitchFamily="34" charset="-120"/>
              </a:rPr>
              <a:t>كل منصب مرتبط بمحافظة أو بمركز داخلها، وهذا ما يحدّد من يراه.</a:t>
            </a:r>
            <a:endParaRPr lang="en-US" sz="1300" dirty="0"/>
          </a:p>
          <a:p>
            <a:pPr marL="177800" indent="-177800" algn="r" rtl="1">
              <a:lnSpc>
                <a:spcPts val="2000"/>
              </a:lnSpc>
              <a:spcAft>
                <a:spcPts val="900"/>
              </a:spcAft>
              <a:buSzPct val="100000"/>
              <a:buChar char="●"/>
            </a:pPr>
            <a:r>
              <a:rPr lang="en-US" sz="1300" dirty="0">
                <a:solidFill>
                  <a:srgbClr val="414042"/>
                </a:solidFill>
                <a:latin typeface="Segoe UI" pitchFamily="34" charset="0"/>
                <a:ea typeface="Segoe UI" pitchFamily="34" charset="-122"/>
                <a:cs typeface="Segoe UI" pitchFamily="34" charset="-120"/>
              </a:rPr>
              <a:t>العقود لا تُسند إلا لمنصب ضمن نطاق محافظتك.</a:t>
            </a:r>
            <a:endParaRPr lang="en-US" sz="1300" dirty="0"/>
          </a:p>
          <a:p>
            <a:pPr marL="177800" indent="-177800" algn="r" rtl="1">
              <a:lnSpc>
                <a:spcPts val="2000"/>
              </a:lnSpc>
              <a:spcAft>
                <a:spcPts val="900"/>
              </a:spcAft>
              <a:buSzPct val="100000"/>
              <a:buChar char="●"/>
            </a:pPr>
            <a:r>
              <a:rPr lang="en-US" sz="1300" dirty="0">
                <a:solidFill>
                  <a:srgbClr val="414042"/>
                </a:solidFill>
                <a:latin typeface="Segoe UI" pitchFamily="34" charset="0"/>
                <a:ea typeface="Segoe UI" pitchFamily="34" charset="-122"/>
                <a:cs typeface="Segoe UI" pitchFamily="34" charset="-120"/>
              </a:rPr>
              <a:t>شجرة تفاعلية للمؤسسة يمكن التنقّل فيها من صفحة الهيكل التنظيمي.</a:t>
            </a:r>
            <a:endParaRPr lang="en-US" sz="1300" dirty="0"/>
          </a:p>
          <a:p>
            <a:pPr marL="177800" indent="-177800" algn="r" rtl="1">
              <a:lnSpc>
                <a:spcPts val="2000"/>
              </a:lnSpc>
              <a:spcAft>
                <a:spcPts val="900"/>
              </a:spcAft>
              <a:buSzPct val="100000"/>
              <a:buChar char="●"/>
            </a:pPr>
            <a:r>
              <a:rPr lang="en-US" sz="1300" dirty="0">
                <a:solidFill>
                  <a:srgbClr val="414042"/>
                </a:solidFill>
                <a:latin typeface="Segoe UI" pitchFamily="34" charset="0"/>
                <a:ea typeface="Segoe UI" pitchFamily="34" charset="-122"/>
                <a:cs typeface="Segoe UI" pitchFamily="34" charset="-120"/>
              </a:rPr>
              <a:t>بدّل عرض الشجرة بين خط الإشراف المباشر والخط الفنّي.</a:t>
            </a:r>
            <a:endParaRPr lang="en-US" sz="1300" dirty="0"/>
          </a:p>
          <a:p>
            <a:pPr marL="177800" indent="-177800" algn="r" rtl="1">
              <a:lnSpc>
                <a:spcPts val="2000"/>
              </a:lnSpc>
              <a:spcAft>
                <a:spcPts val="900"/>
              </a:spcAft>
              <a:buSzPct val="100000"/>
              <a:buChar char="●"/>
            </a:pPr>
            <a:r>
              <a:rPr lang="en-US" sz="1300" dirty="0">
                <a:solidFill>
                  <a:srgbClr val="414042"/>
                </a:solidFill>
                <a:latin typeface="Segoe UI" pitchFamily="34" charset="0"/>
                <a:ea typeface="Segoe UI" pitchFamily="34" charset="-122"/>
                <a:cs typeface="Segoe UI" pitchFamily="34" charset="-120"/>
              </a:rPr>
              <a:t>البرامج والمراكز تُعرَّف مرة واحدة وتُربط بها المناصب والعقود.</a:t>
            </a:r>
            <a:endParaRPr lang="en-US" sz="1300" dirty="0"/>
          </a:p>
        </p:txBody>
      </p:sp>
      <p:sp>
        <p:nvSpPr>
          <p:cNvPr id="9" name="Shape 6"/>
          <p:cNvSpPr/>
          <p:nvPr/>
        </p:nvSpPr>
        <p:spPr>
          <a:xfrm>
            <a:off x="566928" y="1847088"/>
            <a:ext cx="5577840" cy="4261104"/>
          </a:xfrm>
          <a:prstGeom prst="roundRect">
            <a:avLst>
              <a:gd name="adj" fmla="val 2146"/>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10" name="Text 7"/>
          <p:cNvSpPr txBox="1"/>
          <p:nvPr/>
        </p:nvSpPr>
        <p:spPr>
          <a:xfrm>
            <a:off x="896112" y="2157984"/>
            <a:ext cx="4919472" cy="310896"/>
          </a:xfrm>
          <a:prstGeom prst="rect">
            <a:avLst/>
          </a:prstGeom>
          <a:noFill/>
          <a:ln/>
        </p:spPr>
        <p:txBody>
          <a:bodyPr wrap="square" lIns="0" tIns="0" rIns="0" bIns="0" rtlCol="0" anchor="t"/>
          <a:lstStyle/>
          <a:p>
            <a:pPr marL="0" indent="0" algn="r" rtl="1">
              <a:buNone/>
            </a:pPr>
            <a:r>
              <a:rPr lang="en-US" sz="1300" b="1" dirty="0">
                <a:solidFill>
                  <a:srgbClr val="939598"/>
                </a:solidFill>
                <a:latin typeface="Segoe UI" pitchFamily="34" charset="0"/>
                <a:ea typeface="Segoe UI" pitchFamily="34" charset="-122"/>
                <a:cs typeface="Segoe UI" pitchFamily="34" charset="-120"/>
              </a:rPr>
              <a:t>مثال توضيحي للشجرة</a:t>
            </a:r>
            <a:endParaRPr lang="en-US" sz="1300" dirty="0"/>
          </a:p>
        </p:txBody>
      </p:sp>
      <p:sp>
        <p:nvSpPr>
          <p:cNvPr id="11" name="Shape 8"/>
          <p:cNvSpPr/>
          <p:nvPr/>
        </p:nvSpPr>
        <p:spPr>
          <a:xfrm>
            <a:off x="2304288" y="2606040"/>
            <a:ext cx="2103120" cy="566928"/>
          </a:xfrm>
          <a:prstGeom prst="roundRect">
            <a:avLst>
              <a:gd name="adj" fmla="val 11290"/>
            </a:avLst>
          </a:prstGeom>
          <a:solidFill>
            <a:srgbClr val="C2151C"/>
          </a:solidFill>
          <a:ln w="12700">
            <a:solidFill>
              <a:srgbClr val="C2151C"/>
            </a:solidFill>
            <a:prstDash val="solid"/>
          </a:ln>
        </p:spPr>
        <p:txBody>
          <a:bodyPr/>
          <a:lstStyle/>
          <a:p>
            <a:endParaRPr lang="en-US"/>
          </a:p>
        </p:txBody>
      </p:sp>
      <p:sp>
        <p:nvSpPr>
          <p:cNvPr id="12" name="Text 9"/>
          <p:cNvSpPr txBox="1"/>
          <p:nvPr/>
        </p:nvSpPr>
        <p:spPr>
          <a:xfrm>
            <a:off x="2304288" y="2606040"/>
            <a:ext cx="2103120" cy="566928"/>
          </a:xfrm>
          <a:prstGeom prst="rect">
            <a:avLst/>
          </a:prstGeom>
          <a:noFill/>
          <a:ln/>
        </p:spPr>
        <p:txBody>
          <a:bodyPr wrap="square" lIns="0" tIns="0" rIns="0" bIns="0" rtlCol="0" anchor="ctr"/>
          <a:lstStyle/>
          <a:p>
            <a:pPr marL="0" indent="0" algn="ctr" rtl="1">
              <a:buNone/>
            </a:pPr>
            <a:r>
              <a:rPr lang="en-US" sz="1350" b="1" dirty="0">
                <a:solidFill>
                  <a:srgbClr val="FFFFFF"/>
                </a:solidFill>
                <a:latin typeface="Segoe UI" pitchFamily="34" charset="0"/>
                <a:ea typeface="Segoe UI" pitchFamily="34" charset="-122"/>
                <a:cs typeface="Segoe UI" pitchFamily="34" charset="-120"/>
              </a:rPr>
              <a:t>الإدارة العامة</a:t>
            </a:r>
            <a:endParaRPr lang="en-US" sz="1350" dirty="0"/>
          </a:p>
        </p:txBody>
      </p:sp>
      <p:sp>
        <p:nvSpPr>
          <p:cNvPr id="13" name="Shape 10"/>
          <p:cNvSpPr/>
          <p:nvPr/>
        </p:nvSpPr>
        <p:spPr>
          <a:xfrm>
            <a:off x="3346704" y="3172968"/>
            <a:ext cx="18288" cy="365760"/>
          </a:xfrm>
          <a:prstGeom prst="rect">
            <a:avLst/>
          </a:prstGeom>
          <a:solidFill>
            <a:srgbClr val="DCDDDE"/>
          </a:solidFill>
          <a:ln w="12700">
            <a:solidFill>
              <a:srgbClr val="DCDDDE"/>
            </a:solidFill>
            <a:prstDash val="solid"/>
          </a:ln>
        </p:spPr>
        <p:txBody>
          <a:bodyPr/>
          <a:lstStyle/>
          <a:p>
            <a:endParaRPr lang="en-US"/>
          </a:p>
        </p:txBody>
      </p:sp>
      <p:sp>
        <p:nvSpPr>
          <p:cNvPr id="14" name="Shape 11"/>
          <p:cNvSpPr/>
          <p:nvPr/>
        </p:nvSpPr>
        <p:spPr>
          <a:xfrm>
            <a:off x="1655064" y="3529584"/>
            <a:ext cx="3401568" cy="18288"/>
          </a:xfrm>
          <a:prstGeom prst="rect">
            <a:avLst/>
          </a:prstGeom>
          <a:solidFill>
            <a:srgbClr val="DCDDDE"/>
          </a:solidFill>
          <a:ln w="12700">
            <a:solidFill>
              <a:srgbClr val="DCDDDE"/>
            </a:solidFill>
            <a:prstDash val="solid"/>
          </a:ln>
        </p:spPr>
        <p:txBody>
          <a:bodyPr/>
          <a:lstStyle/>
          <a:p>
            <a:endParaRPr lang="en-US"/>
          </a:p>
        </p:txBody>
      </p:sp>
      <p:sp>
        <p:nvSpPr>
          <p:cNvPr id="15" name="Shape 12"/>
          <p:cNvSpPr/>
          <p:nvPr/>
        </p:nvSpPr>
        <p:spPr>
          <a:xfrm>
            <a:off x="5047488" y="3529584"/>
            <a:ext cx="18288" cy="274320"/>
          </a:xfrm>
          <a:prstGeom prst="rect">
            <a:avLst/>
          </a:prstGeom>
          <a:solidFill>
            <a:srgbClr val="DCDDDE"/>
          </a:solidFill>
          <a:ln w="12700">
            <a:solidFill>
              <a:srgbClr val="DCDDDE"/>
            </a:solidFill>
            <a:prstDash val="solid"/>
          </a:ln>
        </p:spPr>
        <p:txBody>
          <a:bodyPr/>
          <a:lstStyle/>
          <a:p>
            <a:endParaRPr lang="en-US"/>
          </a:p>
        </p:txBody>
      </p:sp>
      <p:sp>
        <p:nvSpPr>
          <p:cNvPr id="16" name="Shape 13"/>
          <p:cNvSpPr/>
          <p:nvPr/>
        </p:nvSpPr>
        <p:spPr>
          <a:xfrm>
            <a:off x="4297680" y="3803904"/>
            <a:ext cx="1517904" cy="530352"/>
          </a:xfrm>
          <a:prstGeom prst="roundRect">
            <a:avLst>
              <a:gd name="adj" fmla="val 10345"/>
            </a:avLst>
          </a:prstGeom>
          <a:solidFill>
            <a:srgbClr val="FFFFFF"/>
          </a:solidFill>
          <a:ln w="12700">
            <a:solidFill>
              <a:srgbClr val="414042"/>
            </a:solidFill>
            <a:prstDash val="solid"/>
          </a:ln>
        </p:spPr>
        <p:txBody>
          <a:bodyPr/>
          <a:lstStyle/>
          <a:p>
            <a:endParaRPr lang="en-US"/>
          </a:p>
        </p:txBody>
      </p:sp>
      <p:sp>
        <p:nvSpPr>
          <p:cNvPr id="17" name="Text 14"/>
          <p:cNvSpPr txBox="1"/>
          <p:nvPr/>
        </p:nvSpPr>
        <p:spPr>
          <a:xfrm>
            <a:off x="4297680" y="3803904"/>
            <a:ext cx="1517904" cy="530352"/>
          </a:xfrm>
          <a:prstGeom prst="rect">
            <a:avLst/>
          </a:prstGeom>
          <a:noFill/>
          <a:ln/>
        </p:spPr>
        <p:txBody>
          <a:bodyPr wrap="square" lIns="0" tIns="0" rIns="0" bIns="0" rtlCol="0" anchor="ctr"/>
          <a:lstStyle/>
          <a:p>
            <a:pPr marL="0" indent="0" algn="ctr" rtl="1">
              <a:buNone/>
            </a:pPr>
            <a:r>
              <a:rPr lang="en-US" sz="1150" b="1" dirty="0">
                <a:solidFill>
                  <a:srgbClr val="2B2A2C"/>
                </a:solidFill>
                <a:latin typeface="Segoe UI" pitchFamily="34" charset="0"/>
                <a:ea typeface="Segoe UI" pitchFamily="34" charset="-122"/>
                <a:cs typeface="Segoe UI" pitchFamily="34" charset="-120"/>
              </a:rPr>
              <a:t>الموارد البشرية</a:t>
            </a:r>
            <a:endParaRPr lang="en-US" sz="1150" dirty="0"/>
          </a:p>
        </p:txBody>
      </p:sp>
      <p:sp>
        <p:nvSpPr>
          <p:cNvPr id="18" name="Shape 15"/>
          <p:cNvSpPr/>
          <p:nvPr/>
        </p:nvSpPr>
        <p:spPr>
          <a:xfrm>
            <a:off x="3346704" y="3529584"/>
            <a:ext cx="18288" cy="274320"/>
          </a:xfrm>
          <a:prstGeom prst="rect">
            <a:avLst/>
          </a:prstGeom>
          <a:solidFill>
            <a:srgbClr val="DCDDDE"/>
          </a:solidFill>
          <a:ln w="12700">
            <a:solidFill>
              <a:srgbClr val="DCDDDE"/>
            </a:solidFill>
            <a:prstDash val="solid"/>
          </a:ln>
        </p:spPr>
        <p:txBody>
          <a:bodyPr/>
          <a:lstStyle/>
          <a:p>
            <a:endParaRPr lang="en-US"/>
          </a:p>
        </p:txBody>
      </p:sp>
      <p:sp>
        <p:nvSpPr>
          <p:cNvPr id="19" name="Shape 16"/>
          <p:cNvSpPr/>
          <p:nvPr/>
        </p:nvSpPr>
        <p:spPr>
          <a:xfrm>
            <a:off x="2596896" y="3803904"/>
            <a:ext cx="1517904" cy="530352"/>
          </a:xfrm>
          <a:prstGeom prst="roundRect">
            <a:avLst>
              <a:gd name="adj" fmla="val 10345"/>
            </a:avLst>
          </a:prstGeom>
          <a:solidFill>
            <a:srgbClr val="FFFFFF"/>
          </a:solidFill>
          <a:ln w="12700">
            <a:solidFill>
              <a:srgbClr val="414042"/>
            </a:solidFill>
            <a:prstDash val="solid"/>
          </a:ln>
        </p:spPr>
        <p:txBody>
          <a:bodyPr/>
          <a:lstStyle/>
          <a:p>
            <a:endParaRPr lang="en-US"/>
          </a:p>
        </p:txBody>
      </p:sp>
      <p:sp>
        <p:nvSpPr>
          <p:cNvPr id="20" name="Text 17"/>
          <p:cNvSpPr txBox="1"/>
          <p:nvPr/>
        </p:nvSpPr>
        <p:spPr>
          <a:xfrm>
            <a:off x="2596896" y="3803904"/>
            <a:ext cx="1517904" cy="530352"/>
          </a:xfrm>
          <a:prstGeom prst="rect">
            <a:avLst/>
          </a:prstGeom>
          <a:noFill/>
          <a:ln/>
        </p:spPr>
        <p:txBody>
          <a:bodyPr wrap="square" lIns="0" tIns="0" rIns="0" bIns="0" rtlCol="0" anchor="ctr"/>
          <a:lstStyle/>
          <a:p>
            <a:pPr marL="0" indent="0" algn="ctr" rtl="1">
              <a:buNone/>
            </a:pPr>
            <a:r>
              <a:rPr lang="en-US" sz="1150" b="1" dirty="0">
                <a:solidFill>
                  <a:srgbClr val="2B2A2C"/>
                </a:solidFill>
                <a:latin typeface="Segoe UI" pitchFamily="34" charset="0"/>
                <a:ea typeface="Segoe UI" pitchFamily="34" charset="-122"/>
                <a:cs typeface="Segoe UI" pitchFamily="34" charset="-120"/>
              </a:rPr>
              <a:t>البرامج</a:t>
            </a:r>
            <a:endParaRPr lang="en-US" sz="1150" dirty="0"/>
          </a:p>
        </p:txBody>
      </p:sp>
      <p:sp>
        <p:nvSpPr>
          <p:cNvPr id="21" name="Shape 18"/>
          <p:cNvSpPr/>
          <p:nvPr/>
        </p:nvSpPr>
        <p:spPr>
          <a:xfrm>
            <a:off x="1645920" y="3529584"/>
            <a:ext cx="18288" cy="274320"/>
          </a:xfrm>
          <a:prstGeom prst="rect">
            <a:avLst/>
          </a:prstGeom>
          <a:solidFill>
            <a:srgbClr val="DCDDDE"/>
          </a:solidFill>
          <a:ln w="12700">
            <a:solidFill>
              <a:srgbClr val="DCDDDE"/>
            </a:solidFill>
            <a:prstDash val="solid"/>
          </a:ln>
        </p:spPr>
        <p:txBody>
          <a:bodyPr/>
          <a:lstStyle/>
          <a:p>
            <a:endParaRPr lang="en-US"/>
          </a:p>
        </p:txBody>
      </p:sp>
      <p:sp>
        <p:nvSpPr>
          <p:cNvPr id="22" name="Shape 19"/>
          <p:cNvSpPr/>
          <p:nvPr/>
        </p:nvSpPr>
        <p:spPr>
          <a:xfrm>
            <a:off x="896112" y="3803904"/>
            <a:ext cx="1517904" cy="530352"/>
          </a:xfrm>
          <a:prstGeom prst="roundRect">
            <a:avLst>
              <a:gd name="adj" fmla="val 10345"/>
            </a:avLst>
          </a:prstGeom>
          <a:solidFill>
            <a:srgbClr val="FFFFFF"/>
          </a:solidFill>
          <a:ln w="12700">
            <a:solidFill>
              <a:srgbClr val="414042"/>
            </a:solidFill>
            <a:prstDash val="solid"/>
          </a:ln>
        </p:spPr>
        <p:txBody>
          <a:bodyPr/>
          <a:lstStyle/>
          <a:p>
            <a:endParaRPr lang="en-US"/>
          </a:p>
        </p:txBody>
      </p:sp>
      <p:sp>
        <p:nvSpPr>
          <p:cNvPr id="23" name="Text 20"/>
          <p:cNvSpPr txBox="1"/>
          <p:nvPr/>
        </p:nvSpPr>
        <p:spPr>
          <a:xfrm>
            <a:off x="896112" y="3803904"/>
            <a:ext cx="1517904" cy="530352"/>
          </a:xfrm>
          <a:prstGeom prst="rect">
            <a:avLst/>
          </a:prstGeom>
          <a:noFill/>
          <a:ln/>
        </p:spPr>
        <p:txBody>
          <a:bodyPr wrap="square" lIns="0" tIns="0" rIns="0" bIns="0" rtlCol="0" anchor="ctr"/>
          <a:lstStyle/>
          <a:p>
            <a:pPr marL="0" indent="0" algn="ctr" rtl="1">
              <a:buNone/>
            </a:pPr>
            <a:r>
              <a:rPr lang="en-US" sz="1150" b="1" dirty="0">
                <a:solidFill>
                  <a:srgbClr val="2B2A2C"/>
                </a:solidFill>
                <a:latin typeface="Segoe UI" pitchFamily="34" charset="0"/>
                <a:ea typeface="Segoe UI" pitchFamily="34" charset="-122"/>
                <a:cs typeface="Segoe UI" pitchFamily="34" charset="-120"/>
              </a:rPr>
              <a:t>المالية</a:t>
            </a:r>
            <a:endParaRPr lang="en-US" sz="1150" dirty="0"/>
          </a:p>
        </p:txBody>
      </p:sp>
      <p:sp>
        <p:nvSpPr>
          <p:cNvPr id="24" name="Text 21"/>
          <p:cNvSpPr txBox="1"/>
          <p:nvPr/>
        </p:nvSpPr>
        <p:spPr>
          <a:xfrm>
            <a:off x="896112" y="4846320"/>
            <a:ext cx="4919472" cy="731520"/>
          </a:xfrm>
          <a:prstGeom prst="rect">
            <a:avLst/>
          </a:prstGeom>
          <a:noFill/>
          <a:ln/>
        </p:spPr>
        <p:txBody>
          <a:bodyPr wrap="square" lIns="0" tIns="0" rIns="0" bIns="0" rtlCol="0" anchor="t"/>
          <a:lstStyle/>
          <a:p>
            <a:pPr marL="0" indent="0" algn="ctr" rtl="1">
              <a:lnSpc>
                <a:spcPts val="1800"/>
              </a:lnSpc>
              <a:buNone/>
            </a:pPr>
            <a:r>
              <a:rPr lang="en-US" sz="1200" dirty="0">
                <a:solidFill>
                  <a:srgbClr val="6D6E71"/>
                </a:solidFill>
                <a:latin typeface="Segoe UI" pitchFamily="34" charset="0"/>
                <a:ea typeface="Segoe UI" pitchFamily="34" charset="-122"/>
                <a:cs typeface="Segoe UI" pitchFamily="34" charset="-120"/>
              </a:rPr>
              <a:t>الشجرة الحقيقية تُبنى من المناصب المعرّفة في النظام، وتتحدّث تلقائياً مع كل عقد جديد.</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6"/>
        </a:solidFill>
        <a:effectLst/>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t"/>
          <a:lstStyle/>
          <a:p>
            <a:pPr marL="0" indent="0" algn="r" rtl="1">
              <a:buNone/>
            </a:pPr>
            <a:r>
              <a:rPr lang="en-US" sz="1250" b="1" kern="0" spc="100" dirty="0">
                <a:solidFill>
                  <a:srgbClr val="C2151C"/>
                </a:solidFill>
                <a:latin typeface="Segoe UI" pitchFamily="34" charset="0"/>
                <a:ea typeface="Segoe UI" pitchFamily="34" charset="-122"/>
                <a:cs typeface="Segoe UI" pitchFamily="34" charset="-120"/>
              </a:rPr>
              <a:t>التقارير</a:t>
            </a:r>
            <a:endParaRPr lang="en-US" sz="1250" dirty="0"/>
          </a:p>
        </p:txBody>
      </p:sp>
      <p:sp>
        <p:nvSpPr>
          <p:cNvPr id="3" name="Text 1"/>
          <p:cNvSpPr txBox="1"/>
          <p:nvPr/>
        </p:nvSpPr>
        <p:spPr>
          <a:xfrm>
            <a:off x="566928" y="713232"/>
            <a:ext cx="11057839" cy="658368"/>
          </a:xfrm>
          <a:prstGeom prst="rect">
            <a:avLst/>
          </a:prstGeom>
          <a:noFill/>
          <a:ln/>
        </p:spPr>
        <p:txBody>
          <a:bodyPr wrap="square" lIns="0" tIns="0" rIns="0" bIns="0" rtlCol="0" anchor="t"/>
          <a:lstStyle/>
          <a:p>
            <a:pPr marL="0" indent="0" algn="r" rtl="1">
              <a:buNone/>
            </a:pPr>
            <a:r>
              <a:rPr lang="en-US" sz="3300" b="1" dirty="0">
                <a:solidFill>
                  <a:srgbClr val="2B2A2C"/>
                </a:solidFill>
                <a:latin typeface="Segoe UI" pitchFamily="34" charset="0"/>
                <a:ea typeface="Segoe UI" pitchFamily="34" charset="-122"/>
                <a:cs typeface="Segoe UI" pitchFamily="34" charset="-120"/>
              </a:rPr>
              <a:t>الإحصائيات والتصدير</a:t>
            </a:r>
            <a:endParaRPr lang="en-US" sz="3300" dirty="0"/>
          </a:p>
        </p:txBody>
      </p:sp>
      <p:sp>
        <p:nvSpPr>
          <p:cNvPr id="4" name="Shape 2"/>
          <p:cNvSpPr/>
          <p:nvPr/>
        </p:nvSpPr>
        <p:spPr>
          <a:xfrm>
            <a:off x="5315407" y="1847088"/>
            <a:ext cx="6309360" cy="4261104"/>
          </a:xfrm>
          <a:prstGeom prst="roundRect">
            <a:avLst>
              <a:gd name="adj" fmla="val 2146"/>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graphicFrame>
        <p:nvGraphicFramePr>
          <p:cNvPr id="5" name="Chart 0"/>
          <p:cNvGraphicFramePr/>
          <p:nvPr/>
        </p:nvGraphicFramePr>
        <p:xfrm>
          <a:off x="5516575" y="2688336"/>
          <a:ext cx="5907024" cy="3072384"/>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644591" y="2176272"/>
            <a:ext cx="5650992" cy="347472"/>
          </a:xfrm>
          <a:prstGeom prst="rect">
            <a:avLst/>
          </a:prstGeom>
          <a:noFill/>
          <a:ln/>
        </p:spPr>
        <p:txBody>
          <a:bodyPr wrap="square" lIns="0" tIns="0" rIns="0" bIns="0" rtlCol="0" anchor="t"/>
          <a:lstStyle/>
          <a:p>
            <a:pPr marL="0" indent="0" algn="r" rtl="1">
              <a:buNone/>
            </a:pPr>
            <a:r>
              <a:rPr lang="en-US" sz="1500" b="1" dirty="0">
                <a:solidFill>
                  <a:srgbClr val="2B2A2C"/>
                </a:solidFill>
                <a:latin typeface="Segoe UI" pitchFamily="34" charset="0"/>
                <a:ea typeface="Segoe UI" pitchFamily="34" charset="-122"/>
                <a:cs typeface="Segoe UI" pitchFamily="34" charset="-120"/>
              </a:rPr>
              <a:t>مثال توضيحي لتوزيع الموظفين حسب القسم</a:t>
            </a:r>
            <a:endParaRPr lang="en-US" sz="1500" dirty="0"/>
          </a:p>
        </p:txBody>
      </p:sp>
      <p:sp>
        <p:nvSpPr>
          <p:cNvPr id="7" name="Shape 4"/>
          <p:cNvSpPr/>
          <p:nvPr/>
        </p:nvSpPr>
        <p:spPr>
          <a:xfrm>
            <a:off x="566928" y="1847088"/>
            <a:ext cx="4382719" cy="4261104"/>
          </a:xfrm>
          <a:prstGeom prst="roundRect">
            <a:avLst>
              <a:gd name="adj" fmla="val 2146"/>
            </a:avLst>
          </a:prstGeom>
          <a:solidFill>
            <a:srgbClr val="2B2A2C"/>
          </a:solidFill>
          <a:ln w="12700">
            <a:solidFill>
              <a:srgbClr val="2B2A2C"/>
            </a:solidFill>
            <a:prstDash val="solid"/>
          </a:ln>
          <a:effectLst>
            <a:outerShdw blurRad="177800" dist="38100" dir="5400000" algn="bl" rotWithShape="0">
              <a:srgbClr val="000000">
                <a:alpha val="14000"/>
              </a:srgbClr>
            </a:outerShdw>
          </a:effectLst>
        </p:spPr>
        <p:txBody>
          <a:bodyPr/>
          <a:lstStyle/>
          <a:p>
            <a:endParaRPr lang="en-US"/>
          </a:p>
        </p:txBody>
      </p:sp>
      <p:sp>
        <p:nvSpPr>
          <p:cNvPr id="8" name="Text 5"/>
          <p:cNvSpPr txBox="1"/>
          <p:nvPr/>
        </p:nvSpPr>
        <p:spPr>
          <a:xfrm>
            <a:off x="914400" y="2212848"/>
            <a:ext cx="3687775" cy="347472"/>
          </a:xfrm>
          <a:prstGeom prst="rect">
            <a:avLst/>
          </a:prstGeom>
          <a:noFill/>
          <a:ln/>
        </p:spPr>
        <p:txBody>
          <a:bodyPr wrap="square" lIns="0" tIns="0" rIns="0" bIns="0" rtlCol="0" anchor="t"/>
          <a:lstStyle/>
          <a:p>
            <a:pPr marL="0" indent="0" algn="r" rtl="1">
              <a:buNone/>
            </a:pPr>
            <a:r>
              <a:rPr lang="en-US" sz="1800" b="1" dirty="0">
                <a:solidFill>
                  <a:srgbClr val="FFFFFF"/>
                </a:solidFill>
                <a:latin typeface="Segoe UI" pitchFamily="34" charset="0"/>
                <a:ea typeface="Segoe UI" pitchFamily="34" charset="-122"/>
                <a:cs typeface="Segoe UI" pitchFamily="34" charset="-120"/>
              </a:rPr>
              <a:t>ما هو متاح</a:t>
            </a:r>
            <a:endParaRPr lang="en-US" sz="1800" dirty="0"/>
          </a:p>
        </p:txBody>
      </p:sp>
      <p:sp>
        <p:nvSpPr>
          <p:cNvPr id="9" name="Shape 6"/>
          <p:cNvSpPr/>
          <p:nvPr/>
        </p:nvSpPr>
        <p:spPr>
          <a:xfrm>
            <a:off x="4181551" y="2852928"/>
            <a:ext cx="420624" cy="420624"/>
          </a:xfrm>
          <a:prstGeom prst="ellipse">
            <a:avLst/>
          </a:prstGeom>
          <a:solidFill>
            <a:srgbClr val="C2151C"/>
          </a:solidFill>
          <a:ln w="12700">
            <a:solidFill>
              <a:srgbClr val="C2151C"/>
            </a:solidFill>
            <a:prstDash val="solid"/>
          </a:ln>
        </p:spPr>
        <p:txBody>
          <a:bodyPr/>
          <a:lstStyle/>
          <a:p>
            <a:endParaRPr lang="en-US"/>
          </a:p>
        </p:txBody>
      </p:sp>
      <p:pic>
        <p:nvPicPr>
          <p:cNvPr id="10" name="Image 0" descr="preencoded.png"/>
          <p:cNvPicPr>
            <a:picLocks noChangeAspect="1"/>
          </p:cNvPicPr>
          <p:nvPr/>
        </p:nvPicPr>
        <p:blipFill>
          <a:blip r:embed="rId4"/>
          <a:stretch>
            <a:fillRect/>
          </a:stretch>
        </p:blipFill>
        <p:spPr>
          <a:xfrm>
            <a:off x="4286707" y="2958084"/>
            <a:ext cx="210312" cy="210312"/>
          </a:xfrm>
          <a:prstGeom prst="rect">
            <a:avLst/>
          </a:prstGeom>
        </p:spPr>
      </p:pic>
      <p:sp>
        <p:nvSpPr>
          <p:cNvPr id="11" name="Text 7"/>
          <p:cNvSpPr txBox="1"/>
          <p:nvPr/>
        </p:nvSpPr>
        <p:spPr>
          <a:xfrm>
            <a:off x="914400" y="2852928"/>
            <a:ext cx="3193999" cy="274320"/>
          </a:xfrm>
          <a:prstGeom prst="rect">
            <a:avLst/>
          </a:prstGeom>
          <a:noFill/>
          <a:ln/>
        </p:spPr>
        <p:txBody>
          <a:bodyPr wrap="square" lIns="0" tIns="0" rIns="0" bIns="0" rtlCol="0" anchor="t"/>
          <a:lstStyle/>
          <a:p>
            <a:pPr marL="0" indent="0" algn="r" rtl="1">
              <a:buNone/>
            </a:pPr>
            <a:r>
              <a:rPr lang="en-US" sz="1350" b="1" dirty="0">
                <a:solidFill>
                  <a:srgbClr val="FFFFFF"/>
                </a:solidFill>
                <a:latin typeface="Segoe UI" pitchFamily="34" charset="0"/>
                <a:ea typeface="Segoe UI" pitchFamily="34" charset="-122"/>
                <a:cs typeface="Segoe UI" pitchFamily="34" charset="-120"/>
              </a:rPr>
              <a:t>إحصائيات الموظفين</a:t>
            </a:r>
            <a:endParaRPr lang="en-US" sz="1350" dirty="0"/>
          </a:p>
        </p:txBody>
      </p:sp>
      <p:sp>
        <p:nvSpPr>
          <p:cNvPr id="12" name="Text 8"/>
          <p:cNvSpPr txBox="1"/>
          <p:nvPr/>
        </p:nvSpPr>
        <p:spPr>
          <a:xfrm>
            <a:off x="914400" y="3127248"/>
            <a:ext cx="3193999" cy="493776"/>
          </a:xfrm>
          <a:prstGeom prst="rect">
            <a:avLst/>
          </a:prstGeom>
          <a:noFill/>
          <a:ln/>
        </p:spPr>
        <p:txBody>
          <a:bodyPr wrap="square" lIns="0" tIns="0" rIns="0" bIns="0" rtlCol="0" anchor="t"/>
          <a:lstStyle/>
          <a:p>
            <a:pPr marL="0" indent="0" algn="r" rtl="1">
              <a:lnSpc>
                <a:spcPts val="1600"/>
              </a:lnSpc>
              <a:buNone/>
            </a:pPr>
            <a:r>
              <a:rPr lang="en-US" sz="1150" dirty="0">
                <a:solidFill>
                  <a:srgbClr val="DCDDDE"/>
                </a:solidFill>
                <a:latin typeface="Segoe UI" pitchFamily="34" charset="0"/>
                <a:ea typeface="Segoe UI" pitchFamily="34" charset="-122"/>
                <a:cs typeface="Segoe UI" pitchFamily="34" charset="-120"/>
              </a:rPr>
              <a:t>العدد النشط، والتوزيع حسب القسم والمستوى الوظيفي.</a:t>
            </a:r>
            <a:endParaRPr lang="en-US" sz="1150" dirty="0"/>
          </a:p>
        </p:txBody>
      </p:sp>
      <p:sp>
        <p:nvSpPr>
          <p:cNvPr id="13" name="Shape 9"/>
          <p:cNvSpPr/>
          <p:nvPr/>
        </p:nvSpPr>
        <p:spPr>
          <a:xfrm>
            <a:off x="4181551" y="3694176"/>
            <a:ext cx="420624" cy="420624"/>
          </a:xfrm>
          <a:prstGeom prst="ellipse">
            <a:avLst/>
          </a:prstGeom>
          <a:solidFill>
            <a:srgbClr val="C2151C"/>
          </a:solidFill>
          <a:ln w="12700">
            <a:solidFill>
              <a:srgbClr val="C2151C"/>
            </a:solidFill>
            <a:prstDash val="solid"/>
          </a:ln>
        </p:spPr>
        <p:txBody>
          <a:bodyPr/>
          <a:lstStyle/>
          <a:p>
            <a:endParaRPr lang="en-US"/>
          </a:p>
        </p:txBody>
      </p:sp>
      <p:pic>
        <p:nvPicPr>
          <p:cNvPr id="14" name="Image 1" descr="preencoded.png"/>
          <p:cNvPicPr>
            <a:picLocks noChangeAspect="1"/>
          </p:cNvPicPr>
          <p:nvPr/>
        </p:nvPicPr>
        <p:blipFill>
          <a:blip r:embed="rId5"/>
          <a:stretch>
            <a:fillRect/>
          </a:stretch>
        </p:blipFill>
        <p:spPr>
          <a:xfrm>
            <a:off x="4286707" y="3799332"/>
            <a:ext cx="210312" cy="210312"/>
          </a:xfrm>
          <a:prstGeom prst="rect">
            <a:avLst/>
          </a:prstGeom>
        </p:spPr>
      </p:pic>
      <p:sp>
        <p:nvSpPr>
          <p:cNvPr id="15" name="Text 10"/>
          <p:cNvSpPr txBox="1"/>
          <p:nvPr/>
        </p:nvSpPr>
        <p:spPr>
          <a:xfrm>
            <a:off x="914400" y="3694176"/>
            <a:ext cx="3193999" cy="274320"/>
          </a:xfrm>
          <a:prstGeom prst="rect">
            <a:avLst/>
          </a:prstGeom>
          <a:noFill/>
          <a:ln/>
        </p:spPr>
        <p:txBody>
          <a:bodyPr wrap="square" lIns="0" tIns="0" rIns="0" bIns="0" rtlCol="0" anchor="t"/>
          <a:lstStyle/>
          <a:p>
            <a:pPr marL="0" indent="0" algn="r" rtl="1">
              <a:buNone/>
            </a:pPr>
            <a:r>
              <a:rPr lang="en-US" sz="1350" b="1" dirty="0">
                <a:solidFill>
                  <a:srgbClr val="FFFFFF"/>
                </a:solidFill>
                <a:latin typeface="Segoe UI" pitchFamily="34" charset="0"/>
                <a:ea typeface="Segoe UI" pitchFamily="34" charset="-122"/>
                <a:cs typeface="Segoe UI" pitchFamily="34" charset="-120"/>
              </a:rPr>
              <a:t>إحصائيات العقود</a:t>
            </a:r>
            <a:endParaRPr lang="en-US" sz="1350" dirty="0"/>
          </a:p>
        </p:txBody>
      </p:sp>
      <p:sp>
        <p:nvSpPr>
          <p:cNvPr id="16" name="Text 11"/>
          <p:cNvSpPr txBox="1"/>
          <p:nvPr/>
        </p:nvSpPr>
        <p:spPr>
          <a:xfrm>
            <a:off x="914400" y="3968496"/>
            <a:ext cx="3193999" cy="493776"/>
          </a:xfrm>
          <a:prstGeom prst="rect">
            <a:avLst/>
          </a:prstGeom>
          <a:noFill/>
          <a:ln/>
        </p:spPr>
        <p:txBody>
          <a:bodyPr wrap="square" lIns="0" tIns="0" rIns="0" bIns="0" rtlCol="0" anchor="t"/>
          <a:lstStyle/>
          <a:p>
            <a:pPr marL="0" indent="0" algn="r" rtl="1">
              <a:lnSpc>
                <a:spcPts val="1600"/>
              </a:lnSpc>
              <a:buNone/>
            </a:pPr>
            <a:r>
              <a:rPr lang="en-US" sz="1150" dirty="0">
                <a:solidFill>
                  <a:srgbClr val="DCDDDE"/>
                </a:solidFill>
                <a:latin typeface="Segoe UI" pitchFamily="34" charset="0"/>
                <a:ea typeface="Segoe UI" pitchFamily="34" charset="-122"/>
                <a:cs typeface="Segoe UI" pitchFamily="34" charset="-120"/>
              </a:rPr>
              <a:t>التوزيع حسب النوع والحالة والبرنامج والمحافظة.</a:t>
            </a:r>
            <a:endParaRPr lang="en-US" sz="1150" dirty="0"/>
          </a:p>
        </p:txBody>
      </p:sp>
      <p:sp>
        <p:nvSpPr>
          <p:cNvPr id="17" name="Shape 12"/>
          <p:cNvSpPr/>
          <p:nvPr/>
        </p:nvSpPr>
        <p:spPr>
          <a:xfrm>
            <a:off x="4181551" y="4535424"/>
            <a:ext cx="420624" cy="420624"/>
          </a:xfrm>
          <a:prstGeom prst="ellipse">
            <a:avLst/>
          </a:prstGeom>
          <a:solidFill>
            <a:srgbClr val="C2151C"/>
          </a:solidFill>
          <a:ln w="12700">
            <a:solidFill>
              <a:srgbClr val="C2151C"/>
            </a:solidFill>
            <a:prstDash val="solid"/>
          </a:ln>
        </p:spPr>
        <p:txBody>
          <a:bodyPr/>
          <a:lstStyle/>
          <a:p>
            <a:endParaRPr lang="en-US"/>
          </a:p>
        </p:txBody>
      </p:sp>
      <p:pic>
        <p:nvPicPr>
          <p:cNvPr id="18" name="Image 2" descr="preencoded.png"/>
          <p:cNvPicPr>
            <a:picLocks noChangeAspect="1"/>
          </p:cNvPicPr>
          <p:nvPr/>
        </p:nvPicPr>
        <p:blipFill>
          <a:blip r:embed="rId6"/>
          <a:stretch>
            <a:fillRect/>
          </a:stretch>
        </p:blipFill>
        <p:spPr>
          <a:xfrm>
            <a:off x="4286707" y="4640580"/>
            <a:ext cx="210312" cy="210312"/>
          </a:xfrm>
          <a:prstGeom prst="rect">
            <a:avLst/>
          </a:prstGeom>
        </p:spPr>
      </p:pic>
      <p:sp>
        <p:nvSpPr>
          <p:cNvPr id="19" name="Text 13"/>
          <p:cNvSpPr txBox="1"/>
          <p:nvPr/>
        </p:nvSpPr>
        <p:spPr>
          <a:xfrm>
            <a:off x="914400" y="4535424"/>
            <a:ext cx="3193999" cy="274320"/>
          </a:xfrm>
          <a:prstGeom prst="rect">
            <a:avLst/>
          </a:prstGeom>
          <a:noFill/>
          <a:ln/>
        </p:spPr>
        <p:txBody>
          <a:bodyPr wrap="square" lIns="0" tIns="0" rIns="0" bIns="0" rtlCol="0" anchor="t"/>
          <a:lstStyle/>
          <a:p>
            <a:pPr marL="0" indent="0" algn="r" rtl="1">
              <a:buNone/>
            </a:pPr>
            <a:r>
              <a:rPr lang="en-US" sz="1350" b="1" dirty="0">
                <a:solidFill>
                  <a:srgbClr val="FFFFFF"/>
                </a:solidFill>
                <a:latin typeface="Segoe UI" pitchFamily="34" charset="0"/>
                <a:ea typeface="Segoe UI" pitchFamily="34" charset="-122"/>
                <a:cs typeface="Segoe UI" pitchFamily="34" charset="-120"/>
              </a:rPr>
              <a:t>تصدير فوري</a:t>
            </a:r>
            <a:endParaRPr lang="en-US" sz="1350" dirty="0"/>
          </a:p>
        </p:txBody>
      </p:sp>
      <p:sp>
        <p:nvSpPr>
          <p:cNvPr id="20" name="Text 14"/>
          <p:cNvSpPr txBox="1"/>
          <p:nvPr/>
        </p:nvSpPr>
        <p:spPr>
          <a:xfrm>
            <a:off x="914400" y="4809744"/>
            <a:ext cx="3193999" cy="493776"/>
          </a:xfrm>
          <a:prstGeom prst="rect">
            <a:avLst/>
          </a:prstGeom>
          <a:noFill/>
          <a:ln/>
        </p:spPr>
        <p:txBody>
          <a:bodyPr wrap="square" lIns="0" tIns="0" rIns="0" bIns="0" rtlCol="0" anchor="t"/>
          <a:lstStyle/>
          <a:p>
            <a:pPr marL="0" indent="0" algn="r" rtl="1">
              <a:lnSpc>
                <a:spcPts val="1600"/>
              </a:lnSpc>
              <a:buNone/>
            </a:pPr>
            <a:r>
              <a:rPr lang="en-US" sz="1150" dirty="0">
                <a:solidFill>
                  <a:srgbClr val="DCDDDE"/>
                </a:solidFill>
                <a:latin typeface="Segoe UI" pitchFamily="34" charset="0"/>
                <a:ea typeface="Segoe UI" pitchFamily="34" charset="-122"/>
                <a:cs typeface="Segoe UI" pitchFamily="34" charset="-120"/>
              </a:rPr>
              <a:t>من داخل الصفحة مباشرة بصيغ Excel / PDF / CSV / PNG</a:t>
            </a:r>
            <a:endParaRPr lang="en-US" sz="1150" dirty="0"/>
          </a:p>
        </p:txBody>
      </p:sp>
      <p:sp>
        <p:nvSpPr>
          <p:cNvPr id="21" name="Shape 15"/>
          <p:cNvSpPr/>
          <p:nvPr/>
        </p:nvSpPr>
        <p:spPr>
          <a:xfrm>
            <a:off x="4181551" y="5376672"/>
            <a:ext cx="420624" cy="420624"/>
          </a:xfrm>
          <a:prstGeom prst="ellipse">
            <a:avLst/>
          </a:prstGeom>
          <a:solidFill>
            <a:srgbClr val="C2151C"/>
          </a:solidFill>
          <a:ln w="12700">
            <a:solidFill>
              <a:srgbClr val="C2151C"/>
            </a:solidFill>
            <a:prstDash val="solid"/>
          </a:ln>
        </p:spPr>
        <p:txBody>
          <a:bodyPr/>
          <a:lstStyle/>
          <a:p>
            <a:endParaRPr lang="en-US"/>
          </a:p>
        </p:txBody>
      </p:sp>
      <p:pic>
        <p:nvPicPr>
          <p:cNvPr id="22" name="Image 3" descr="preencoded.png"/>
          <p:cNvPicPr>
            <a:picLocks noChangeAspect="1"/>
          </p:cNvPicPr>
          <p:nvPr/>
        </p:nvPicPr>
        <p:blipFill>
          <a:blip r:embed="rId7"/>
          <a:stretch>
            <a:fillRect/>
          </a:stretch>
        </p:blipFill>
        <p:spPr>
          <a:xfrm>
            <a:off x="4286707" y="5481828"/>
            <a:ext cx="210312" cy="210312"/>
          </a:xfrm>
          <a:prstGeom prst="rect">
            <a:avLst/>
          </a:prstGeom>
        </p:spPr>
      </p:pic>
      <p:sp>
        <p:nvSpPr>
          <p:cNvPr id="23" name="Text 16"/>
          <p:cNvSpPr txBox="1"/>
          <p:nvPr/>
        </p:nvSpPr>
        <p:spPr>
          <a:xfrm>
            <a:off x="914400" y="5376672"/>
            <a:ext cx="3193999" cy="274320"/>
          </a:xfrm>
          <a:prstGeom prst="rect">
            <a:avLst/>
          </a:prstGeom>
          <a:noFill/>
          <a:ln/>
        </p:spPr>
        <p:txBody>
          <a:bodyPr wrap="square" lIns="0" tIns="0" rIns="0" bIns="0" rtlCol="0" anchor="t"/>
          <a:lstStyle/>
          <a:p>
            <a:pPr marL="0" indent="0" algn="r" rtl="1">
              <a:buNone/>
            </a:pPr>
            <a:r>
              <a:rPr lang="en-US" sz="1350" b="1" dirty="0">
                <a:solidFill>
                  <a:srgbClr val="FFFFFF"/>
                </a:solidFill>
                <a:latin typeface="Segoe UI" pitchFamily="34" charset="0"/>
                <a:ea typeface="Segoe UI" pitchFamily="34" charset="-122"/>
                <a:cs typeface="Segoe UI" pitchFamily="34" charset="-120"/>
              </a:rPr>
              <a:t>الإشعارات</a:t>
            </a:r>
            <a:endParaRPr lang="en-US" sz="1350" dirty="0"/>
          </a:p>
        </p:txBody>
      </p:sp>
      <p:sp>
        <p:nvSpPr>
          <p:cNvPr id="24" name="Text 17"/>
          <p:cNvSpPr txBox="1"/>
          <p:nvPr/>
        </p:nvSpPr>
        <p:spPr>
          <a:xfrm>
            <a:off x="914400" y="5650992"/>
            <a:ext cx="3193999" cy="493776"/>
          </a:xfrm>
          <a:prstGeom prst="rect">
            <a:avLst/>
          </a:prstGeom>
          <a:noFill/>
          <a:ln/>
        </p:spPr>
        <p:txBody>
          <a:bodyPr wrap="square" lIns="0" tIns="0" rIns="0" bIns="0" rtlCol="0" anchor="t"/>
          <a:lstStyle/>
          <a:p>
            <a:pPr marL="0" indent="0" algn="r" rtl="1">
              <a:lnSpc>
                <a:spcPts val="1600"/>
              </a:lnSpc>
              <a:buNone/>
            </a:pPr>
            <a:r>
              <a:rPr lang="en-US" sz="1150" dirty="0">
                <a:solidFill>
                  <a:srgbClr val="DCDDDE"/>
                </a:solidFill>
                <a:latin typeface="Segoe UI" pitchFamily="34" charset="0"/>
                <a:ea typeface="Segoe UI" pitchFamily="34" charset="-122"/>
                <a:cs typeface="Segoe UI" pitchFamily="34" charset="-120"/>
              </a:rPr>
              <a:t>تنبيهات بالطلبات والعقود المقتربة من الانتهاء.</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6"/>
        </a:solidFill>
        <a:effectLst/>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t"/>
          <a:lstStyle/>
          <a:p>
            <a:pPr marL="0" indent="0" algn="r" rtl="1">
              <a:buNone/>
            </a:pPr>
            <a:r>
              <a:rPr lang="en-US" sz="1250" b="1" kern="0" spc="100" dirty="0">
                <a:solidFill>
                  <a:srgbClr val="C2151C"/>
                </a:solidFill>
                <a:latin typeface="Segoe UI" pitchFamily="34" charset="0"/>
                <a:ea typeface="Segoe UI" pitchFamily="34" charset="-122"/>
                <a:cs typeface="Segoe UI" pitchFamily="34" charset="-120"/>
              </a:rPr>
              <a:t>الحوكمة</a:t>
            </a:r>
            <a:endParaRPr lang="en-US" sz="1250" dirty="0"/>
          </a:p>
        </p:txBody>
      </p:sp>
      <p:sp>
        <p:nvSpPr>
          <p:cNvPr id="3" name="Text 1"/>
          <p:cNvSpPr txBox="1"/>
          <p:nvPr/>
        </p:nvSpPr>
        <p:spPr>
          <a:xfrm>
            <a:off x="566928" y="713232"/>
            <a:ext cx="11057839" cy="658368"/>
          </a:xfrm>
          <a:prstGeom prst="rect">
            <a:avLst/>
          </a:prstGeom>
          <a:noFill/>
          <a:ln/>
        </p:spPr>
        <p:txBody>
          <a:bodyPr wrap="square" lIns="0" tIns="0" rIns="0" bIns="0" rtlCol="0" anchor="t"/>
          <a:lstStyle/>
          <a:p>
            <a:pPr marL="0" indent="0" algn="r" rtl="1">
              <a:buNone/>
            </a:pPr>
            <a:r>
              <a:rPr lang="en-US" sz="3300" b="1" dirty="0">
                <a:solidFill>
                  <a:srgbClr val="2B2A2C"/>
                </a:solidFill>
                <a:latin typeface="Segoe UI" pitchFamily="34" charset="0"/>
                <a:ea typeface="Segoe UI" pitchFamily="34" charset="-122"/>
                <a:cs typeface="Segoe UI" pitchFamily="34" charset="-120"/>
              </a:rPr>
              <a:t>المساءلة والتحكّم بالوصول</a:t>
            </a:r>
            <a:endParaRPr lang="en-US" sz="3300" dirty="0"/>
          </a:p>
        </p:txBody>
      </p:sp>
      <p:sp>
        <p:nvSpPr>
          <p:cNvPr id="4" name="Shape 2"/>
          <p:cNvSpPr/>
          <p:nvPr/>
        </p:nvSpPr>
        <p:spPr>
          <a:xfrm>
            <a:off x="6278728" y="1847088"/>
            <a:ext cx="5346040" cy="3054096"/>
          </a:xfrm>
          <a:prstGeom prst="roundRect">
            <a:avLst>
              <a:gd name="adj" fmla="val 2994"/>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5" name="Shape 3"/>
          <p:cNvSpPr/>
          <p:nvPr/>
        </p:nvSpPr>
        <p:spPr>
          <a:xfrm>
            <a:off x="10710367" y="2157984"/>
            <a:ext cx="548640" cy="548640"/>
          </a:xfrm>
          <a:prstGeom prst="ellipse">
            <a:avLst/>
          </a:prstGeom>
          <a:solidFill>
            <a:srgbClr val="C2151C"/>
          </a:solidFill>
          <a:ln w="12700">
            <a:solidFill>
              <a:srgbClr val="C2151C"/>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847527" y="2295144"/>
            <a:ext cx="274320" cy="274320"/>
          </a:xfrm>
          <a:prstGeom prst="rect">
            <a:avLst/>
          </a:prstGeom>
        </p:spPr>
      </p:pic>
      <p:sp>
        <p:nvSpPr>
          <p:cNvPr id="7" name="Text 4"/>
          <p:cNvSpPr txBox="1"/>
          <p:nvPr/>
        </p:nvSpPr>
        <p:spPr>
          <a:xfrm>
            <a:off x="6644488" y="2231136"/>
            <a:ext cx="3883000" cy="365760"/>
          </a:xfrm>
          <a:prstGeom prst="rect">
            <a:avLst/>
          </a:prstGeom>
          <a:noFill/>
          <a:ln/>
        </p:spPr>
        <p:txBody>
          <a:bodyPr wrap="square" lIns="0" tIns="0" rIns="0" bIns="0" rtlCol="0" anchor="t"/>
          <a:lstStyle/>
          <a:p>
            <a:pPr marL="0" indent="0" algn="r" rtl="1">
              <a:buNone/>
            </a:pPr>
            <a:r>
              <a:rPr lang="en-US" sz="2000" b="1" dirty="0">
                <a:solidFill>
                  <a:srgbClr val="2B2A2C"/>
                </a:solidFill>
                <a:latin typeface="Segoe UI" pitchFamily="34" charset="0"/>
                <a:ea typeface="Segoe UI" pitchFamily="34" charset="-122"/>
                <a:cs typeface="Segoe UI" pitchFamily="34" charset="-120"/>
              </a:rPr>
              <a:t>سجلّ الأنشطة</a:t>
            </a:r>
            <a:endParaRPr lang="en-US" sz="2000" dirty="0"/>
          </a:p>
        </p:txBody>
      </p:sp>
      <p:sp>
        <p:nvSpPr>
          <p:cNvPr id="8" name="Text 5"/>
          <p:cNvSpPr txBox="1"/>
          <p:nvPr/>
        </p:nvSpPr>
        <p:spPr>
          <a:xfrm>
            <a:off x="6644488" y="2889504"/>
            <a:ext cx="4614520" cy="1828800"/>
          </a:xfrm>
          <a:prstGeom prst="rect">
            <a:avLst/>
          </a:prstGeom>
          <a:noFill/>
          <a:ln/>
        </p:spPr>
        <p:txBody>
          <a:bodyPr wrap="square" lIns="0" tIns="0" rIns="0" bIns="0" rtlCol="0" anchor="t"/>
          <a:lstStyle/>
          <a:p>
            <a:pPr marL="177800" indent="-177800" algn="r" rtl="1">
              <a:lnSpc>
                <a:spcPts val="2000"/>
              </a:lnSpc>
              <a:spcAft>
                <a:spcPts val="800"/>
              </a:spcAft>
              <a:buSzPct val="100000"/>
              <a:buChar char="●"/>
            </a:pPr>
            <a:r>
              <a:rPr lang="en-US" sz="1300" dirty="0">
                <a:solidFill>
                  <a:srgbClr val="414042"/>
                </a:solidFill>
                <a:latin typeface="Segoe UI" pitchFamily="34" charset="0"/>
                <a:ea typeface="Segoe UI" pitchFamily="34" charset="-122"/>
                <a:cs typeface="Segoe UI" pitchFamily="34" charset="-120"/>
              </a:rPr>
              <a:t>يسجّل النظام تلقائياً كل إضافة وتعديل وحذف.</a:t>
            </a:r>
            <a:endParaRPr lang="en-US" sz="1300" dirty="0"/>
          </a:p>
          <a:p>
            <a:pPr marL="177800" indent="-177800" algn="r" rtl="1">
              <a:lnSpc>
                <a:spcPts val="2000"/>
              </a:lnSpc>
              <a:spcAft>
                <a:spcPts val="800"/>
              </a:spcAft>
              <a:buSzPct val="100000"/>
              <a:buChar char="●"/>
            </a:pPr>
            <a:r>
              <a:rPr lang="en-US" sz="1300" dirty="0">
                <a:solidFill>
                  <a:srgbClr val="414042"/>
                </a:solidFill>
                <a:latin typeface="Segoe UI" pitchFamily="34" charset="0"/>
                <a:ea typeface="Segoe UI" pitchFamily="34" charset="-122"/>
                <a:cs typeface="Segoe UI" pitchFamily="34" charset="-120"/>
              </a:rPr>
              <a:t>كل سطر يبيّن المستخدم والعملية والوقت والقيمة قبل وبعد.</a:t>
            </a:r>
            <a:endParaRPr lang="en-US" sz="1300" dirty="0"/>
          </a:p>
          <a:p>
            <a:pPr marL="177800" indent="-177800" algn="r" rtl="1">
              <a:lnSpc>
                <a:spcPts val="2000"/>
              </a:lnSpc>
              <a:spcAft>
                <a:spcPts val="800"/>
              </a:spcAft>
              <a:buSzPct val="100000"/>
              <a:buChar char="●"/>
            </a:pPr>
            <a:r>
              <a:rPr lang="en-US" sz="1300" dirty="0">
                <a:solidFill>
                  <a:srgbClr val="414042"/>
                </a:solidFill>
                <a:latin typeface="Segoe UI" pitchFamily="34" charset="0"/>
                <a:ea typeface="Segoe UI" pitchFamily="34" charset="-122"/>
                <a:cs typeface="Segoe UI" pitchFamily="34" charset="-120"/>
              </a:rPr>
              <a:t>فلترة حسب المستخدم أو نوع العملية أو الفترة الزمنية.</a:t>
            </a:r>
            <a:endParaRPr lang="en-US" sz="1300" dirty="0"/>
          </a:p>
          <a:p>
            <a:pPr marL="177800" indent="-177800" algn="r" rtl="1">
              <a:lnSpc>
                <a:spcPts val="2000"/>
              </a:lnSpc>
              <a:spcAft>
                <a:spcPts val="800"/>
              </a:spcAft>
              <a:buSzPct val="100000"/>
              <a:buChar char="●"/>
            </a:pPr>
            <a:r>
              <a:rPr lang="en-US" sz="1300" dirty="0">
                <a:solidFill>
                  <a:srgbClr val="414042"/>
                </a:solidFill>
                <a:latin typeface="Segoe UI" pitchFamily="34" charset="0"/>
                <a:ea typeface="Segoe UI" pitchFamily="34" charset="-122"/>
                <a:cs typeface="Segoe UI" pitchFamily="34" charset="-120"/>
              </a:rPr>
              <a:t>مرجع حاسم عند أي خلاف على بيانات موظف أو عقد.</a:t>
            </a:r>
            <a:endParaRPr lang="en-US" sz="1300" dirty="0"/>
          </a:p>
        </p:txBody>
      </p:sp>
      <p:sp>
        <p:nvSpPr>
          <p:cNvPr id="9" name="Shape 6"/>
          <p:cNvSpPr/>
          <p:nvPr/>
        </p:nvSpPr>
        <p:spPr>
          <a:xfrm>
            <a:off x="566928" y="1847088"/>
            <a:ext cx="5346040" cy="3054096"/>
          </a:xfrm>
          <a:prstGeom prst="roundRect">
            <a:avLst>
              <a:gd name="adj" fmla="val 2994"/>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10" name="Shape 7"/>
          <p:cNvSpPr/>
          <p:nvPr/>
        </p:nvSpPr>
        <p:spPr>
          <a:xfrm>
            <a:off x="4998568" y="2157984"/>
            <a:ext cx="548640" cy="548640"/>
          </a:xfrm>
          <a:prstGeom prst="ellipse">
            <a:avLst/>
          </a:prstGeom>
          <a:solidFill>
            <a:srgbClr val="C2151C"/>
          </a:solidFill>
          <a:ln w="12700">
            <a:solidFill>
              <a:srgbClr val="C2151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5135728" y="2295144"/>
            <a:ext cx="274320" cy="274320"/>
          </a:xfrm>
          <a:prstGeom prst="rect">
            <a:avLst/>
          </a:prstGeom>
        </p:spPr>
      </p:pic>
      <p:sp>
        <p:nvSpPr>
          <p:cNvPr id="12" name="Text 8"/>
          <p:cNvSpPr txBox="1"/>
          <p:nvPr/>
        </p:nvSpPr>
        <p:spPr>
          <a:xfrm>
            <a:off x="932688" y="2231136"/>
            <a:ext cx="3883000" cy="365760"/>
          </a:xfrm>
          <a:prstGeom prst="rect">
            <a:avLst/>
          </a:prstGeom>
          <a:noFill/>
          <a:ln/>
        </p:spPr>
        <p:txBody>
          <a:bodyPr wrap="square" lIns="0" tIns="0" rIns="0" bIns="0" rtlCol="0" anchor="t"/>
          <a:lstStyle/>
          <a:p>
            <a:pPr marL="0" indent="0" algn="r" rtl="1">
              <a:buNone/>
            </a:pPr>
            <a:r>
              <a:rPr lang="en-US" sz="2000" b="1" dirty="0">
                <a:solidFill>
                  <a:srgbClr val="2B2A2C"/>
                </a:solidFill>
                <a:latin typeface="Segoe UI" pitchFamily="34" charset="0"/>
                <a:ea typeface="Segoe UI" pitchFamily="34" charset="-122"/>
                <a:cs typeface="Segoe UI" pitchFamily="34" charset="-120"/>
              </a:rPr>
              <a:t>إدارة الأدوار والصلاحيات</a:t>
            </a:r>
            <a:endParaRPr lang="en-US" sz="2000" dirty="0"/>
          </a:p>
        </p:txBody>
      </p:sp>
      <p:sp>
        <p:nvSpPr>
          <p:cNvPr id="13" name="Text 9"/>
          <p:cNvSpPr txBox="1"/>
          <p:nvPr/>
        </p:nvSpPr>
        <p:spPr>
          <a:xfrm>
            <a:off x="932688" y="2889504"/>
            <a:ext cx="4614520" cy="1828800"/>
          </a:xfrm>
          <a:prstGeom prst="rect">
            <a:avLst/>
          </a:prstGeom>
          <a:noFill/>
          <a:ln/>
        </p:spPr>
        <p:txBody>
          <a:bodyPr wrap="square" lIns="0" tIns="0" rIns="0" bIns="0" rtlCol="0" anchor="t"/>
          <a:lstStyle/>
          <a:p>
            <a:pPr marL="177800" indent="-177800" algn="r" rtl="1">
              <a:lnSpc>
                <a:spcPts val="2000"/>
              </a:lnSpc>
              <a:spcAft>
                <a:spcPts val="800"/>
              </a:spcAft>
              <a:buSzPct val="100000"/>
              <a:buChar char="●"/>
            </a:pPr>
            <a:r>
              <a:rPr lang="en-US" sz="1300" dirty="0">
                <a:solidFill>
                  <a:srgbClr val="414042"/>
                </a:solidFill>
                <a:latin typeface="Segoe UI" pitchFamily="34" charset="0"/>
                <a:ea typeface="Segoe UI" pitchFamily="34" charset="-122"/>
                <a:cs typeface="Segoe UI" pitchFamily="34" charset="-120"/>
              </a:rPr>
              <a:t>اختر موظفاً لمراجعة أدواره وصلاحياته المباشرة.</a:t>
            </a:r>
            <a:endParaRPr lang="en-US" sz="1300" dirty="0"/>
          </a:p>
          <a:p>
            <a:pPr marL="177800" indent="-177800" algn="r" rtl="1">
              <a:lnSpc>
                <a:spcPts val="2000"/>
              </a:lnSpc>
              <a:spcAft>
                <a:spcPts val="800"/>
              </a:spcAft>
              <a:buSzPct val="100000"/>
              <a:buChar char="●"/>
            </a:pPr>
            <a:r>
              <a:rPr lang="en-US" sz="1300" dirty="0">
                <a:solidFill>
                  <a:srgbClr val="414042"/>
                </a:solidFill>
                <a:latin typeface="Segoe UI" pitchFamily="34" charset="0"/>
                <a:ea typeface="Segoe UI" pitchFamily="34" charset="-122"/>
                <a:cs typeface="Segoe UI" pitchFamily="34" charset="-120"/>
              </a:rPr>
              <a:t>حدّد دوره النشط، وامنحه صلاحيات إضافية عند الحاجة.</a:t>
            </a:r>
            <a:endParaRPr lang="en-US" sz="1300" dirty="0"/>
          </a:p>
          <a:p>
            <a:pPr marL="177800" indent="-177800" algn="r" rtl="1">
              <a:lnSpc>
                <a:spcPts val="2000"/>
              </a:lnSpc>
              <a:spcAft>
                <a:spcPts val="800"/>
              </a:spcAft>
              <a:buSzPct val="100000"/>
              <a:buChar char="●"/>
            </a:pPr>
            <a:r>
              <a:rPr lang="en-US" sz="1300" dirty="0">
                <a:solidFill>
                  <a:srgbClr val="414042"/>
                </a:solidFill>
                <a:latin typeface="Segoe UI" pitchFamily="34" charset="0"/>
                <a:ea typeface="Segoe UI" pitchFamily="34" charset="-122"/>
                <a:cs typeface="Segoe UI" pitchFamily="34" charset="-120"/>
              </a:rPr>
              <a:t>أنشئ أدواراً مخصّصة إلى جانب أدوار النظام المحمية.</a:t>
            </a:r>
            <a:endParaRPr lang="en-US" sz="1300" dirty="0"/>
          </a:p>
          <a:p>
            <a:pPr marL="177800" indent="-177800" algn="r" rtl="1">
              <a:lnSpc>
                <a:spcPts val="2000"/>
              </a:lnSpc>
              <a:spcAft>
                <a:spcPts val="800"/>
              </a:spcAft>
              <a:buSzPct val="100000"/>
              <a:buChar char="●"/>
            </a:pPr>
            <a:r>
              <a:rPr lang="en-US" sz="1300" dirty="0">
                <a:solidFill>
                  <a:srgbClr val="414042"/>
                </a:solidFill>
                <a:latin typeface="Segoe UI" pitchFamily="34" charset="0"/>
                <a:ea typeface="Segoe UI" pitchFamily="34" charset="-122"/>
                <a:cs typeface="Segoe UI" pitchFamily="34" charset="-120"/>
              </a:rPr>
              <a:t>الحماية مدمجة، فلا يمكن منح صلاحية لا تملكها أنت.</a:t>
            </a:r>
            <a:endParaRPr lang="en-US" sz="1300" dirty="0"/>
          </a:p>
        </p:txBody>
      </p:sp>
      <p:sp>
        <p:nvSpPr>
          <p:cNvPr id="14" name="Shape 10"/>
          <p:cNvSpPr/>
          <p:nvPr/>
        </p:nvSpPr>
        <p:spPr>
          <a:xfrm>
            <a:off x="566928" y="5193792"/>
            <a:ext cx="11057839" cy="1225296"/>
          </a:xfrm>
          <a:prstGeom prst="roundRect">
            <a:avLst>
              <a:gd name="adj" fmla="val 6716"/>
            </a:avLst>
          </a:prstGeom>
          <a:solidFill>
            <a:srgbClr val="2B2A2C"/>
          </a:solidFill>
          <a:ln w="12700">
            <a:solidFill>
              <a:srgbClr val="2B2A2C"/>
            </a:solidFill>
            <a:prstDash val="solid"/>
          </a:ln>
        </p:spPr>
        <p:txBody>
          <a:bodyPr/>
          <a:lstStyle/>
          <a:p>
            <a:endParaRPr lang="en-US"/>
          </a:p>
        </p:txBody>
      </p:sp>
      <p:sp>
        <p:nvSpPr>
          <p:cNvPr id="15" name="Shape 11"/>
          <p:cNvSpPr/>
          <p:nvPr/>
        </p:nvSpPr>
        <p:spPr>
          <a:xfrm>
            <a:off x="10692079" y="5532120"/>
            <a:ext cx="548640" cy="548640"/>
          </a:xfrm>
          <a:prstGeom prst="ellipse">
            <a:avLst/>
          </a:prstGeom>
          <a:solidFill>
            <a:srgbClr val="C2151C"/>
          </a:solidFill>
          <a:ln w="12700">
            <a:solidFill>
              <a:srgbClr val="C2151C"/>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10829239" y="5669280"/>
            <a:ext cx="274320" cy="274320"/>
          </a:xfrm>
          <a:prstGeom prst="rect">
            <a:avLst/>
          </a:prstGeom>
        </p:spPr>
      </p:pic>
      <p:sp>
        <p:nvSpPr>
          <p:cNvPr id="17" name="Text 12"/>
          <p:cNvSpPr txBox="1"/>
          <p:nvPr/>
        </p:nvSpPr>
        <p:spPr>
          <a:xfrm>
            <a:off x="950976" y="5468112"/>
            <a:ext cx="9457639" cy="310896"/>
          </a:xfrm>
          <a:prstGeom prst="rect">
            <a:avLst/>
          </a:prstGeom>
          <a:noFill/>
          <a:ln/>
        </p:spPr>
        <p:txBody>
          <a:bodyPr wrap="square" lIns="0" tIns="0" rIns="0" bIns="0" rtlCol="0" anchor="t"/>
          <a:lstStyle/>
          <a:p>
            <a:pPr marL="0" indent="0" algn="r" rtl="1">
              <a:buNone/>
            </a:pPr>
            <a:r>
              <a:rPr lang="en-US" sz="1600" b="1" dirty="0">
                <a:solidFill>
                  <a:srgbClr val="FFFFFF"/>
                </a:solidFill>
                <a:latin typeface="Segoe UI" pitchFamily="34" charset="0"/>
                <a:ea typeface="Segoe UI" pitchFamily="34" charset="-122"/>
                <a:cs typeface="Segoe UI" pitchFamily="34" charset="-120"/>
              </a:rPr>
              <a:t>الخلاصة</a:t>
            </a:r>
            <a:endParaRPr lang="en-US" sz="1600" dirty="0"/>
          </a:p>
        </p:txBody>
      </p:sp>
      <p:sp>
        <p:nvSpPr>
          <p:cNvPr id="18" name="Text 13"/>
          <p:cNvSpPr txBox="1"/>
          <p:nvPr/>
        </p:nvSpPr>
        <p:spPr>
          <a:xfrm>
            <a:off x="950976" y="5815584"/>
            <a:ext cx="9457639" cy="475488"/>
          </a:xfrm>
          <a:prstGeom prst="rect">
            <a:avLst/>
          </a:prstGeom>
          <a:noFill/>
          <a:ln/>
        </p:spPr>
        <p:txBody>
          <a:bodyPr wrap="square" lIns="0" tIns="0" rIns="0" bIns="0" rtlCol="0" anchor="t"/>
          <a:lstStyle/>
          <a:p>
            <a:pPr marL="0" indent="0" algn="r" rtl="1">
              <a:lnSpc>
                <a:spcPts val="1900"/>
              </a:lnSpc>
              <a:buNone/>
            </a:pPr>
            <a:r>
              <a:rPr lang="en-US" sz="1300" dirty="0">
                <a:solidFill>
                  <a:srgbClr val="DCDDDE"/>
                </a:solidFill>
                <a:latin typeface="Segoe UI" pitchFamily="34" charset="0"/>
                <a:ea typeface="Segoe UI" pitchFamily="34" charset="-122"/>
                <a:cs typeface="Segoe UI" pitchFamily="34" charset="-120"/>
              </a:rPr>
              <a:t>النظام لا يكتفي بتخزين البيانات؛ فهو يحدّد من يصل إليها، ويحتفظ بأثر كل تغيير. هذا ما يجعل ملفات الموارد البشرية قابلة للتدقيق ومحمية في آن واحد.</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6"/>
        </a:solidFill>
        <a:effectLst/>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t"/>
          <a:lstStyle/>
          <a:p>
            <a:pPr marL="0" indent="0" algn="r" rtl="1">
              <a:buNone/>
            </a:pPr>
            <a:r>
              <a:rPr lang="en-US" sz="1250" b="1" kern="0" spc="100" dirty="0">
                <a:solidFill>
                  <a:srgbClr val="C2151C"/>
                </a:solidFill>
                <a:latin typeface="Segoe UI" pitchFamily="34" charset="0"/>
                <a:ea typeface="Segoe UI" pitchFamily="34" charset="-122"/>
                <a:cs typeface="Segoe UI" pitchFamily="34" charset="-120"/>
              </a:rPr>
              <a:t>تفاصيل تصنع فرقاً</a:t>
            </a:r>
            <a:endParaRPr lang="en-US" sz="1250" dirty="0"/>
          </a:p>
        </p:txBody>
      </p:sp>
      <p:sp>
        <p:nvSpPr>
          <p:cNvPr id="3" name="Text 1"/>
          <p:cNvSpPr txBox="1"/>
          <p:nvPr/>
        </p:nvSpPr>
        <p:spPr>
          <a:xfrm>
            <a:off x="566928" y="713232"/>
            <a:ext cx="11057839" cy="658368"/>
          </a:xfrm>
          <a:prstGeom prst="rect">
            <a:avLst/>
          </a:prstGeom>
          <a:noFill/>
          <a:ln/>
        </p:spPr>
        <p:txBody>
          <a:bodyPr wrap="square" lIns="0" tIns="0" rIns="0" bIns="0" rtlCol="0" anchor="t"/>
          <a:lstStyle/>
          <a:p>
            <a:pPr marL="0" indent="0" algn="r" rtl="1">
              <a:buNone/>
            </a:pPr>
            <a:r>
              <a:rPr lang="en-US" sz="3300" b="1" dirty="0">
                <a:solidFill>
                  <a:srgbClr val="2B2A2C"/>
                </a:solidFill>
                <a:latin typeface="Segoe UI" pitchFamily="34" charset="0"/>
                <a:ea typeface="Segoe UI" pitchFamily="34" charset="-122"/>
                <a:cs typeface="Segoe UI" pitchFamily="34" charset="-120"/>
              </a:rPr>
              <a:t>مزايا إضافية في الاستخدام اليومي</a:t>
            </a:r>
            <a:endParaRPr lang="en-US" sz="3300" dirty="0"/>
          </a:p>
        </p:txBody>
      </p:sp>
      <p:sp>
        <p:nvSpPr>
          <p:cNvPr id="4" name="Shape 2"/>
          <p:cNvSpPr/>
          <p:nvPr/>
        </p:nvSpPr>
        <p:spPr>
          <a:xfrm>
            <a:off x="9038615" y="1883664"/>
            <a:ext cx="2586152" cy="2286000"/>
          </a:xfrm>
          <a:prstGeom prst="roundRect">
            <a:avLst>
              <a:gd name="adj" fmla="val 4000"/>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5" name="Shape 3"/>
          <p:cNvSpPr/>
          <p:nvPr/>
        </p:nvSpPr>
        <p:spPr>
          <a:xfrm>
            <a:off x="10765231" y="2176272"/>
            <a:ext cx="585216" cy="585216"/>
          </a:xfrm>
          <a:prstGeom prst="ellipse">
            <a:avLst/>
          </a:prstGeom>
          <a:solidFill>
            <a:srgbClr val="C2151C"/>
          </a:solidFill>
          <a:ln w="12700">
            <a:solidFill>
              <a:srgbClr val="C2151C"/>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911535" y="2322576"/>
            <a:ext cx="292608" cy="292608"/>
          </a:xfrm>
          <a:prstGeom prst="rect">
            <a:avLst/>
          </a:prstGeom>
        </p:spPr>
      </p:pic>
      <p:sp>
        <p:nvSpPr>
          <p:cNvPr id="7" name="Text 4"/>
          <p:cNvSpPr txBox="1"/>
          <p:nvPr/>
        </p:nvSpPr>
        <p:spPr>
          <a:xfrm>
            <a:off x="9312935" y="2907792"/>
            <a:ext cx="2037512" cy="512064"/>
          </a:xfrm>
          <a:prstGeom prst="rect">
            <a:avLst/>
          </a:prstGeom>
          <a:noFill/>
          <a:ln/>
        </p:spPr>
        <p:txBody>
          <a:bodyPr wrap="square" lIns="0" tIns="0" rIns="0" bIns="0" rtlCol="0" anchor="t"/>
          <a:lstStyle/>
          <a:p>
            <a:pPr marL="0" indent="0" algn="r" rtl="1">
              <a:lnSpc>
                <a:spcPts val="1900"/>
              </a:lnSpc>
              <a:buNone/>
            </a:pPr>
            <a:r>
              <a:rPr lang="en-US" sz="1450" b="1" dirty="0">
                <a:solidFill>
                  <a:srgbClr val="2B2A2C"/>
                </a:solidFill>
                <a:latin typeface="Segoe UI" pitchFamily="34" charset="0"/>
                <a:ea typeface="Segoe UI" pitchFamily="34" charset="-122"/>
                <a:cs typeface="Segoe UI" pitchFamily="34" charset="-120"/>
              </a:rPr>
              <a:t>بطاقة الهوية الرقمية</a:t>
            </a:r>
            <a:endParaRPr lang="en-US" sz="1450" dirty="0"/>
          </a:p>
        </p:txBody>
      </p:sp>
      <p:sp>
        <p:nvSpPr>
          <p:cNvPr id="8" name="Text 5"/>
          <p:cNvSpPr txBox="1"/>
          <p:nvPr/>
        </p:nvSpPr>
        <p:spPr>
          <a:xfrm>
            <a:off x="9312935" y="3474720"/>
            <a:ext cx="2037512" cy="585216"/>
          </a:xfrm>
          <a:prstGeom prst="rect">
            <a:avLst/>
          </a:prstGeom>
          <a:noFill/>
          <a:ln/>
        </p:spPr>
        <p:txBody>
          <a:bodyPr wrap="square" lIns="0" tIns="0" rIns="0" bIns="0" rtlCol="0" anchor="t"/>
          <a:lstStyle/>
          <a:p>
            <a:pPr marL="0" indent="0" algn="r" rtl="1">
              <a:lnSpc>
                <a:spcPts val="1600"/>
              </a:lnSpc>
              <a:buNone/>
            </a:pPr>
            <a:r>
              <a:rPr lang="en-US" sz="1150" dirty="0">
                <a:solidFill>
                  <a:srgbClr val="6D6E71"/>
                </a:solidFill>
                <a:latin typeface="Segoe UI" pitchFamily="34" charset="0"/>
                <a:ea typeface="Segoe UI" pitchFamily="34" charset="-122"/>
                <a:cs typeface="Segoe UI" pitchFamily="34" charset="-120"/>
              </a:rPr>
              <a:t>رابط آمن يعرض بطاقة الموظف، صالح للاستخدام الميداني وقابل للتعطيل فوراً.</a:t>
            </a:r>
            <a:endParaRPr lang="en-US" sz="1150" dirty="0"/>
          </a:p>
        </p:txBody>
      </p:sp>
      <p:sp>
        <p:nvSpPr>
          <p:cNvPr id="9" name="Shape 6"/>
          <p:cNvSpPr/>
          <p:nvPr/>
        </p:nvSpPr>
        <p:spPr>
          <a:xfrm>
            <a:off x="6214720" y="1883664"/>
            <a:ext cx="2586152" cy="2286000"/>
          </a:xfrm>
          <a:prstGeom prst="roundRect">
            <a:avLst>
              <a:gd name="adj" fmla="val 4000"/>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10" name="Shape 7"/>
          <p:cNvSpPr/>
          <p:nvPr/>
        </p:nvSpPr>
        <p:spPr>
          <a:xfrm>
            <a:off x="7941335" y="2176272"/>
            <a:ext cx="585216" cy="585216"/>
          </a:xfrm>
          <a:prstGeom prst="ellipse">
            <a:avLst/>
          </a:prstGeom>
          <a:solidFill>
            <a:srgbClr val="C2151C"/>
          </a:solidFill>
          <a:ln w="12700">
            <a:solidFill>
              <a:srgbClr val="C2151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087639" y="2322576"/>
            <a:ext cx="292608" cy="292608"/>
          </a:xfrm>
          <a:prstGeom prst="rect">
            <a:avLst/>
          </a:prstGeom>
        </p:spPr>
      </p:pic>
      <p:sp>
        <p:nvSpPr>
          <p:cNvPr id="12" name="Text 8"/>
          <p:cNvSpPr txBox="1"/>
          <p:nvPr/>
        </p:nvSpPr>
        <p:spPr>
          <a:xfrm>
            <a:off x="6489040" y="2907792"/>
            <a:ext cx="2037512" cy="512064"/>
          </a:xfrm>
          <a:prstGeom prst="rect">
            <a:avLst/>
          </a:prstGeom>
          <a:noFill/>
          <a:ln/>
        </p:spPr>
        <p:txBody>
          <a:bodyPr wrap="square" lIns="0" tIns="0" rIns="0" bIns="0" rtlCol="0" anchor="t"/>
          <a:lstStyle/>
          <a:p>
            <a:pPr marL="0" indent="0" algn="r" rtl="1">
              <a:lnSpc>
                <a:spcPts val="1900"/>
              </a:lnSpc>
              <a:buNone/>
            </a:pPr>
            <a:r>
              <a:rPr lang="en-US" sz="1450" b="1" dirty="0">
                <a:solidFill>
                  <a:srgbClr val="2B2A2C"/>
                </a:solidFill>
                <a:latin typeface="Segoe UI" pitchFamily="34" charset="0"/>
                <a:ea typeface="Segoe UI" pitchFamily="34" charset="-122"/>
                <a:cs typeface="Segoe UI" pitchFamily="34" charset="-120"/>
              </a:rPr>
              <a:t>عربي وإنجليزي</a:t>
            </a:r>
            <a:endParaRPr lang="en-US" sz="1450" dirty="0"/>
          </a:p>
        </p:txBody>
      </p:sp>
      <p:sp>
        <p:nvSpPr>
          <p:cNvPr id="13" name="Text 9"/>
          <p:cNvSpPr txBox="1"/>
          <p:nvPr/>
        </p:nvSpPr>
        <p:spPr>
          <a:xfrm>
            <a:off x="6489040" y="3474720"/>
            <a:ext cx="2037512" cy="585216"/>
          </a:xfrm>
          <a:prstGeom prst="rect">
            <a:avLst/>
          </a:prstGeom>
          <a:noFill/>
          <a:ln/>
        </p:spPr>
        <p:txBody>
          <a:bodyPr wrap="square" lIns="0" tIns="0" rIns="0" bIns="0" rtlCol="0" anchor="t"/>
          <a:lstStyle/>
          <a:p>
            <a:pPr marL="0" indent="0" algn="r" rtl="1">
              <a:lnSpc>
                <a:spcPts val="1600"/>
              </a:lnSpc>
              <a:buNone/>
            </a:pPr>
            <a:r>
              <a:rPr lang="en-US" sz="1150" dirty="0">
                <a:solidFill>
                  <a:srgbClr val="6D6E71"/>
                </a:solidFill>
                <a:latin typeface="Segoe UI" pitchFamily="34" charset="0"/>
                <a:ea typeface="Segoe UI" pitchFamily="34" charset="-122"/>
                <a:cs typeface="Segoe UI" pitchFamily="34" charset="-120"/>
              </a:rPr>
              <a:t>اللغة جزء من رابط الصفحة، والتبديل لا يفقدك مكانك في النظام.</a:t>
            </a:r>
            <a:endParaRPr lang="en-US" sz="1150" dirty="0"/>
          </a:p>
        </p:txBody>
      </p:sp>
      <p:sp>
        <p:nvSpPr>
          <p:cNvPr id="14" name="Shape 10"/>
          <p:cNvSpPr/>
          <p:nvPr/>
        </p:nvSpPr>
        <p:spPr>
          <a:xfrm>
            <a:off x="3390824" y="1883664"/>
            <a:ext cx="2586152" cy="2286000"/>
          </a:xfrm>
          <a:prstGeom prst="roundRect">
            <a:avLst>
              <a:gd name="adj" fmla="val 4000"/>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15" name="Shape 11"/>
          <p:cNvSpPr/>
          <p:nvPr/>
        </p:nvSpPr>
        <p:spPr>
          <a:xfrm>
            <a:off x="5117440" y="2176272"/>
            <a:ext cx="585216" cy="585216"/>
          </a:xfrm>
          <a:prstGeom prst="ellipse">
            <a:avLst/>
          </a:prstGeom>
          <a:solidFill>
            <a:srgbClr val="C2151C"/>
          </a:solidFill>
          <a:ln w="12700">
            <a:solidFill>
              <a:srgbClr val="C2151C"/>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5263744" y="2322576"/>
            <a:ext cx="292608" cy="292608"/>
          </a:xfrm>
          <a:prstGeom prst="rect">
            <a:avLst/>
          </a:prstGeom>
        </p:spPr>
      </p:pic>
      <p:sp>
        <p:nvSpPr>
          <p:cNvPr id="17" name="Text 12"/>
          <p:cNvSpPr txBox="1"/>
          <p:nvPr/>
        </p:nvSpPr>
        <p:spPr>
          <a:xfrm>
            <a:off x="3665144" y="2907792"/>
            <a:ext cx="2037512" cy="512064"/>
          </a:xfrm>
          <a:prstGeom prst="rect">
            <a:avLst/>
          </a:prstGeom>
          <a:noFill/>
          <a:ln/>
        </p:spPr>
        <p:txBody>
          <a:bodyPr wrap="square" lIns="0" tIns="0" rIns="0" bIns="0" rtlCol="0" anchor="t"/>
          <a:lstStyle/>
          <a:p>
            <a:pPr marL="0" indent="0" algn="r" rtl="1">
              <a:lnSpc>
                <a:spcPts val="1900"/>
              </a:lnSpc>
              <a:buNone/>
            </a:pPr>
            <a:r>
              <a:rPr lang="en-US" sz="1450" b="1" dirty="0">
                <a:solidFill>
                  <a:srgbClr val="2B2A2C"/>
                </a:solidFill>
                <a:latin typeface="Segoe UI" pitchFamily="34" charset="0"/>
                <a:ea typeface="Segoe UI" pitchFamily="34" charset="-122"/>
                <a:cs typeface="Segoe UI" pitchFamily="34" charset="-120"/>
              </a:rPr>
              <a:t>بحث وفلترة في كل جدول</a:t>
            </a:r>
            <a:endParaRPr lang="en-US" sz="1450" dirty="0"/>
          </a:p>
        </p:txBody>
      </p:sp>
      <p:sp>
        <p:nvSpPr>
          <p:cNvPr id="18" name="Text 13"/>
          <p:cNvSpPr txBox="1"/>
          <p:nvPr/>
        </p:nvSpPr>
        <p:spPr>
          <a:xfrm>
            <a:off x="3665144" y="3474720"/>
            <a:ext cx="2037512" cy="585216"/>
          </a:xfrm>
          <a:prstGeom prst="rect">
            <a:avLst/>
          </a:prstGeom>
          <a:noFill/>
          <a:ln/>
        </p:spPr>
        <p:txBody>
          <a:bodyPr wrap="square" lIns="0" tIns="0" rIns="0" bIns="0" rtlCol="0" anchor="t"/>
          <a:lstStyle/>
          <a:p>
            <a:pPr marL="0" indent="0" algn="r" rtl="1">
              <a:lnSpc>
                <a:spcPts val="1600"/>
              </a:lnSpc>
              <a:buNone/>
            </a:pPr>
            <a:r>
              <a:rPr lang="en-US" sz="1150" dirty="0">
                <a:solidFill>
                  <a:srgbClr val="6D6E71"/>
                </a:solidFill>
                <a:latin typeface="Segoe UI" pitchFamily="34" charset="0"/>
                <a:ea typeface="Segoe UI" pitchFamily="34" charset="-122"/>
                <a:cs typeface="Segoe UI" pitchFamily="34" charset="-120"/>
              </a:rPr>
              <a:t>ابحث وافرز وصدّر أي قائمة بضغطة واحدة إلى ملف Excel</a:t>
            </a:r>
            <a:endParaRPr lang="en-US" sz="1150" dirty="0"/>
          </a:p>
        </p:txBody>
      </p:sp>
      <p:sp>
        <p:nvSpPr>
          <p:cNvPr id="19" name="Shape 14"/>
          <p:cNvSpPr/>
          <p:nvPr/>
        </p:nvSpPr>
        <p:spPr>
          <a:xfrm>
            <a:off x="566928" y="1883664"/>
            <a:ext cx="2586152" cy="2286000"/>
          </a:xfrm>
          <a:prstGeom prst="roundRect">
            <a:avLst>
              <a:gd name="adj" fmla="val 4000"/>
            </a:avLst>
          </a:prstGeom>
          <a:solidFill>
            <a:srgbClr val="FFFFFF"/>
          </a:solidFill>
          <a:ln w="7620">
            <a:solidFill>
              <a:srgbClr val="DCDDDE"/>
            </a:solidFill>
            <a:prstDash val="solid"/>
          </a:ln>
          <a:effectLst>
            <a:outerShdw blurRad="152400" dist="38100" dir="5400000" algn="bl" rotWithShape="0">
              <a:srgbClr val="000000">
                <a:alpha val="10000"/>
              </a:srgbClr>
            </a:outerShdw>
          </a:effectLst>
        </p:spPr>
        <p:txBody>
          <a:bodyPr/>
          <a:lstStyle/>
          <a:p>
            <a:endParaRPr lang="en-US"/>
          </a:p>
        </p:txBody>
      </p:sp>
      <p:sp>
        <p:nvSpPr>
          <p:cNvPr id="20" name="Shape 15"/>
          <p:cNvSpPr/>
          <p:nvPr/>
        </p:nvSpPr>
        <p:spPr>
          <a:xfrm>
            <a:off x="2293544" y="2176272"/>
            <a:ext cx="585216" cy="585216"/>
          </a:xfrm>
          <a:prstGeom prst="ellipse">
            <a:avLst/>
          </a:prstGeom>
          <a:solidFill>
            <a:srgbClr val="C2151C"/>
          </a:solidFill>
          <a:ln w="12700">
            <a:solidFill>
              <a:srgbClr val="C2151C"/>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2439848" y="2322576"/>
            <a:ext cx="292608" cy="292608"/>
          </a:xfrm>
          <a:prstGeom prst="rect">
            <a:avLst/>
          </a:prstGeom>
        </p:spPr>
      </p:pic>
      <p:sp>
        <p:nvSpPr>
          <p:cNvPr id="22" name="Text 16"/>
          <p:cNvSpPr txBox="1"/>
          <p:nvPr/>
        </p:nvSpPr>
        <p:spPr>
          <a:xfrm>
            <a:off x="841248" y="2907792"/>
            <a:ext cx="2037512" cy="512064"/>
          </a:xfrm>
          <a:prstGeom prst="rect">
            <a:avLst/>
          </a:prstGeom>
          <a:noFill/>
          <a:ln/>
        </p:spPr>
        <p:txBody>
          <a:bodyPr wrap="square" lIns="0" tIns="0" rIns="0" bIns="0" rtlCol="0" anchor="t"/>
          <a:lstStyle/>
          <a:p>
            <a:pPr marL="0" indent="0" algn="r" rtl="1">
              <a:lnSpc>
                <a:spcPts val="1900"/>
              </a:lnSpc>
              <a:buNone/>
            </a:pPr>
            <a:r>
              <a:rPr lang="en-US" sz="1450" b="1" dirty="0">
                <a:solidFill>
                  <a:srgbClr val="2B2A2C"/>
                </a:solidFill>
                <a:latin typeface="Segoe UI" pitchFamily="34" charset="0"/>
                <a:ea typeface="Segoe UI" pitchFamily="34" charset="-122"/>
                <a:cs typeface="Segoe UI" pitchFamily="34" charset="-120"/>
              </a:rPr>
              <a:t>يعمل على أي جهاز</a:t>
            </a:r>
            <a:endParaRPr lang="en-US" sz="1450" dirty="0"/>
          </a:p>
        </p:txBody>
      </p:sp>
      <p:sp>
        <p:nvSpPr>
          <p:cNvPr id="23" name="Text 17"/>
          <p:cNvSpPr txBox="1"/>
          <p:nvPr/>
        </p:nvSpPr>
        <p:spPr>
          <a:xfrm>
            <a:off x="841248" y="3474720"/>
            <a:ext cx="2037512" cy="585216"/>
          </a:xfrm>
          <a:prstGeom prst="rect">
            <a:avLst/>
          </a:prstGeom>
          <a:noFill/>
          <a:ln/>
        </p:spPr>
        <p:txBody>
          <a:bodyPr wrap="square" lIns="0" tIns="0" rIns="0" bIns="0" rtlCol="0" anchor="t"/>
          <a:lstStyle/>
          <a:p>
            <a:pPr marL="0" indent="0" algn="r" rtl="1">
              <a:lnSpc>
                <a:spcPts val="1600"/>
              </a:lnSpc>
              <a:buNone/>
            </a:pPr>
            <a:r>
              <a:rPr lang="en-US" sz="1150" dirty="0">
                <a:solidFill>
                  <a:srgbClr val="6D6E71"/>
                </a:solidFill>
                <a:latin typeface="Segoe UI" pitchFamily="34" charset="0"/>
                <a:ea typeface="Segoe UI" pitchFamily="34" charset="-122"/>
                <a:cs typeface="Segoe UI" pitchFamily="34" charset="-120"/>
              </a:rPr>
              <a:t>متصفّح فقط، حاسوب أو هاتف، دون تثبيت أي برنامج.</a:t>
            </a:r>
            <a:endParaRPr lang="en-US" sz="1150" dirty="0"/>
          </a:p>
        </p:txBody>
      </p:sp>
      <p:sp>
        <p:nvSpPr>
          <p:cNvPr id="24" name="Text 18"/>
          <p:cNvSpPr txBox="1"/>
          <p:nvPr/>
        </p:nvSpPr>
        <p:spPr>
          <a:xfrm>
            <a:off x="566928" y="4480560"/>
            <a:ext cx="11057839" cy="347472"/>
          </a:xfrm>
          <a:prstGeom prst="rect">
            <a:avLst/>
          </a:prstGeom>
          <a:noFill/>
          <a:ln/>
        </p:spPr>
        <p:txBody>
          <a:bodyPr wrap="square" lIns="0" tIns="0" rIns="0" bIns="0" rtlCol="0" anchor="t"/>
          <a:lstStyle/>
          <a:p>
            <a:pPr marL="0" indent="0" algn="r" rtl="1">
              <a:buNone/>
            </a:pPr>
            <a:r>
              <a:rPr lang="en-US" sz="1900" b="1" dirty="0">
                <a:solidFill>
                  <a:srgbClr val="2B2A2C"/>
                </a:solidFill>
                <a:latin typeface="Segoe UI" pitchFamily="34" charset="0"/>
                <a:ea typeface="Segoe UI" pitchFamily="34" charset="-122"/>
                <a:cs typeface="Segoe UI" pitchFamily="34" charset="-120"/>
              </a:rPr>
              <a:t>أفضل الممارسات</a:t>
            </a:r>
            <a:endParaRPr lang="en-US" sz="1900" dirty="0"/>
          </a:p>
        </p:txBody>
      </p:sp>
      <p:sp>
        <p:nvSpPr>
          <p:cNvPr id="25" name="Shape 19"/>
          <p:cNvSpPr/>
          <p:nvPr/>
        </p:nvSpPr>
        <p:spPr>
          <a:xfrm>
            <a:off x="9038615" y="4919472"/>
            <a:ext cx="2586152" cy="969264"/>
          </a:xfrm>
          <a:prstGeom prst="roundRect">
            <a:avLst>
              <a:gd name="adj" fmla="val 6604"/>
            </a:avLst>
          </a:prstGeom>
          <a:solidFill>
            <a:srgbClr val="F7E8E9"/>
          </a:solidFill>
          <a:ln w="12700">
            <a:solidFill>
              <a:srgbClr val="F7E8E9"/>
            </a:solidFill>
            <a:prstDash val="solid"/>
          </a:ln>
        </p:spPr>
        <p:txBody>
          <a:bodyPr/>
          <a:lstStyle/>
          <a:p>
            <a:endParaRPr lang="en-US"/>
          </a:p>
        </p:txBody>
      </p:sp>
      <p:sp>
        <p:nvSpPr>
          <p:cNvPr id="26" name="Text 20"/>
          <p:cNvSpPr txBox="1"/>
          <p:nvPr/>
        </p:nvSpPr>
        <p:spPr>
          <a:xfrm>
            <a:off x="9239783" y="4919472"/>
            <a:ext cx="2183816" cy="969264"/>
          </a:xfrm>
          <a:prstGeom prst="rect">
            <a:avLst/>
          </a:prstGeom>
          <a:noFill/>
          <a:ln/>
        </p:spPr>
        <p:txBody>
          <a:bodyPr wrap="square" lIns="0" tIns="0" rIns="0" bIns="0" rtlCol="0" anchor="ctr"/>
          <a:lstStyle/>
          <a:p>
            <a:pPr marL="0" indent="0" algn="r" rtl="1">
              <a:lnSpc>
                <a:spcPts val="1600"/>
              </a:lnSpc>
              <a:buNone/>
            </a:pPr>
            <a:r>
              <a:rPr lang="en-US" sz="1150" b="1" dirty="0">
                <a:solidFill>
                  <a:srgbClr val="A51218"/>
                </a:solidFill>
                <a:latin typeface="Segoe UI" pitchFamily="34" charset="0"/>
                <a:ea typeface="Segoe UI" pitchFamily="34" charset="-122"/>
                <a:cs typeface="Segoe UI" pitchFamily="34" charset="-120"/>
              </a:rPr>
              <a:t>أدخل الاسم بالعربية والإنجليزية معاً، فالتقارير تعتمد عليهما.</a:t>
            </a:r>
            <a:endParaRPr lang="en-US" sz="1150" dirty="0"/>
          </a:p>
        </p:txBody>
      </p:sp>
      <p:sp>
        <p:nvSpPr>
          <p:cNvPr id="27" name="Shape 21"/>
          <p:cNvSpPr/>
          <p:nvPr/>
        </p:nvSpPr>
        <p:spPr>
          <a:xfrm>
            <a:off x="6214720" y="4919472"/>
            <a:ext cx="2586152" cy="969264"/>
          </a:xfrm>
          <a:prstGeom prst="roundRect">
            <a:avLst>
              <a:gd name="adj" fmla="val 6604"/>
            </a:avLst>
          </a:prstGeom>
          <a:solidFill>
            <a:srgbClr val="F7E8E9"/>
          </a:solidFill>
          <a:ln w="12700">
            <a:solidFill>
              <a:srgbClr val="F7E8E9"/>
            </a:solidFill>
            <a:prstDash val="solid"/>
          </a:ln>
        </p:spPr>
        <p:txBody>
          <a:bodyPr/>
          <a:lstStyle/>
          <a:p>
            <a:endParaRPr lang="en-US"/>
          </a:p>
        </p:txBody>
      </p:sp>
      <p:sp>
        <p:nvSpPr>
          <p:cNvPr id="28" name="Text 22"/>
          <p:cNvSpPr txBox="1"/>
          <p:nvPr/>
        </p:nvSpPr>
        <p:spPr>
          <a:xfrm>
            <a:off x="6415888" y="4919472"/>
            <a:ext cx="2183816" cy="969264"/>
          </a:xfrm>
          <a:prstGeom prst="rect">
            <a:avLst/>
          </a:prstGeom>
          <a:noFill/>
          <a:ln/>
        </p:spPr>
        <p:txBody>
          <a:bodyPr wrap="square" lIns="0" tIns="0" rIns="0" bIns="0" rtlCol="0" anchor="ctr"/>
          <a:lstStyle/>
          <a:p>
            <a:pPr marL="0" indent="0" algn="r" rtl="1">
              <a:lnSpc>
                <a:spcPts val="1600"/>
              </a:lnSpc>
              <a:buNone/>
            </a:pPr>
            <a:r>
              <a:rPr lang="en-US" sz="1150" b="1" dirty="0">
                <a:solidFill>
                  <a:srgbClr val="A51218"/>
                </a:solidFill>
                <a:latin typeface="Segoe UI" pitchFamily="34" charset="0"/>
                <a:ea typeface="Segoe UI" pitchFamily="34" charset="-122"/>
                <a:cs typeface="Segoe UI" pitchFamily="34" charset="-120"/>
              </a:rPr>
              <a:t>عرّف الإعدادات الأساسية أولاً، ثم المناصب، ثم العقود.</a:t>
            </a:r>
            <a:endParaRPr lang="en-US" sz="1150" dirty="0"/>
          </a:p>
        </p:txBody>
      </p:sp>
      <p:sp>
        <p:nvSpPr>
          <p:cNvPr id="29" name="Shape 23"/>
          <p:cNvSpPr/>
          <p:nvPr/>
        </p:nvSpPr>
        <p:spPr>
          <a:xfrm>
            <a:off x="3390824" y="4919472"/>
            <a:ext cx="2586152" cy="969264"/>
          </a:xfrm>
          <a:prstGeom prst="roundRect">
            <a:avLst>
              <a:gd name="adj" fmla="val 6604"/>
            </a:avLst>
          </a:prstGeom>
          <a:solidFill>
            <a:srgbClr val="F7E8E9"/>
          </a:solidFill>
          <a:ln w="12700">
            <a:solidFill>
              <a:srgbClr val="F7E8E9"/>
            </a:solidFill>
            <a:prstDash val="solid"/>
          </a:ln>
        </p:spPr>
        <p:txBody>
          <a:bodyPr/>
          <a:lstStyle/>
          <a:p>
            <a:endParaRPr lang="en-US"/>
          </a:p>
        </p:txBody>
      </p:sp>
      <p:sp>
        <p:nvSpPr>
          <p:cNvPr id="30" name="Text 24"/>
          <p:cNvSpPr txBox="1"/>
          <p:nvPr/>
        </p:nvSpPr>
        <p:spPr>
          <a:xfrm>
            <a:off x="3591992" y="4919472"/>
            <a:ext cx="2183816" cy="969264"/>
          </a:xfrm>
          <a:prstGeom prst="rect">
            <a:avLst/>
          </a:prstGeom>
          <a:noFill/>
          <a:ln/>
        </p:spPr>
        <p:txBody>
          <a:bodyPr wrap="square" lIns="0" tIns="0" rIns="0" bIns="0" rtlCol="0" anchor="ctr"/>
          <a:lstStyle/>
          <a:p>
            <a:pPr marL="0" indent="0" algn="r" rtl="1">
              <a:lnSpc>
                <a:spcPts val="1600"/>
              </a:lnSpc>
              <a:buNone/>
            </a:pPr>
            <a:r>
              <a:rPr lang="en-US" sz="1150" b="1" dirty="0">
                <a:solidFill>
                  <a:srgbClr val="A51218"/>
                </a:solidFill>
                <a:latin typeface="Segoe UI" pitchFamily="34" charset="0"/>
                <a:ea typeface="Segoe UI" pitchFamily="34" charset="-122"/>
                <a:cs typeface="Segoe UI" pitchFamily="34" charset="-120"/>
              </a:rPr>
              <a:t>راجع التسليمات المعلّقة أسبوعياً حتى لا تتراكم العهدة.</a:t>
            </a:r>
            <a:endParaRPr lang="en-US" sz="1150" dirty="0"/>
          </a:p>
        </p:txBody>
      </p:sp>
      <p:sp>
        <p:nvSpPr>
          <p:cNvPr id="31" name="Shape 25"/>
          <p:cNvSpPr/>
          <p:nvPr/>
        </p:nvSpPr>
        <p:spPr>
          <a:xfrm>
            <a:off x="566928" y="4919472"/>
            <a:ext cx="2586152" cy="969264"/>
          </a:xfrm>
          <a:prstGeom prst="roundRect">
            <a:avLst>
              <a:gd name="adj" fmla="val 6604"/>
            </a:avLst>
          </a:prstGeom>
          <a:solidFill>
            <a:srgbClr val="F7E8E9"/>
          </a:solidFill>
          <a:ln w="12700">
            <a:solidFill>
              <a:srgbClr val="F7E8E9"/>
            </a:solidFill>
            <a:prstDash val="solid"/>
          </a:ln>
        </p:spPr>
        <p:txBody>
          <a:bodyPr/>
          <a:lstStyle/>
          <a:p>
            <a:endParaRPr lang="en-US"/>
          </a:p>
        </p:txBody>
      </p:sp>
      <p:sp>
        <p:nvSpPr>
          <p:cNvPr id="32" name="Text 26"/>
          <p:cNvSpPr txBox="1"/>
          <p:nvPr/>
        </p:nvSpPr>
        <p:spPr>
          <a:xfrm>
            <a:off x="768096" y="4919472"/>
            <a:ext cx="2183816" cy="969264"/>
          </a:xfrm>
          <a:prstGeom prst="rect">
            <a:avLst/>
          </a:prstGeom>
          <a:noFill/>
          <a:ln/>
        </p:spPr>
        <p:txBody>
          <a:bodyPr wrap="square" lIns="0" tIns="0" rIns="0" bIns="0" rtlCol="0" anchor="ctr"/>
          <a:lstStyle/>
          <a:p>
            <a:pPr marL="0" indent="0" algn="r" rtl="1">
              <a:lnSpc>
                <a:spcPts val="1600"/>
              </a:lnSpc>
              <a:buNone/>
            </a:pPr>
            <a:r>
              <a:rPr lang="en-US" sz="1150" b="1" dirty="0">
                <a:solidFill>
                  <a:srgbClr val="A51218"/>
                </a:solidFill>
                <a:latin typeface="Segoe UI" pitchFamily="34" charset="0"/>
                <a:ea typeface="Segoe UI" pitchFamily="34" charset="-122"/>
                <a:cs typeface="Segoe UI" pitchFamily="34" charset="-120"/>
              </a:rPr>
              <a:t>لا تنشئ حساباً جديداً لموظف عائد، بل أعد تفعيل سجلّه القديم.</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6"/>
        </a:solidFill>
        <a:effectLst/>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t"/>
          <a:lstStyle/>
          <a:p>
            <a:pPr marL="0" indent="0" algn="r" rtl="1">
              <a:buNone/>
            </a:pPr>
            <a:r>
              <a:rPr lang="en-US" sz="1250" b="1" kern="0" spc="100" dirty="0">
                <a:solidFill>
                  <a:srgbClr val="C2151C"/>
                </a:solidFill>
                <a:latin typeface="Segoe UI" pitchFamily="34" charset="0"/>
                <a:ea typeface="Segoe UI" pitchFamily="34" charset="-122"/>
                <a:cs typeface="Segoe UI" pitchFamily="34" charset="-120"/>
              </a:rPr>
              <a:t>أسئلة شائعة</a:t>
            </a:r>
            <a:endParaRPr lang="en-US" sz="1250" dirty="0"/>
          </a:p>
        </p:txBody>
      </p:sp>
      <p:sp>
        <p:nvSpPr>
          <p:cNvPr id="3" name="Text 1"/>
          <p:cNvSpPr txBox="1"/>
          <p:nvPr/>
        </p:nvSpPr>
        <p:spPr>
          <a:xfrm>
            <a:off x="566928" y="713232"/>
            <a:ext cx="11057839" cy="658368"/>
          </a:xfrm>
          <a:prstGeom prst="rect">
            <a:avLst/>
          </a:prstGeom>
          <a:noFill/>
          <a:ln/>
        </p:spPr>
        <p:txBody>
          <a:bodyPr wrap="square" lIns="0" tIns="0" rIns="0" bIns="0" rtlCol="0" anchor="t"/>
          <a:lstStyle/>
          <a:p>
            <a:pPr marL="0" indent="0" algn="r" rtl="1">
              <a:buNone/>
            </a:pPr>
            <a:r>
              <a:rPr lang="en-US" sz="3300" b="1" dirty="0">
                <a:solidFill>
                  <a:srgbClr val="2B2A2C"/>
                </a:solidFill>
                <a:latin typeface="Segoe UI" pitchFamily="34" charset="0"/>
                <a:ea typeface="Segoe UI" pitchFamily="34" charset="-122"/>
                <a:cs typeface="Segoe UI" pitchFamily="34" charset="-120"/>
              </a:rPr>
              <a:t>ما يُسأل عنه كثيراً</a:t>
            </a:r>
            <a:endParaRPr lang="en-US" sz="3300" dirty="0"/>
          </a:p>
        </p:txBody>
      </p:sp>
      <p:sp>
        <p:nvSpPr>
          <p:cNvPr id="4" name="Shape 2"/>
          <p:cNvSpPr/>
          <p:nvPr/>
        </p:nvSpPr>
        <p:spPr>
          <a:xfrm>
            <a:off x="6278728" y="1883664"/>
            <a:ext cx="5346040" cy="1298448"/>
          </a:xfrm>
          <a:prstGeom prst="roundRect">
            <a:avLst>
              <a:gd name="adj" fmla="val 7042"/>
            </a:avLst>
          </a:prstGeom>
          <a:solidFill>
            <a:srgbClr val="FFFFFF"/>
          </a:solidFill>
          <a:ln w="7620">
            <a:solidFill>
              <a:srgbClr val="DCDDDE"/>
            </a:solidFill>
            <a:prstDash val="solid"/>
          </a:ln>
          <a:effectLst>
            <a:outerShdw blurRad="101600" dist="38100" dir="5400000" algn="bl" rotWithShape="0">
              <a:srgbClr val="000000">
                <a:alpha val="6000"/>
              </a:srgbClr>
            </a:outerShdw>
          </a:effectLst>
        </p:spPr>
        <p:txBody>
          <a:bodyPr/>
          <a:lstStyle/>
          <a:p>
            <a:endParaRPr lang="en-US"/>
          </a:p>
        </p:txBody>
      </p:sp>
      <p:sp>
        <p:nvSpPr>
          <p:cNvPr id="5" name="Shape 3"/>
          <p:cNvSpPr/>
          <p:nvPr/>
        </p:nvSpPr>
        <p:spPr>
          <a:xfrm>
            <a:off x="10929823" y="2139696"/>
            <a:ext cx="402336" cy="402336"/>
          </a:xfrm>
          <a:prstGeom prst="ellipse">
            <a:avLst/>
          </a:prstGeom>
          <a:solidFill>
            <a:srgbClr val="C2151C"/>
          </a:solidFill>
          <a:ln w="12700">
            <a:solidFill>
              <a:srgbClr val="C2151C"/>
            </a:solidFill>
            <a:prstDash val="solid"/>
          </a:ln>
        </p:spPr>
        <p:txBody>
          <a:bodyPr/>
          <a:lstStyle/>
          <a:p>
            <a:endParaRPr lang="en-US"/>
          </a:p>
        </p:txBody>
      </p:sp>
      <p:sp>
        <p:nvSpPr>
          <p:cNvPr id="6" name="Text 4"/>
          <p:cNvSpPr txBox="1"/>
          <p:nvPr/>
        </p:nvSpPr>
        <p:spPr>
          <a:xfrm>
            <a:off x="10929823" y="2139696"/>
            <a:ext cx="402336" cy="402336"/>
          </a:xfrm>
          <a:prstGeom prst="rect">
            <a:avLst/>
          </a:prstGeom>
          <a:noFill/>
          <a:ln/>
        </p:spPr>
        <p:txBody>
          <a:bodyPr wrap="square" lIns="0" tIns="0" rIns="0" bIns="0" rtlCol="0" anchor="ctr"/>
          <a:lstStyle/>
          <a:p>
            <a:pPr marL="0" indent="0" algn="ctr" rtl="1">
              <a:buNone/>
            </a:pPr>
            <a:r>
              <a:rPr lang="en-US" sz="1600" b="1" dirty="0">
                <a:solidFill>
                  <a:srgbClr val="FFFFFF"/>
                </a:solidFill>
                <a:latin typeface="Segoe UI" pitchFamily="34" charset="0"/>
                <a:ea typeface="Segoe UI" pitchFamily="34" charset="-122"/>
                <a:cs typeface="Segoe UI" pitchFamily="34" charset="-120"/>
              </a:rPr>
              <a:t>؟</a:t>
            </a:r>
            <a:endParaRPr lang="en-US" sz="1600" dirty="0"/>
          </a:p>
        </p:txBody>
      </p:sp>
      <p:sp>
        <p:nvSpPr>
          <p:cNvPr id="7" name="Text 5"/>
          <p:cNvSpPr txBox="1"/>
          <p:nvPr/>
        </p:nvSpPr>
        <p:spPr>
          <a:xfrm>
            <a:off x="6571336" y="2139696"/>
            <a:ext cx="4065880" cy="329184"/>
          </a:xfrm>
          <a:prstGeom prst="rect">
            <a:avLst/>
          </a:prstGeom>
          <a:noFill/>
          <a:ln/>
        </p:spPr>
        <p:txBody>
          <a:bodyPr wrap="square" lIns="0" tIns="0" rIns="0" bIns="0" rtlCol="0" anchor="t"/>
          <a:lstStyle/>
          <a:p>
            <a:pPr marL="0" indent="0" algn="r" rtl="1">
              <a:buNone/>
            </a:pPr>
            <a:r>
              <a:rPr lang="en-US" sz="1400" b="1" dirty="0">
                <a:solidFill>
                  <a:srgbClr val="2B2A2C"/>
                </a:solidFill>
                <a:latin typeface="Segoe UI" pitchFamily="34" charset="0"/>
                <a:ea typeface="Segoe UI" pitchFamily="34" charset="-122"/>
                <a:cs typeface="Segoe UI" pitchFamily="34" charset="-120"/>
              </a:rPr>
              <a:t>نسيت كلمة المرور، ماذا أفعل؟</a:t>
            </a:r>
            <a:endParaRPr lang="en-US" sz="1400" dirty="0"/>
          </a:p>
        </p:txBody>
      </p:sp>
      <p:sp>
        <p:nvSpPr>
          <p:cNvPr id="8" name="Text 6"/>
          <p:cNvSpPr txBox="1"/>
          <p:nvPr/>
        </p:nvSpPr>
        <p:spPr>
          <a:xfrm>
            <a:off x="6571336" y="2505456"/>
            <a:ext cx="4065880" cy="566928"/>
          </a:xfrm>
          <a:prstGeom prst="rect">
            <a:avLst/>
          </a:prstGeom>
          <a:noFill/>
          <a:ln/>
        </p:spPr>
        <p:txBody>
          <a:bodyPr wrap="square" lIns="0" tIns="0" rIns="0" bIns="0" rtlCol="0" anchor="t"/>
          <a:lstStyle/>
          <a:p>
            <a:pPr marL="0" indent="0" algn="r" rtl="1">
              <a:lnSpc>
                <a:spcPts val="1700"/>
              </a:lnSpc>
              <a:buNone/>
            </a:pPr>
            <a:r>
              <a:rPr lang="en-US" sz="1200" dirty="0">
                <a:solidFill>
                  <a:srgbClr val="6D6E71"/>
                </a:solidFill>
                <a:latin typeface="Segoe UI" pitchFamily="34" charset="0"/>
                <a:ea typeface="Segoe UI" pitchFamily="34" charset="-122"/>
                <a:cs typeface="Segoe UI" pitchFamily="34" charset="-120"/>
              </a:rPr>
              <a:t>من صفحة الدخول اضغط نسيت كلمة المرور وأدخل بريدك؛ يصلك رابط لإعادة التعيين.</a:t>
            </a:r>
            <a:endParaRPr lang="en-US" sz="1200" dirty="0"/>
          </a:p>
        </p:txBody>
      </p:sp>
      <p:sp>
        <p:nvSpPr>
          <p:cNvPr id="9" name="Shape 7"/>
          <p:cNvSpPr/>
          <p:nvPr/>
        </p:nvSpPr>
        <p:spPr>
          <a:xfrm>
            <a:off x="566928" y="1883664"/>
            <a:ext cx="5346040" cy="1298448"/>
          </a:xfrm>
          <a:prstGeom prst="roundRect">
            <a:avLst>
              <a:gd name="adj" fmla="val 7042"/>
            </a:avLst>
          </a:prstGeom>
          <a:solidFill>
            <a:srgbClr val="FFFFFF"/>
          </a:solidFill>
          <a:ln w="7620">
            <a:solidFill>
              <a:srgbClr val="DCDDDE"/>
            </a:solidFill>
            <a:prstDash val="solid"/>
          </a:ln>
          <a:effectLst>
            <a:outerShdw blurRad="101600" dist="38100" dir="5400000" algn="bl" rotWithShape="0">
              <a:srgbClr val="000000">
                <a:alpha val="6000"/>
              </a:srgbClr>
            </a:outerShdw>
          </a:effectLst>
        </p:spPr>
        <p:txBody>
          <a:bodyPr/>
          <a:lstStyle/>
          <a:p>
            <a:endParaRPr lang="en-US"/>
          </a:p>
        </p:txBody>
      </p:sp>
      <p:sp>
        <p:nvSpPr>
          <p:cNvPr id="10" name="Shape 8"/>
          <p:cNvSpPr/>
          <p:nvPr/>
        </p:nvSpPr>
        <p:spPr>
          <a:xfrm>
            <a:off x="5218024" y="2139696"/>
            <a:ext cx="402336" cy="402336"/>
          </a:xfrm>
          <a:prstGeom prst="ellipse">
            <a:avLst/>
          </a:prstGeom>
          <a:solidFill>
            <a:srgbClr val="C2151C"/>
          </a:solidFill>
          <a:ln w="12700">
            <a:solidFill>
              <a:srgbClr val="C2151C"/>
            </a:solidFill>
            <a:prstDash val="solid"/>
          </a:ln>
        </p:spPr>
        <p:txBody>
          <a:bodyPr/>
          <a:lstStyle/>
          <a:p>
            <a:endParaRPr lang="en-US"/>
          </a:p>
        </p:txBody>
      </p:sp>
      <p:sp>
        <p:nvSpPr>
          <p:cNvPr id="11" name="Text 9"/>
          <p:cNvSpPr txBox="1"/>
          <p:nvPr/>
        </p:nvSpPr>
        <p:spPr>
          <a:xfrm>
            <a:off x="5218024" y="2139696"/>
            <a:ext cx="402336" cy="402336"/>
          </a:xfrm>
          <a:prstGeom prst="rect">
            <a:avLst/>
          </a:prstGeom>
          <a:noFill/>
          <a:ln/>
        </p:spPr>
        <p:txBody>
          <a:bodyPr wrap="square" lIns="0" tIns="0" rIns="0" bIns="0" rtlCol="0" anchor="ctr"/>
          <a:lstStyle/>
          <a:p>
            <a:pPr marL="0" indent="0" algn="ctr" rtl="1">
              <a:buNone/>
            </a:pPr>
            <a:r>
              <a:rPr lang="en-US" sz="1600" b="1" dirty="0">
                <a:solidFill>
                  <a:srgbClr val="FFFFFF"/>
                </a:solidFill>
                <a:latin typeface="Segoe UI" pitchFamily="34" charset="0"/>
                <a:ea typeface="Segoe UI" pitchFamily="34" charset="-122"/>
                <a:cs typeface="Segoe UI" pitchFamily="34" charset="-120"/>
              </a:rPr>
              <a:t>؟</a:t>
            </a:r>
            <a:endParaRPr lang="en-US" sz="1600" dirty="0"/>
          </a:p>
        </p:txBody>
      </p:sp>
      <p:sp>
        <p:nvSpPr>
          <p:cNvPr id="12" name="Text 10"/>
          <p:cNvSpPr txBox="1"/>
          <p:nvPr/>
        </p:nvSpPr>
        <p:spPr>
          <a:xfrm>
            <a:off x="859536" y="2139696"/>
            <a:ext cx="4065880" cy="329184"/>
          </a:xfrm>
          <a:prstGeom prst="rect">
            <a:avLst/>
          </a:prstGeom>
          <a:noFill/>
          <a:ln/>
        </p:spPr>
        <p:txBody>
          <a:bodyPr wrap="square" lIns="0" tIns="0" rIns="0" bIns="0" rtlCol="0" anchor="t"/>
          <a:lstStyle/>
          <a:p>
            <a:pPr marL="0" indent="0" algn="r" rtl="1">
              <a:buNone/>
            </a:pPr>
            <a:r>
              <a:rPr lang="en-US" sz="1400" b="1" dirty="0">
                <a:solidFill>
                  <a:srgbClr val="2B2A2C"/>
                </a:solidFill>
                <a:latin typeface="Segoe UI" pitchFamily="34" charset="0"/>
                <a:ea typeface="Segoe UI" pitchFamily="34" charset="-122"/>
                <a:cs typeface="Segoe UI" pitchFamily="34" charset="-120"/>
              </a:rPr>
              <a:t>لماذا لا أرى بعض الأقسام في القائمة؟</a:t>
            </a:r>
            <a:endParaRPr lang="en-US" sz="1400" dirty="0"/>
          </a:p>
        </p:txBody>
      </p:sp>
      <p:sp>
        <p:nvSpPr>
          <p:cNvPr id="13" name="Text 11"/>
          <p:cNvSpPr txBox="1"/>
          <p:nvPr/>
        </p:nvSpPr>
        <p:spPr>
          <a:xfrm>
            <a:off x="859536" y="2505456"/>
            <a:ext cx="4065880" cy="566928"/>
          </a:xfrm>
          <a:prstGeom prst="rect">
            <a:avLst/>
          </a:prstGeom>
          <a:noFill/>
          <a:ln/>
        </p:spPr>
        <p:txBody>
          <a:bodyPr wrap="square" lIns="0" tIns="0" rIns="0" bIns="0" rtlCol="0" anchor="t"/>
          <a:lstStyle/>
          <a:p>
            <a:pPr marL="0" indent="0" algn="r" rtl="1">
              <a:lnSpc>
                <a:spcPts val="1700"/>
              </a:lnSpc>
              <a:buNone/>
            </a:pPr>
            <a:r>
              <a:rPr lang="en-US" sz="1200" dirty="0">
                <a:solidFill>
                  <a:srgbClr val="6D6E71"/>
                </a:solidFill>
                <a:latin typeface="Segoe UI" pitchFamily="34" charset="0"/>
                <a:ea typeface="Segoe UI" pitchFamily="34" charset="-122"/>
                <a:cs typeface="Segoe UI" pitchFamily="34" charset="-120"/>
              </a:rPr>
              <a:t>القائمة تعرض ما يسمح به دورك النشط فقط. راجع مسؤول الموارد البشرية لطلب صلاحية إضافية.</a:t>
            </a:r>
            <a:endParaRPr lang="en-US" sz="1200" dirty="0"/>
          </a:p>
        </p:txBody>
      </p:sp>
      <p:sp>
        <p:nvSpPr>
          <p:cNvPr id="14" name="Shape 12"/>
          <p:cNvSpPr/>
          <p:nvPr/>
        </p:nvSpPr>
        <p:spPr>
          <a:xfrm>
            <a:off x="6278728" y="3419856"/>
            <a:ext cx="5346040" cy="1298448"/>
          </a:xfrm>
          <a:prstGeom prst="roundRect">
            <a:avLst>
              <a:gd name="adj" fmla="val 7042"/>
            </a:avLst>
          </a:prstGeom>
          <a:solidFill>
            <a:srgbClr val="FFFFFF"/>
          </a:solidFill>
          <a:ln w="7620">
            <a:solidFill>
              <a:srgbClr val="DCDDDE"/>
            </a:solidFill>
            <a:prstDash val="solid"/>
          </a:ln>
          <a:effectLst>
            <a:outerShdw blurRad="101600" dist="38100" dir="5400000" algn="bl" rotWithShape="0">
              <a:srgbClr val="000000">
                <a:alpha val="6000"/>
              </a:srgbClr>
            </a:outerShdw>
          </a:effectLst>
        </p:spPr>
        <p:txBody>
          <a:bodyPr/>
          <a:lstStyle/>
          <a:p>
            <a:endParaRPr lang="en-US"/>
          </a:p>
        </p:txBody>
      </p:sp>
      <p:sp>
        <p:nvSpPr>
          <p:cNvPr id="15" name="Shape 13"/>
          <p:cNvSpPr/>
          <p:nvPr/>
        </p:nvSpPr>
        <p:spPr>
          <a:xfrm>
            <a:off x="10929823" y="3675888"/>
            <a:ext cx="402336" cy="402336"/>
          </a:xfrm>
          <a:prstGeom prst="ellipse">
            <a:avLst/>
          </a:prstGeom>
          <a:solidFill>
            <a:srgbClr val="C2151C"/>
          </a:solidFill>
          <a:ln w="12700">
            <a:solidFill>
              <a:srgbClr val="C2151C"/>
            </a:solidFill>
            <a:prstDash val="solid"/>
          </a:ln>
        </p:spPr>
        <p:txBody>
          <a:bodyPr/>
          <a:lstStyle/>
          <a:p>
            <a:endParaRPr lang="en-US"/>
          </a:p>
        </p:txBody>
      </p:sp>
      <p:sp>
        <p:nvSpPr>
          <p:cNvPr id="16" name="Text 14"/>
          <p:cNvSpPr txBox="1"/>
          <p:nvPr/>
        </p:nvSpPr>
        <p:spPr>
          <a:xfrm>
            <a:off x="10929823" y="3675888"/>
            <a:ext cx="402336" cy="402336"/>
          </a:xfrm>
          <a:prstGeom prst="rect">
            <a:avLst/>
          </a:prstGeom>
          <a:noFill/>
          <a:ln/>
        </p:spPr>
        <p:txBody>
          <a:bodyPr wrap="square" lIns="0" tIns="0" rIns="0" bIns="0" rtlCol="0" anchor="ctr"/>
          <a:lstStyle/>
          <a:p>
            <a:pPr marL="0" indent="0" algn="ctr" rtl="1">
              <a:buNone/>
            </a:pPr>
            <a:r>
              <a:rPr lang="en-US" sz="1600" b="1" dirty="0">
                <a:solidFill>
                  <a:srgbClr val="FFFFFF"/>
                </a:solidFill>
                <a:latin typeface="Segoe UI" pitchFamily="34" charset="0"/>
                <a:ea typeface="Segoe UI" pitchFamily="34" charset="-122"/>
                <a:cs typeface="Segoe UI" pitchFamily="34" charset="-120"/>
              </a:rPr>
              <a:t>؟</a:t>
            </a:r>
            <a:endParaRPr lang="en-US" sz="1600" dirty="0"/>
          </a:p>
        </p:txBody>
      </p:sp>
      <p:sp>
        <p:nvSpPr>
          <p:cNvPr id="17" name="Text 15"/>
          <p:cNvSpPr txBox="1"/>
          <p:nvPr/>
        </p:nvSpPr>
        <p:spPr>
          <a:xfrm>
            <a:off x="6571336" y="3675888"/>
            <a:ext cx="4065880" cy="329184"/>
          </a:xfrm>
          <a:prstGeom prst="rect">
            <a:avLst/>
          </a:prstGeom>
          <a:noFill/>
          <a:ln/>
        </p:spPr>
        <p:txBody>
          <a:bodyPr wrap="square" lIns="0" tIns="0" rIns="0" bIns="0" rtlCol="0" anchor="t"/>
          <a:lstStyle/>
          <a:p>
            <a:pPr marL="0" indent="0" algn="r" rtl="1">
              <a:buNone/>
            </a:pPr>
            <a:r>
              <a:rPr lang="en-US" sz="1400" b="1" dirty="0">
                <a:solidFill>
                  <a:srgbClr val="2B2A2C"/>
                </a:solidFill>
                <a:latin typeface="Segoe UI" pitchFamily="34" charset="0"/>
                <a:ea typeface="Segoe UI" pitchFamily="34" charset="-122"/>
                <a:cs typeface="Segoe UI" pitchFamily="34" charset="-120"/>
              </a:rPr>
              <a:t>كيف أعرف رصيد إجازاتي؟</a:t>
            </a:r>
            <a:endParaRPr lang="en-US" sz="1400" dirty="0"/>
          </a:p>
        </p:txBody>
      </p:sp>
      <p:sp>
        <p:nvSpPr>
          <p:cNvPr id="18" name="Text 16"/>
          <p:cNvSpPr txBox="1"/>
          <p:nvPr/>
        </p:nvSpPr>
        <p:spPr>
          <a:xfrm>
            <a:off x="6571336" y="4041648"/>
            <a:ext cx="4065880" cy="566928"/>
          </a:xfrm>
          <a:prstGeom prst="rect">
            <a:avLst/>
          </a:prstGeom>
          <a:noFill/>
          <a:ln/>
        </p:spPr>
        <p:txBody>
          <a:bodyPr wrap="square" lIns="0" tIns="0" rIns="0" bIns="0" rtlCol="0" anchor="t"/>
          <a:lstStyle/>
          <a:p>
            <a:pPr marL="0" indent="0" algn="r" rtl="1">
              <a:lnSpc>
                <a:spcPts val="1700"/>
              </a:lnSpc>
              <a:buNone/>
            </a:pPr>
            <a:r>
              <a:rPr lang="en-US" sz="1200" dirty="0">
                <a:solidFill>
                  <a:srgbClr val="6D6E71"/>
                </a:solidFill>
                <a:latin typeface="Segoe UI" pitchFamily="34" charset="0"/>
                <a:ea typeface="Segoe UI" pitchFamily="34" charset="-122"/>
                <a:cs typeface="Segoe UI" pitchFamily="34" charset="-120"/>
              </a:rPr>
              <a:t>يظهر في بطاقات مخصّصة على لوحة التحكم مباشرة بعد تسجيل الدخول.</a:t>
            </a:r>
            <a:endParaRPr lang="en-US" sz="1200" dirty="0"/>
          </a:p>
        </p:txBody>
      </p:sp>
      <p:sp>
        <p:nvSpPr>
          <p:cNvPr id="19" name="Shape 17"/>
          <p:cNvSpPr/>
          <p:nvPr/>
        </p:nvSpPr>
        <p:spPr>
          <a:xfrm>
            <a:off x="566928" y="3419856"/>
            <a:ext cx="5346040" cy="1298448"/>
          </a:xfrm>
          <a:prstGeom prst="roundRect">
            <a:avLst>
              <a:gd name="adj" fmla="val 7042"/>
            </a:avLst>
          </a:prstGeom>
          <a:solidFill>
            <a:srgbClr val="FFFFFF"/>
          </a:solidFill>
          <a:ln w="7620">
            <a:solidFill>
              <a:srgbClr val="DCDDDE"/>
            </a:solidFill>
            <a:prstDash val="solid"/>
          </a:ln>
          <a:effectLst>
            <a:outerShdw blurRad="101600" dist="38100" dir="5400000" algn="bl" rotWithShape="0">
              <a:srgbClr val="000000">
                <a:alpha val="6000"/>
              </a:srgbClr>
            </a:outerShdw>
          </a:effectLst>
        </p:spPr>
        <p:txBody>
          <a:bodyPr/>
          <a:lstStyle/>
          <a:p>
            <a:endParaRPr lang="en-US"/>
          </a:p>
        </p:txBody>
      </p:sp>
      <p:sp>
        <p:nvSpPr>
          <p:cNvPr id="20" name="Shape 18"/>
          <p:cNvSpPr/>
          <p:nvPr/>
        </p:nvSpPr>
        <p:spPr>
          <a:xfrm>
            <a:off x="5218024" y="3675888"/>
            <a:ext cx="402336" cy="402336"/>
          </a:xfrm>
          <a:prstGeom prst="ellipse">
            <a:avLst/>
          </a:prstGeom>
          <a:solidFill>
            <a:srgbClr val="C2151C"/>
          </a:solidFill>
          <a:ln w="12700">
            <a:solidFill>
              <a:srgbClr val="C2151C"/>
            </a:solidFill>
            <a:prstDash val="solid"/>
          </a:ln>
        </p:spPr>
        <p:txBody>
          <a:bodyPr/>
          <a:lstStyle/>
          <a:p>
            <a:endParaRPr lang="en-US"/>
          </a:p>
        </p:txBody>
      </p:sp>
      <p:sp>
        <p:nvSpPr>
          <p:cNvPr id="21" name="Text 19"/>
          <p:cNvSpPr txBox="1"/>
          <p:nvPr/>
        </p:nvSpPr>
        <p:spPr>
          <a:xfrm>
            <a:off x="5218024" y="3675888"/>
            <a:ext cx="402336" cy="402336"/>
          </a:xfrm>
          <a:prstGeom prst="rect">
            <a:avLst/>
          </a:prstGeom>
          <a:noFill/>
          <a:ln/>
        </p:spPr>
        <p:txBody>
          <a:bodyPr wrap="square" lIns="0" tIns="0" rIns="0" bIns="0" rtlCol="0" anchor="ctr"/>
          <a:lstStyle/>
          <a:p>
            <a:pPr marL="0" indent="0" algn="ctr" rtl="1">
              <a:buNone/>
            </a:pPr>
            <a:r>
              <a:rPr lang="en-US" sz="1600" b="1" dirty="0">
                <a:solidFill>
                  <a:srgbClr val="FFFFFF"/>
                </a:solidFill>
                <a:latin typeface="Segoe UI" pitchFamily="34" charset="0"/>
                <a:ea typeface="Segoe UI" pitchFamily="34" charset="-122"/>
                <a:cs typeface="Segoe UI" pitchFamily="34" charset="-120"/>
              </a:rPr>
              <a:t>؟</a:t>
            </a:r>
            <a:endParaRPr lang="en-US" sz="1600" dirty="0"/>
          </a:p>
        </p:txBody>
      </p:sp>
      <p:sp>
        <p:nvSpPr>
          <p:cNvPr id="22" name="Text 20"/>
          <p:cNvSpPr txBox="1"/>
          <p:nvPr/>
        </p:nvSpPr>
        <p:spPr>
          <a:xfrm>
            <a:off x="859536" y="3675888"/>
            <a:ext cx="4065880" cy="329184"/>
          </a:xfrm>
          <a:prstGeom prst="rect">
            <a:avLst/>
          </a:prstGeom>
          <a:noFill/>
          <a:ln/>
        </p:spPr>
        <p:txBody>
          <a:bodyPr wrap="square" lIns="0" tIns="0" rIns="0" bIns="0" rtlCol="0" anchor="t"/>
          <a:lstStyle/>
          <a:p>
            <a:pPr marL="0" indent="0" algn="r" rtl="1">
              <a:buNone/>
            </a:pPr>
            <a:r>
              <a:rPr lang="en-US" sz="1400" b="1" dirty="0">
                <a:solidFill>
                  <a:srgbClr val="2B2A2C"/>
                </a:solidFill>
                <a:latin typeface="Segoe UI" pitchFamily="34" charset="0"/>
                <a:ea typeface="Segoe UI" pitchFamily="34" charset="-122"/>
                <a:cs typeface="Segoe UI" pitchFamily="34" charset="-120"/>
              </a:rPr>
              <a:t>هل أستطيع تعديل طلب إجازة بعد إرساله؟</a:t>
            </a:r>
            <a:endParaRPr lang="en-US" sz="1400" dirty="0"/>
          </a:p>
        </p:txBody>
      </p:sp>
      <p:sp>
        <p:nvSpPr>
          <p:cNvPr id="23" name="Text 21"/>
          <p:cNvSpPr txBox="1"/>
          <p:nvPr/>
        </p:nvSpPr>
        <p:spPr>
          <a:xfrm>
            <a:off x="859536" y="4041648"/>
            <a:ext cx="4065880" cy="566928"/>
          </a:xfrm>
          <a:prstGeom prst="rect">
            <a:avLst/>
          </a:prstGeom>
          <a:noFill/>
          <a:ln/>
        </p:spPr>
        <p:txBody>
          <a:bodyPr wrap="square" lIns="0" tIns="0" rIns="0" bIns="0" rtlCol="0" anchor="t"/>
          <a:lstStyle/>
          <a:p>
            <a:pPr marL="0" indent="0" algn="r" rtl="1">
              <a:lnSpc>
                <a:spcPts val="1700"/>
              </a:lnSpc>
              <a:buNone/>
            </a:pPr>
            <a:r>
              <a:rPr lang="en-US" sz="1200" dirty="0">
                <a:solidFill>
                  <a:srgbClr val="6D6E71"/>
                </a:solidFill>
                <a:latin typeface="Segoe UI" pitchFamily="34" charset="0"/>
                <a:ea typeface="Segoe UI" pitchFamily="34" charset="-122"/>
                <a:cs typeface="Segoe UI" pitchFamily="34" charset="-120"/>
              </a:rPr>
              <a:t>نعم، ما دام في حالة قيد المراجعة ولم يُتّخذ قرار بشأنه بعد.</a:t>
            </a:r>
            <a:endParaRPr lang="en-US" sz="1200" dirty="0"/>
          </a:p>
        </p:txBody>
      </p:sp>
      <p:sp>
        <p:nvSpPr>
          <p:cNvPr id="24" name="Shape 22"/>
          <p:cNvSpPr/>
          <p:nvPr/>
        </p:nvSpPr>
        <p:spPr>
          <a:xfrm>
            <a:off x="6278728" y="4956048"/>
            <a:ext cx="5346040" cy="1298448"/>
          </a:xfrm>
          <a:prstGeom prst="roundRect">
            <a:avLst>
              <a:gd name="adj" fmla="val 7042"/>
            </a:avLst>
          </a:prstGeom>
          <a:solidFill>
            <a:srgbClr val="FFFFFF"/>
          </a:solidFill>
          <a:ln w="7620">
            <a:solidFill>
              <a:srgbClr val="DCDDDE"/>
            </a:solidFill>
            <a:prstDash val="solid"/>
          </a:ln>
          <a:effectLst>
            <a:outerShdw blurRad="101600" dist="38100" dir="5400000" algn="bl" rotWithShape="0">
              <a:srgbClr val="000000">
                <a:alpha val="6000"/>
              </a:srgbClr>
            </a:outerShdw>
          </a:effectLst>
        </p:spPr>
        <p:txBody>
          <a:bodyPr/>
          <a:lstStyle/>
          <a:p>
            <a:endParaRPr lang="en-US"/>
          </a:p>
        </p:txBody>
      </p:sp>
      <p:sp>
        <p:nvSpPr>
          <p:cNvPr id="25" name="Shape 23"/>
          <p:cNvSpPr/>
          <p:nvPr/>
        </p:nvSpPr>
        <p:spPr>
          <a:xfrm>
            <a:off x="10929823" y="5212080"/>
            <a:ext cx="402336" cy="402336"/>
          </a:xfrm>
          <a:prstGeom prst="ellipse">
            <a:avLst/>
          </a:prstGeom>
          <a:solidFill>
            <a:srgbClr val="C2151C"/>
          </a:solidFill>
          <a:ln w="12700">
            <a:solidFill>
              <a:srgbClr val="C2151C"/>
            </a:solidFill>
            <a:prstDash val="solid"/>
          </a:ln>
        </p:spPr>
        <p:txBody>
          <a:bodyPr/>
          <a:lstStyle/>
          <a:p>
            <a:endParaRPr lang="en-US"/>
          </a:p>
        </p:txBody>
      </p:sp>
      <p:sp>
        <p:nvSpPr>
          <p:cNvPr id="26" name="Text 24"/>
          <p:cNvSpPr txBox="1"/>
          <p:nvPr/>
        </p:nvSpPr>
        <p:spPr>
          <a:xfrm>
            <a:off x="10929823" y="5212080"/>
            <a:ext cx="402336" cy="402336"/>
          </a:xfrm>
          <a:prstGeom prst="rect">
            <a:avLst/>
          </a:prstGeom>
          <a:noFill/>
          <a:ln/>
        </p:spPr>
        <p:txBody>
          <a:bodyPr wrap="square" lIns="0" tIns="0" rIns="0" bIns="0" rtlCol="0" anchor="ctr"/>
          <a:lstStyle/>
          <a:p>
            <a:pPr marL="0" indent="0" algn="ctr" rtl="1">
              <a:buNone/>
            </a:pPr>
            <a:r>
              <a:rPr lang="en-US" sz="1600" b="1" dirty="0">
                <a:solidFill>
                  <a:srgbClr val="FFFFFF"/>
                </a:solidFill>
                <a:latin typeface="Segoe UI" pitchFamily="34" charset="0"/>
                <a:ea typeface="Segoe UI" pitchFamily="34" charset="-122"/>
                <a:cs typeface="Segoe UI" pitchFamily="34" charset="-120"/>
              </a:rPr>
              <a:t>؟</a:t>
            </a:r>
            <a:endParaRPr lang="en-US" sz="1600" dirty="0"/>
          </a:p>
        </p:txBody>
      </p:sp>
      <p:sp>
        <p:nvSpPr>
          <p:cNvPr id="27" name="Text 25"/>
          <p:cNvSpPr txBox="1"/>
          <p:nvPr/>
        </p:nvSpPr>
        <p:spPr>
          <a:xfrm>
            <a:off x="6571336" y="5212080"/>
            <a:ext cx="4065880" cy="329184"/>
          </a:xfrm>
          <a:prstGeom prst="rect">
            <a:avLst/>
          </a:prstGeom>
          <a:noFill/>
          <a:ln/>
        </p:spPr>
        <p:txBody>
          <a:bodyPr wrap="square" lIns="0" tIns="0" rIns="0" bIns="0" rtlCol="0" anchor="t"/>
          <a:lstStyle/>
          <a:p>
            <a:pPr marL="0" indent="0" algn="r" rtl="1">
              <a:buNone/>
            </a:pPr>
            <a:r>
              <a:rPr lang="en-US" sz="1400" b="1" dirty="0">
                <a:solidFill>
                  <a:srgbClr val="2B2A2C"/>
                </a:solidFill>
                <a:latin typeface="Segoe UI" pitchFamily="34" charset="0"/>
                <a:ea typeface="Segoe UI" pitchFamily="34" charset="-122"/>
                <a:cs typeface="Segoe UI" pitchFamily="34" charset="-120"/>
              </a:rPr>
              <a:t>كيف أرفع مستنداً لملف موظف؟</a:t>
            </a:r>
            <a:endParaRPr lang="en-US" sz="1400" dirty="0"/>
          </a:p>
        </p:txBody>
      </p:sp>
      <p:sp>
        <p:nvSpPr>
          <p:cNvPr id="28" name="Text 26"/>
          <p:cNvSpPr txBox="1"/>
          <p:nvPr/>
        </p:nvSpPr>
        <p:spPr>
          <a:xfrm>
            <a:off x="6571336" y="5577840"/>
            <a:ext cx="4065880" cy="566928"/>
          </a:xfrm>
          <a:prstGeom prst="rect">
            <a:avLst/>
          </a:prstGeom>
          <a:noFill/>
          <a:ln/>
        </p:spPr>
        <p:txBody>
          <a:bodyPr wrap="square" lIns="0" tIns="0" rIns="0" bIns="0" rtlCol="0" anchor="t"/>
          <a:lstStyle/>
          <a:p>
            <a:pPr marL="0" indent="0" algn="r" rtl="1">
              <a:lnSpc>
                <a:spcPts val="1700"/>
              </a:lnSpc>
              <a:buNone/>
            </a:pPr>
            <a:r>
              <a:rPr lang="en-US" sz="1200" dirty="0">
                <a:solidFill>
                  <a:srgbClr val="6D6E71"/>
                </a:solidFill>
                <a:latin typeface="Segoe UI" pitchFamily="34" charset="0"/>
                <a:ea typeface="Segoe UI" pitchFamily="34" charset="-122"/>
                <a:cs typeface="Segoe UI" pitchFamily="34" charset="-120"/>
              </a:rPr>
              <a:t>افتح ملف الموظف، انتقل إلى تبويب المرفقات، ثم اضغط رفع ملف.</a:t>
            </a:r>
            <a:endParaRPr lang="en-US" sz="1200" dirty="0"/>
          </a:p>
        </p:txBody>
      </p:sp>
      <p:sp>
        <p:nvSpPr>
          <p:cNvPr id="29" name="Shape 27"/>
          <p:cNvSpPr/>
          <p:nvPr/>
        </p:nvSpPr>
        <p:spPr>
          <a:xfrm>
            <a:off x="566928" y="4956048"/>
            <a:ext cx="5346040" cy="1298448"/>
          </a:xfrm>
          <a:prstGeom prst="roundRect">
            <a:avLst>
              <a:gd name="adj" fmla="val 7042"/>
            </a:avLst>
          </a:prstGeom>
          <a:solidFill>
            <a:srgbClr val="FFFFFF"/>
          </a:solidFill>
          <a:ln w="7620">
            <a:solidFill>
              <a:srgbClr val="DCDDDE"/>
            </a:solidFill>
            <a:prstDash val="solid"/>
          </a:ln>
          <a:effectLst>
            <a:outerShdw blurRad="101600" dist="38100" dir="5400000" algn="bl" rotWithShape="0">
              <a:srgbClr val="000000">
                <a:alpha val="6000"/>
              </a:srgbClr>
            </a:outerShdw>
          </a:effectLst>
        </p:spPr>
        <p:txBody>
          <a:bodyPr/>
          <a:lstStyle/>
          <a:p>
            <a:endParaRPr lang="en-US"/>
          </a:p>
        </p:txBody>
      </p:sp>
      <p:sp>
        <p:nvSpPr>
          <p:cNvPr id="30" name="Shape 28"/>
          <p:cNvSpPr/>
          <p:nvPr/>
        </p:nvSpPr>
        <p:spPr>
          <a:xfrm>
            <a:off x="5218024" y="5212080"/>
            <a:ext cx="402336" cy="402336"/>
          </a:xfrm>
          <a:prstGeom prst="ellipse">
            <a:avLst/>
          </a:prstGeom>
          <a:solidFill>
            <a:srgbClr val="C2151C"/>
          </a:solidFill>
          <a:ln w="12700">
            <a:solidFill>
              <a:srgbClr val="C2151C"/>
            </a:solidFill>
            <a:prstDash val="solid"/>
          </a:ln>
        </p:spPr>
        <p:txBody>
          <a:bodyPr/>
          <a:lstStyle/>
          <a:p>
            <a:endParaRPr lang="en-US"/>
          </a:p>
        </p:txBody>
      </p:sp>
      <p:sp>
        <p:nvSpPr>
          <p:cNvPr id="31" name="Text 29"/>
          <p:cNvSpPr txBox="1"/>
          <p:nvPr/>
        </p:nvSpPr>
        <p:spPr>
          <a:xfrm>
            <a:off x="5218024" y="5212080"/>
            <a:ext cx="402336" cy="402336"/>
          </a:xfrm>
          <a:prstGeom prst="rect">
            <a:avLst/>
          </a:prstGeom>
          <a:noFill/>
          <a:ln/>
        </p:spPr>
        <p:txBody>
          <a:bodyPr wrap="square" lIns="0" tIns="0" rIns="0" bIns="0" rtlCol="0" anchor="ctr"/>
          <a:lstStyle/>
          <a:p>
            <a:pPr marL="0" indent="0" algn="ctr" rtl="1">
              <a:buNone/>
            </a:pPr>
            <a:r>
              <a:rPr lang="en-US" sz="1600" b="1" dirty="0">
                <a:solidFill>
                  <a:srgbClr val="FFFFFF"/>
                </a:solidFill>
                <a:latin typeface="Segoe UI" pitchFamily="34" charset="0"/>
                <a:ea typeface="Segoe UI" pitchFamily="34" charset="-122"/>
                <a:cs typeface="Segoe UI" pitchFamily="34" charset="-120"/>
              </a:rPr>
              <a:t>؟</a:t>
            </a:r>
            <a:endParaRPr lang="en-US" sz="1600" dirty="0"/>
          </a:p>
        </p:txBody>
      </p:sp>
      <p:sp>
        <p:nvSpPr>
          <p:cNvPr id="32" name="Text 30"/>
          <p:cNvSpPr txBox="1"/>
          <p:nvPr/>
        </p:nvSpPr>
        <p:spPr>
          <a:xfrm>
            <a:off x="859536" y="5212080"/>
            <a:ext cx="4065880" cy="329184"/>
          </a:xfrm>
          <a:prstGeom prst="rect">
            <a:avLst/>
          </a:prstGeom>
          <a:noFill/>
          <a:ln/>
        </p:spPr>
        <p:txBody>
          <a:bodyPr wrap="square" lIns="0" tIns="0" rIns="0" bIns="0" rtlCol="0" anchor="t"/>
          <a:lstStyle/>
          <a:p>
            <a:pPr marL="0" indent="0" algn="r" rtl="1">
              <a:buNone/>
            </a:pPr>
            <a:r>
              <a:rPr lang="en-US" sz="1400" b="1" dirty="0">
                <a:solidFill>
                  <a:srgbClr val="2B2A2C"/>
                </a:solidFill>
                <a:latin typeface="Segoe UI" pitchFamily="34" charset="0"/>
                <a:ea typeface="Segoe UI" pitchFamily="34" charset="-122"/>
                <a:cs typeface="Segoe UI" pitchFamily="34" charset="-120"/>
              </a:rPr>
              <a:t>لدي مشكلة تقنية، من أراسل؟</a:t>
            </a:r>
            <a:endParaRPr lang="en-US" sz="1400" dirty="0"/>
          </a:p>
        </p:txBody>
      </p:sp>
      <p:sp>
        <p:nvSpPr>
          <p:cNvPr id="33" name="Text 31"/>
          <p:cNvSpPr txBox="1"/>
          <p:nvPr/>
        </p:nvSpPr>
        <p:spPr>
          <a:xfrm>
            <a:off x="859536" y="5577840"/>
            <a:ext cx="4065880" cy="566928"/>
          </a:xfrm>
          <a:prstGeom prst="rect">
            <a:avLst/>
          </a:prstGeom>
          <a:noFill/>
          <a:ln/>
        </p:spPr>
        <p:txBody>
          <a:bodyPr wrap="square" lIns="0" tIns="0" rIns="0" bIns="0" rtlCol="0" anchor="t"/>
          <a:lstStyle/>
          <a:p>
            <a:pPr marL="0" indent="0" algn="r" rtl="1">
              <a:lnSpc>
                <a:spcPts val="1700"/>
              </a:lnSpc>
              <a:buNone/>
            </a:pPr>
            <a:r>
              <a:rPr lang="en-US" sz="1200" dirty="0">
                <a:solidFill>
                  <a:srgbClr val="6D6E71"/>
                </a:solidFill>
                <a:latin typeface="Segoe UI" pitchFamily="34" charset="0"/>
                <a:ea typeface="Segoe UI" pitchFamily="34" charset="-122"/>
                <a:cs typeface="Segoe UI" pitchFamily="34" charset="-120"/>
              </a:rPr>
              <a:t>تواصل مع قسم تقنية المعلومات أو أرسل وصفاً دقيقاً للمشكلة إلى مسؤول النظام.</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B2A2C"/>
        </a:solidFill>
        <a:effectLst/>
      </p:bgPr>
    </p:bg>
    <p:spTree>
      <p:nvGrpSpPr>
        <p:cNvPr id="1" name=""/>
        <p:cNvGrpSpPr/>
        <p:nvPr/>
      </p:nvGrpSpPr>
      <p:grpSpPr>
        <a:xfrm>
          <a:off x="0" y="0"/>
          <a:ext cx="0" cy="0"/>
          <a:chOff x="0" y="0"/>
          <a:chExt cx="0" cy="0"/>
        </a:xfrm>
      </p:grpSpPr>
      <p:sp>
        <p:nvSpPr>
          <p:cNvPr id="2" name="Shape 0"/>
          <p:cNvSpPr/>
          <p:nvPr/>
        </p:nvSpPr>
        <p:spPr>
          <a:xfrm>
            <a:off x="566928" y="1828800"/>
            <a:ext cx="4206240" cy="3931920"/>
          </a:xfrm>
          <a:prstGeom prst="roundRect">
            <a:avLst>
              <a:gd name="adj" fmla="val 2326"/>
            </a:avLst>
          </a:prstGeom>
          <a:solidFill>
            <a:srgbClr val="414042"/>
          </a:solidFill>
          <a:ln w="9525">
            <a:solidFill>
              <a:srgbClr val="565557"/>
            </a:solidFill>
            <a:prstDash val="solid"/>
          </a:ln>
        </p:spPr>
        <p:txBody>
          <a:bodyPr/>
          <a:lstStyle/>
          <a:p>
            <a:endParaRPr lang="en-US"/>
          </a:p>
        </p:txBody>
      </p:sp>
      <p:sp>
        <p:nvSpPr>
          <p:cNvPr id="3" name="Text 1"/>
          <p:cNvSpPr txBox="1"/>
          <p:nvPr/>
        </p:nvSpPr>
        <p:spPr>
          <a:xfrm>
            <a:off x="932688" y="2304288"/>
            <a:ext cx="3474720" cy="640080"/>
          </a:xfrm>
          <a:prstGeom prst="rect">
            <a:avLst/>
          </a:prstGeom>
          <a:noFill/>
          <a:ln/>
        </p:spPr>
        <p:txBody>
          <a:bodyPr wrap="square" lIns="0" tIns="0" rIns="0" bIns="0" rtlCol="0" anchor="t"/>
          <a:lstStyle/>
          <a:p>
            <a:pPr marL="0" indent="0" algn="ctr" rtl="1">
              <a:buNone/>
            </a:pPr>
            <a:r>
              <a:rPr lang="en-US" sz="3400" b="1" dirty="0">
                <a:solidFill>
                  <a:srgbClr val="FFFFFF"/>
                </a:solidFill>
                <a:latin typeface="Segoe UI" pitchFamily="34" charset="0"/>
                <a:ea typeface="Segoe UI" pitchFamily="34" charset="-122"/>
                <a:cs typeface="Segoe UI" pitchFamily="34" charset="-120"/>
              </a:rPr>
              <a:t>شكراً لكم</a:t>
            </a:r>
            <a:endParaRPr lang="en-US" sz="3400" dirty="0"/>
          </a:p>
        </p:txBody>
      </p:sp>
      <p:sp>
        <p:nvSpPr>
          <p:cNvPr id="4" name="Text 2"/>
          <p:cNvSpPr txBox="1"/>
          <p:nvPr/>
        </p:nvSpPr>
        <p:spPr>
          <a:xfrm>
            <a:off x="932688" y="3054096"/>
            <a:ext cx="3474720" cy="365760"/>
          </a:xfrm>
          <a:prstGeom prst="rect">
            <a:avLst/>
          </a:prstGeom>
          <a:noFill/>
          <a:ln/>
        </p:spPr>
        <p:txBody>
          <a:bodyPr wrap="square" lIns="0" tIns="0" rIns="0" bIns="0" rtlCol="0" anchor="t"/>
          <a:lstStyle/>
          <a:p>
            <a:pPr marL="0" indent="0" algn="ctr" rtl="1">
              <a:buNone/>
            </a:pPr>
            <a:r>
              <a:rPr lang="en-US" sz="1700" b="1" dirty="0">
                <a:solidFill>
                  <a:srgbClr val="C2151C"/>
                </a:solidFill>
                <a:latin typeface="Segoe UI" pitchFamily="34" charset="0"/>
                <a:ea typeface="Segoe UI" pitchFamily="34" charset="-122"/>
                <a:cs typeface="Segoe UI" pitchFamily="34" charset="-120"/>
              </a:rPr>
              <a:t>أسئلتكم الآن</a:t>
            </a:r>
            <a:endParaRPr lang="en-US" sz="1700" dirty="0"/>
          </a:p>
        </p:txBody>
      </p:sp>
      <p:sp>
        <p:nvSpPr>
          <p:cNvPr id="5" name="Shape 3"/>
          <p:cNvSpPr/>
          <p:nvPr/>
        </p:nvSpPr>
        <p:spPr>
          <a:xfrm>
            <a:off x="1847088" y="3639312"/>
            <a:ext cx="1645920" cy="18288"/>
          </a:xfrm>
          <a:prstGeom prst="rect">
            <a:avLst/>
          </a:prstGeom>
          <a:solidFill>
            <a:srgbClr val="6D6E71"/>
          </a:solidFill>
          <a:ln w="12700">
            <a:solidFill>
              <a:srgbClr val="6D6E71"/>
            </a:solidFill>
            <a:prstDash val="solid"/>
          </a:ln>
        </p:spPr>
        <p:txBody>
          <a:bodyPr/>
          <a:lstStyle/>
          <a:p>
            <a:endParaRPr lang="en-US"/>
          </a:p>
        </p:txBody>
      </p:sp>
      <p:sp>
        <p:nvSpPr>
          <p:cNvPr id="6" name="Text 4"/>
          <p:cNvSpPr txBox="1"/>
          <p:nvPr/>
        </p:nvSpPr>
        <p:spPr>
          <a:xfrm>
            <a:off x="932688" y="3877056"/>
            <a:ext cx="3474720" cy="822960"/>
          </a:xfrm>
          <a:prstGeom prst="rect">
            <a:avLst/>
          </a:prstGeom>
          <a:noFill/>
          <a:ln/>
        </p:spPr>
        <p:txBody>
          <a:bodyPr wrap="square" lIns="0" tIns="0" rIns="0" bIns="0" rtlCol="0" anchor="t"/>
          <a:lstStyle/>
          <a:p>
            <a:pPr marL="0" indent="0" algn="ctr" rtl="1">
              <a:lnSpc>
                <a:spcPts val="1900"/>
              </a:lnSpc>
              <a:buNone/>
            </a:pPr>
            <a:r>
              <a:rPr lang="en-US" sz="1250" dirty="0">
                <a:solidFill>
                  <a:srgbClr val="DCDDDE"/>
                </a:solidFill>
                <a:latin typeface="Segoe UI" pitchFamily="34" charset="0"/>
                <a:ea typeface="Segoe UI" pitchFamily="34" charset="-122"/>
                <a:cs typeface="Segoe UI" pitchFamily="34" charset="-120"/>
              </a:rPr>
              <a:t>الدليل الكامل متاح ضمن مستندات النظام، ويغطي كل شاشة بالتفصيل خطوة بخطوة.</a:t>
            </a:r>
            <a:endParaRPr lang="en-US" sz="1250" dirty="0"/>
          </a:p>
        </p:txBody>
      </p:sp>
      <p:sp>
        <p:nvSpPr>
          <p:cNvPr id="7" name="Text 5"/>
          <p:cNvSpPr txBox="1"/>
          <p:nvPr/>
        </p:nvSpPr>
        <p:spPr>
          <a:xfrm>
            <a:off x="932688" y="5120640"/>
            <a:ext cx="3474720" cy="310896"/>
          </a:xfrm>
          <a:prstGeom prst="rect">
            <a:avLst/>
          </a:prstGeom>
          <a:noFill/>
          <a:ln/>
        </p:spPr>
        <p:txBody>
          <a:bodyPr wrap="square" lIns="0" tIns="0" rIns="0" bIns="0" rtlCol="0" anchor="t"/>
          <a:lstStyle/>
          <a:p>
            <a:pPr marL="0" indent="0" algn="ctr" rtl="1">
              <a:buNone/>
            </a:pPr>
            <a:r>
              <a:rPr lang="en-US" sz="1200" dirty="0">
                <a:solidFill>
                  <a:srgbClr val="939598"/>
                </a:solidFill>
                <a:latin typeface="Segoe UI" pitchFamily="34" charset="0"/>
                <a:ea typeface="Segoe UI" pitchFamily="34" charset="-122"/>
                <a:cs typeface="Segoe UI" pitchFamily="34" charset="-120"/>
              </a:rPr>
              <a:t>مركز الرجاء المسيحي، سوريا</a:t>
            </a:r>
            <a:endParaRPr lang="en-US" sz="1200" dirty="0"/>
          </a:p>
        </p:txBody>
      </p:sp>
      <p:sp>
        <p:nvSpPr>
          <p:cNvPr id="8" name="Shape 6"/>
          <p:cNvSpPr/>
          <p:nvPr/>
        </p:nvSpPr>
        <p:spPr>
          <a:xfrm>
            <a:off x="9192463" y="457200"/>
            <a:ext cx="2432304" cy="859536"/>
          </a:xfrm>
          <a:prstGeom prst="roundRect">
            <a:avLst>
              <a:gd name="adj" fmla="val 8511"/>
            </a:avLst>
          </a:prstGeom>
          <a:solidFill>
            <a:srgbClr val="FFFFFF"/>
          </a:solidFill>
          <a:ln w="12700">
            <a:solidFill>
              <a:srgbClr val="FFFFFF"/>
            </a:solidFill>
            <a:prstDash val="solid"/>
          </a:ln>
        </p:spPr>
        <p:txBody>
          <a:bodyPr/>
          <a:lstStyle/>
          <a:p>
            <a:endParaRPr lang="en-US"/>
          </a:p>
        </p:txBody>
      </p:sp>
      <p:pic>
        <p:nvPicPr>
          <p:cNvPr id="9" name="Image 0" descr="C:/laragon/www/hc-hr/public/assets/img/001_HC.png"/>
          <p:cNvPicPr>
            <a:picLocks noChangeAspect="1"/>
          </p:cNvPicPr>
          <p:nvPr/>
        </p:nvPicPr>
        <p:blipFill>
          <a:blip r:embed="rId3"/>
          <a:stretch>
            <a:fillRect/>
          </a:stretch>
        </p:blipFill>
        <p:spPr>
          <a:xfrm>
            <a:off x="9457639" y="612648"/>
            <a:ext cx="1901952" cy="512064"/>
          </a:xfrm>
          <a:prstGeom prst="rect">
            <a:avLst/>
          </a:prstGeom>
        </p:spPr>
      </p:pic>
      <p:sp>
        <p:nvSpPr>
          <p:cNvPr id="10" name="Text 7"/>
          <p:cNvSpPr txBox="1"/>
          <p:nvPr/>
        </p:nvSpPr>
        <p:spPr>
          <a:xfrm>
            <a:off x="4675327" y="1828800"/>
            <a:ext cx="6949440" cy="365760"/>
          </a:xfrm>
          <a:prstGeom prst="rect">
            <a:avLst/>
          </a:prstGeom>
          <a:noFill/>
          <a:ln/>
        </p:spPr>
        <p:txBody>
          <a:bodyPr wrap="square" lIns="0" tIns="0" rIns="0" bIns="0" rtlCol="0" anchor="t"/>
          <a:lstStyle/>
          <a:p>
            <a:pPr marL="0" indent="0" algn="r" rtl="1">
              <a:buNone/>
            </a:pPr>
            <a:r>
              <a:rPr lang="en-US" sz="1400" b="1" kern="0" spc="100" dirty="0">
                <a:solidFill>
                  <a:srgbClr val="C2151C"/>
                </a:solidFill>
                <a:latin typeface="Segoe UI" pitchFamily="34" charset="0"/>
                <a:ea typeface="Segoe UI" pitchFamily="34" charset="-122"/>
                <a:cs typeface="Segoe UI" pitchFamily="34" charset="-120"/>
              </a:rPr>
              <a:t>الخطوات التالية</a:t>
            </a:r>
            <a:endParaRPr lang="en-US" sz="1400" dirty="0"/>
          </a:p>
        </p:txBody>
      </p:sp>
      <p:sp>
        <p:nvSpPr>
          <p:cNvPr id="11" name="Text 8"/>
          <p:cNvSpPr txBox="1"/>
          <p:nvPr/>
        </p:nvSpPr>
        <p:spPr>
          <a:xfrm>
            <a:off x="4675327" y="2212848"/>
            <a:ext cx="6949440" cy="768096"/>
          </a:xfrm>
          <a:prstGeom prst="rect">
            <a:avLst/>
          </a:prstGeom>
          <a:noFill/>
          <a:ln/>
        </p:spPr>
        <p:txBody>
          <a:bodyPr wrap="square" lIns="0" tIns="0" rIns="0" bIns="0" rtlCol="0" anchor="t"/>
          <a:lstStyle/>
          <a:p>
            <a:pPr marL="0" indent="0" algn="r" rtl="1">
              <a:buNone/>
            </a:pPr>
            <a:r>
              <a:rPr lang="en-US" sz="4200" b="1" dirty="0">
                <a:solidFill>
                  <a:srgbClr val="FFFFFF"/>
                </a:solidFill>
                <a:latin typeface="Segoe UI" pitchFamily="34" charset="0"/>
                <a:ea typeface="Segoe UI" pitchFamily="34" charset="-122"/>
                <a:cs typeface="Segoe UI" pitchFamily="34" charset="-120"/>
              </a:rPr>
              <a:t>من هنا نبدأ</a:t>
            </a:r>
            <a:endParaRPr lang="en-US" sz="4200" dirty="0"/>
          </a:p>
        </p:txBody>
      </p:sp>
      <p:sp>
        <p:nvSpPr>
          <p:cNvPr id="12" name="Shape 9"/>
          <p:cNvSpPr/>
          <p:nvPr/>
        </p:nvSpPr>
        <p:spPr>
          <a:xfrm>
            <a:off x="11167567" y="3255264"/>
            <a:ext cx="457200" cy="457200"/>
          </a:xfrm>
          <a:prstGeom prst="ellipse">
            <a:avLst/>
          </a:prstGeom>
          <a:solidFill>
            <a:srgbClr val="C2151C"/>
          </a:solidFill>
          <a:ln w="12700">
            <a:solidFill>
              <a:srgbClr val="C2151C"/>
            </a:solidFill>
            <a:prstDash val="solid"/>
          </a:ln>
        </p:spPr>
        <p:txBody>
          <a:bodyPr/>
          <a:lstStyle/>
          <a:p>
            <a:endParaRPr lang="en-US"/>
          </a:p>
        </p:txBody>
      </p:sp>
      <p:sp>
        <p:nvSpPr>
          <p:cNvPr id="13" name="Text 10"/>
          <p:cNvSpPr txBox="1"/>
          <p:nvPr/>
        </p:nvSpPr>
        <p:spPr>
          <a:xfrm>
            <a:off x="11167567" y="325526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14" name="Text 11"/>
          <p:cNvSpPr txBox="1"/>
          <p:nvPr/>
        </p:nvSpPr>
        <p:spPr>
          <a:xfrm>
            <a:off x="4675327" y="3255264"/>
            <a:ext cx="6263640" cy="292608"/>
          </a:xfrm>
          <a:prstGeom prst="rect">
            <a:avLst/>
          </a:prstGeom>
          <a:noFill/>
          <a:ln/>
        </p:spPr>
        <p:txBody>
          <a:bodyPr wrap="square" lIns="0" tIns="0" rIns="0" bIns="0" rtlCol="0" anchor="t"/>
          <a:lstStyle/>
          <a:p>
            <a:pPr marL="0" indent="0" algn="r" rtl="1">
              <a:buNone/>
            </a:pPr>
            <a:r>
              <a:rPr lang="en-US" sz="1500" b="1" dirty="0">
                <a:solidFill>
                  <a:srgbClr val="FFFFFF"/>
                </a:solidFill>
                <a:latin typeface="Segoe UI" pitchFamily="34" charset="0"/>
                <a:ea typeface="Segoe UI" pitchFamily="34" charset="-122"/>
                <a:cs typeface="Segoe UI" pitchFamily="34" charset="-120"/>
              </a:rPr>
              <a:t>سجّل دخولك اليوم</a:t>
            </a:r>
            <a:endParaRPr lang="en-US" sz="1500" dirty="0"/>
          </a:p>
        </p:txBody>
      </p:sp>
      <p:sp>
        <p:nvSpPr>
          <p:cNvPr id="15" name="Text 12"/>
          <p:cNvSpPr txBox="1"/>
          <p:nvPr/>
        </p:nvSpPr>
        <p:spPr>
          <a:xfrm>
            <a:off x="4675327" y="3547872"/>
            <a:ext cx="6263640" cy="402336"/>
          </a:xfrm>
          <a:prstGeom prst="rect">
            <a:avLst/>
          </a:prstGeom>
          <a:noFill/>
          <a:ln/>
        </p:spPr>
        <p:txBody>
          <a:bodyPr wrap="square" lIns="0" tIns="0" rIns="0" bIns="0" rtlCol="0" anchor="t"/>
          <a:lstStyle/>
          <a:p>
            <a:pPr marL="0" indent="0" algn="r" rtl="1">
              <a:lnSpc>
                <a:spcPts val="1700"/>
              </a:lnSpc>
              <a:buNone/>
            </a:pPr>
            <a:r>
              <a:rPr lang="en-US" sz="1200" dirty="0">
                <a:solidFill>
                  <a:srgbClr val="939598"/>
                </a:solidFill>
                <a:latin typeface="Segoe UI" pitchFamily="34" charset="0"/>
                <a:ea typeface="Segoe UI" pitchFamily="34" charset="-122"/>
                <a:cs typeface="Segoe UI" pitchFamily="34" charset="-120"/>
              </a:rPr>
              <a:t>تأكّد من وصول بيانات الحساب وجرّب تسجيل الدخول وتغيير كلمة المرور.</a:t>
            </a:r>
            <a:endParaRPr lang="en-US" sz="1200" dirty="0"/>
          </a:p>
        </p:txBody>
      </p:sp>
      <p:sp>
        <p:nvSpPr>
          <p:cNvPr id="16" name="Shape 13"/>
          <p:cNvSpPr/>
          <p:nvPr/>
        </p:nvSpPr>
        <p:spPr>
          <a:xfrm>
            <a:off x="11167567" y="4114800"/>
            <a:ext cx="457200" cy="457200"/>
          </a:xfrm>
          <a:prstGeom prst="ellipse">
            <a:avLst/>
          </a:prstGeom>
          <a:solidFill>
            <a:srgbClr val="C2151C"/>
          </a:solidFill>
          <a:ln w="12700">
            <a:solidFill>
              <a:srgbClr val="C2151C"/>
            </a:solidFill>
            <a:prstDash val="solid"/>
          </a:ln>
        </p:spPr>
        <p:txBody>
          <a:bodyPr/>
          <a:lstStyle/>
          <a:p>
            <a:endParaRPr lang="en-US"/>
          </a:p>
        </p:txBody>
      </p:sp>
      <p:sp>
        <p:nvSpPr>
          <p:cNvPr id="17" name="Text 14"/>
          <p:cNvSpPr txBox="1"/>
          <p:nvPr/>
        </p:nvSpPr>
        <p:spPr>
          <a:xfrm>
            <a:off x="11167567" y="411480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8" name="Text 15"/>
          <p:cNvSpPr txBox="1"/>
          <p:nvPr/>
        </p:nvSpPr>
        <p:spPr>
          <a:xfrm>
            <a:off x="4675327" y="4114800"/>
            <a:ext cx="6263640" cy="292608"/>
          </a:xfrm>
          <a:prstGeom prst="rect">
            <a:avLst/>
          </a:prstGeom>
          <a:noFill/>
          <a:ln/>
        </p:spPr>
        <p:txBody>
          <a:bodyPr wrap="square" lIns="0" tIns="0" rIns="0" bIns="0" rtlCol="0" anchor="t"/>
          <a:lstStyle/>
          <a:p>
            <a:pPr marL="0" indent="0" algn="r" rtl="1">
              <a:buNone/>
            </a:pPr>
            <a:r>
              <a:rPr lang="en-US" sz="1500" b="1" dirty="0">
                <a:solidFill>
                  <a:srgbClr val="FFFFFF"/>
                </a:solidFill>
                <a:latin typeface="Segoe UI" pitchFamily="34" charset="0"/>
                <a:ea typeface="Segoe UI" pitchFamily="34" charset="-122"/>
                <a:cs typeface="Segoe UI" pitchFamily="34" charset="-120"/>
              </a:rPr>
              <a:t>راجع بياناتك الشخصية</a:t>
            </a:r>
            <a:endParaRPr lang="en-US" sz="1500" dirty="0"/>
          </a:p>
        </p:txBody>
      </p:sp>
      <p:sp>
        <p:nvSpPr>
          <p:cNvPr id="19" name="Text 16"/>
          <p:cNvSpPr txBox="1"/>
          <p:nvPr/>
        </p:nvSpPr>
        <p:spPr>
          <a:xfrm>
            <a:off x="4675327" y="4407408"/>
            <a:ext cx="6263640" cy="402336"/>
          </a:xfrm>
          <a:prstGeom prst="rect">
            <a:avLst/>
          </a:prstGeom>
          <a:noFill/>
          <a:ln/>
        </p:spPr>
        <p:txBody>
          <a:bodyPr wrap="square" lIns="0" tIns="0" rIns="0" bIns="0" rtlCol="0" anchor="t"/>
          <a:lstStyle/>
          <a:p>
            <a:pPr marL="0" indent="0" algn="r" rtl="1">
              <a:lnSpc>
                <a:spcPts val="1700"/>
              </a:lnSpc>
              <a:buNone/>
            </a:pPr>
            <a:r>
              <a:rPr lang="en-US" sz="1200" dirty="0">
                <a:solidFill>
                  <a:srgbClr val="939598"/>
                </a:solidFill>
                <a:latin typeface="Segoe UI" pitchFamily="34" charset="0"/>
                <a:ea typeface="Segoe UI" pitchFamily="34" charset="-122"/>
                <a:cs typeface="Segoe UI" pitchFamily="34" charset="-120"/>
              </a:rPr>
              <a:t>افتح ملفك الشخصي وتحقّق من صحة معلوماتك ورصيد إجازاتك.</a:t>
            </a:r>
            <a:endParaRPr lang="en-US" sz="1200" dirty="0"/>
          </a:p>
        </p:txBody>
      </p:sp>
      <p:sp>
        <p:nvSpPr>
          <p:cNvPr id="20" name="Shape 17"/>
          <p:cNvSpPr/>
          <p:nvPr/>
        </p:nvSpPr>
        <p:spPr>
          <a:xfrm>
            <a:off x="11167567" y="4974336"/>
            <a:ext cx="457200" cy="457200"/>
          </a:xfrm>
          <a:prstGeom prst="ellipse">
            <a:avLst/>
          </a:prstGeom>
          <a:solidFill>
            <a:srgbClr val="C2151C"/>
          </a:solidFill>
          <a:ln w="12700">
            <a:solidFill>
              <a:srgbClr val="C2151C"/>
            </a:solidFill>
            <a:prstDash val="solid"/>
          </a:ln>
        </p:spPr>
        <p:txBody>
          <a:bodyPr/>
          <a:lstStyle/>
          <a:p>
            <a:endParaRPr lang="en-US"/>
          </a:p>
        </p:txBody>
      </p:sp>
      <p:sp>
        <p:nvSpPr>
          <p:cNvPr id="21" name="Text 18"/>
          <p:cNvSpPr txBox="1"/>
          <p:nvPr/>
        </p:nvSpPr>
        <p:spPr>
          <a:xfrm>
            <a:off x="11167567" y="497433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22" name="Text 19"/>
          <p:cNvSpPr txBox="1"/>
          <p:nvPr/>
        </p:nvSpPr>
        <p:spPr>
          <a:xfrm>
            <a:off x="4675327" y="4974336"/>
            <a:ext cx="6263640" cy="292608"/>
          </a:xfrm>
          <a:prstGeom prst="rect">
            <a:avLst/>
          </a:prstGeom>
          <a:noFill/>
          <a:ln/>
        </p:spPr>
        <p:txBody>
          <a:bodyPr wrap="square" lIns="0" tIns="0" rIns="0" bIns="0" rtlCol="0" anchor="t"/>
          <a:lstStyle/>
          <a:p>
            <a:pPr marL="0" indent="0" algn="r" rtl="1">
              <a:buNone/>
            </a:pPr>
            <a:r>
              <a:rPr lang="en-US" sz="1500" b="1" dirty="0">
                <a:solidFill>
                  <a:srgbClr val="FFFFFF"/>
                </a:solidFill>
                <a:latin typeface="Segoe UI" pitchFamily="34" charset="0"/>
                <a:ea typeface="Segoe UI" pitchFamily="34" charset="-122"/>
                <a:cs typeface="Segoe UI" pitchFamily="34" charset="-120"/>
              </a:rPr>
              <a:t>نفّذ مهمة حقيقية واحدة</a:t>
            </a:r>
            <a:endParaRPr lang="en-US" sz="1500" dirty="0"/>
          </a:p>
        </p:txBody>
      </p:sp>
      <p:sp>
        <p:nvSpPr>
          <p:cNvPr id="23" name="Text 20"/>
          <p:cNvSpPr txBox="1"/>
          <p:nvPr/>
        </p:nvSpPr>
        <p:spPr>
          <a:xfrm>
            <a:off x="4675327" y="5266944"/>
            <a:ext cx="6263640" cy="402336"/>
          </a:xfrm>
          <a:prstGeom prst="rect">
            <a:avLst/>
          </a:prstGeom>
          <a:noFill/>
          <a:ln/>
        </p:spPr>
        <p:txBody>
          <a:bodyPr wrap="square" lIns="0" tIns="0" rIns="0" bIns="0" rtlCol="0" anchor="t"/>
          <a:lstStyle/>
          <a:p>
            <a:pPr marL="0" indent="0" algn="r" rtl="1">
              <a:lnSpc>
                <a:spcPts val="1700"/>
              </a:lnSpc>
              <a:buNone/>
            </a:pPr>
            <a:r>
              <a:rPr lang="en-US" sz="1200" dirty="0">
                <a:solidFill>
                  <a:srgbClr val="939598"/>
                </a:solidFill>
                <a:latin typeface="Segoe UI" pitchFamily="34" charset="0"/>
                <a:ea typeface="Segoe UI" pitchFamily="34" charset="-122"/>
                <a:cs typeface="Segoe UI" pitchFamily="34" charset="-120"/>
              </a:rPr>
              <a:t>أنشئ عقداً تجريبياً أو اعتمد طلب إجازة لتثبيت الخطوات عملياً.</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1782</Words>
  <Application>Microsoft Office PowerPoint</Application>
  <PresentationFormat>Widescreen</PresentationFormat>
  <Paragraphs>328</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مركز الرجاء المسيحي</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نظام إدارة الموارد البشرية HopeHR</dc:title>
  <dc:subject>PptxGenJS Presentation</dc:subject>
  <dc:creator>HopeHR</dc:creator>
  <cp:lastModifiedBy>hope test</cp:lastModifiedBy>
  <cp:revision>4</cp:revision>
  <dcterms:created xsi:type="dcterms:W3CDTF">2026-09-21T06:30:45Z</dcterms:created>
  <dcterms:modified xsi:type="dcterms:W3CDTF">2026-09-21T07:40:00Z</dcterms:modified>
</cp:coreProperties>
</file>